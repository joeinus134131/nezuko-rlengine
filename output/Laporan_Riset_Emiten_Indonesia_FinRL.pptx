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844b1ffd2df49bf" /><Relationship Type="http://schemas.openxmlformats.org/officeDocument/2006/relationships/extended-properties" Target="/docProps/app.xml" Id="R3d00708773ca4af0" /><Relationship Type="http://schemas.openxmlformats.org/officeDocument/2006/relationships/officeDocument" Target="/ppt/presentation.xml" Id="R6279ec89b7ab40b1" /></Relationships>
</file>

<file path=ppt/presentation.xml><?xml version="1.0" encoding="utf-8"?>
<p:presentation xmlns:p="http://schemas.openxmlformats.org/presentationml/2006/main">
  <p:sldMasterIdLst>
    <p:sldMasterId xmlns:r="http://schemas.openxmlformats.org/officeDocument/2006/relationships" id="2147483648" r:id="R5ec59644fcfa472b"/>
  </p:sldMasterIdLst>
  <p:notesMasterIdLst>
    <p:notesMasterId xmlns:r="http://schemas.openxmlformats.org/officeDocument/2006/relationships" r:id="R982204be78894408"/>
  </p:notesMasterIdLst>
  <p:sldIdLst>
    <p:sldId xmlns:r="http://schemas.openxmlformats.org/officeDocument/2006/relationships" id="256" r:id="Re40990e50d5e4ac2"/>
    <p:sldId xmlns:r="http://schemas.openxmlformats.org/officeDocument/2006/relationships" id="257" r:id="R862af4bb2c5e49ea"/>
    <p:sldId xmlns:r="http://schemas.openxmlformats.org/officeDocument/2006/relationships" id="258" r:id="Rdf24457ed52d46d9"/>
    <p:sldId xmlns:r="http://schemas.openxmlformats.org/officeDocument/2006/relationships" id="259" r:id="R4ea8547311764cd8"/>
    <p:sldId xmlns:r="http://schemas.openxmlformats.org/officeDocument/2006/relationships" id="260" r:id="Rf09870983289400c"/>
    <p:sldId xmlns:r="http://schemas.openxmlformats.org/officeDocument/2006/relationships" id="261" r:id="R694fadf97e9d4805"/>
    <p:sldId xmlns:r="http://schemas.openxmlformats.org/officeDocument/2006/relationships" id="262" r:id="Red1f8f76a7904809"/>
    <p:sldId xmlns:r="http://schemas.openxmlformats.org/officeDocument/2006/relationships" id="263" r:id="R86105aa31add406f"/>
    <p:sldId xmlns:r="http://schemas.openxmlformats.org/officeDocument/2006/relationships" id="264" r:id="R52e6fd0e9c7746ac"/>
    <p:sldId xmlns:r="http://schemas.openxmlformats.org/officeDocument/2006/relationships" id="265" r:id="R7810b6eccf1849b2"/>
    <p:sldId xmlns:r="http://schemas.openxmlformats.org/officeDocument/2006/relationships" id="266" r:id="Rf85f69c7f73a4930"/>
    <p:sldId xmlns:r="http://schemas.openxmlformats.org/officeDocument/2006/relationships" id="267" r:id="R332ac5b4542a421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aaece48f5534689" /><Relationship Type="http://schemas.openxmlformats.org/officeDocument/2006/relationships/slideMaster" Target="/ppt/slideMasters/slideMaster1.xml" Id="R5ec59644fcfa472b" /><Relationship Type="http://schemas.openxmlformats.org/officeDocument/2006/relationships/notesMaster" Target="/ppt/notesMasters/notesMaster1.xml" Id="R982204be78894408" /><Relationship Type="http://schemas.openxmlformats.org/officeDocument/2006/relationships/presProps" Target="/ppt/presProps.xml" Id="Rfb9b304de754446f" /><Relationship Type="http://schemas.openxmlformats.org/officeDocument/2006/relationships/tableStyles" Target="/ppt/tableStyles.xml" Id="R2b979495183a4839" /><Relationship Type="http://schemas.openxmlformats.org/officeDocument/2006/relationships/slide" Target="/ppt/slides/slide1.xml" Id="Re40990e50d5e4ac2" /><Relationship Type="http://schemas.openxmlformats.org/officeDocument/2006/relationships/slide" Target="/ppt/slides/slide2.xml" Id="R862af4bb2c5e49ea" /><Relationship Type="http://schemas.openxmlformats.org/officeDocument/2006/relationships/slide" Target="/ppt/slides/slide3.xml" Id="Rdf24457ed52d46d9" /><Relationship Type="http://schemas.openxmlformats.org/officeDocument/2006/relationships/slide" Target="/ppt/slides/slide4.xml" Id="R4ea8547311764cd8" /><Relationship Type="http://schemas.openxmlformats.org/officeDocument/2006/relationships/slide" Target="/ppt/slides/slide5.xml" Id="Rf09870983289400c" /><Relationship Type="http://schemas.openxmlformats.org/officeDocument/2006/relationships/slide" Target="/ppt/slides/slide6.xml" Id="R694fadf97e9d4805" /><Relationship Type="http://schemas.openxmlformats.org/officeDocument/2006/relationships/slide" Target="/ppt/slides/slide7.xml" Id="Red1f8f76a7904809" /><Relationship Type="http://schemas.openxmlformats.org/officeDocument/2006/relationships/slide" Target="/ppt/slides/slide8.xml" Id="R86105aa31add406f" /><Relationship Type="http://schemas.openxmlformats.org/officeDocument/2006/relationships/slide" Target="/ppt/slides/slide9.xml" Id="R52e6fd0e9c7746ac" /><Relationship Type="http://schemas.openxmlformats.org/officeDocument/2006/relationships/slide" Target="/ppt/slides/slide10.xml" Id="R7810b6eccf1849b2" /><Relationship Type="http://schemas.openxmlformats.org/officeDocument/2006/relationships/slide" Target="/ppt/slides/slide11.xml" Id="Rf85f69c7f73a4930" /><Relationship Type="http://schemas.openxmlformats.org/officeDocument/2006/relationships/slide" Target="/ppt/slides/slide12.xml" Id="R332ac5b4542a421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c14c512c3da427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7e7c5fb7bdb417e" /><Relationship Type="http://schemas.openxmlformats.org/officeDocument/2006/relationships/notesMaster" Target="/ppt/notesMasters/notesMaster1.xml" Id="Rcae825e5cb084dbe" /></Relationships>
</file>

<file path=ppt/notesSlides/_rels/notesSlide2.xml.rels>&#65279;<?xml version="1.0" encoding="utf-8"?><Relationships xmlns="http://schemas.openxmlformats.org/package/2006/relationships"><Relationship Type="http://schemas.openxmlformats.org/officeDocument/2006/relationships/slide" Target="/ppt/slides/slide2.xml" Id="Rd92a55d0c03c49b1" /><Relationship Type="http://schemas.openxmlformats.org/officeDocument/2006/relationships/notesMaster" Target="/ppt/notesMasters/notesMaster1.xml" Id="Rbbcbab3914a74a69" /></Relationships>
</file>

<file path=ppt/notesSlides/_rels/notesSlide3.xml.rels>&#65279;<?xml version="1.0" encoding="utf-8"?><Relationships xmlns="http://schemas.openxmlformats.org/package/2006/relationships"><Relationship Type="http://schemas.openxmlformats.org/officeDocument/2006/relationships/slide" Target="/ppt/slides/slide3.xml" Id="R6a99ba6988b64899" /><Relationship Type="http://schemas.openxmlformats.org/officeDocument/2006/relationships/notesMaster" Target="/ppt/notesMasters/notesMaster1.xml" Id="R426184ebbe29441f" /></Relationships>
</file>

<file path=ppt/notesSlides/_rels/notesSlide4.xml.rels>&#65279;<?xml version="1.0" encoding="utf-8"?><Relationships xmlns="http://schemas.openxmlformats.org/package/2006/relationships"><Relationship Type="http://schemas.openxmlformats.org/officeDocument/2006/relationships/slide" Target="/ppt/slides/slide4.xml" Id="Rfb962a3113d04262" /><Relationship Type="http://schemas.openxmlformats.org/officeDocument/2006/relationships/notesMaster" Target="/ppt/notesMasters/notesMaster1.xml" Id="R52aa4f701bdd4bcf" /></Relationships>
</file>

<file path=ppt/notesSlides/_rels/notesSlide5.xml.rels>&#65279;<?xml version="1.0" encoding="utf-8"?><Relationships xmlns="http://schemas.openxmlformats.org/package/2006/relationships"><Relationship Type="http://schemas.openxmlformats.org/officeDocument/2006/relationships/slide" Target="/ppt/slides/slide5.xml" Id="R594b1be926774f8d" /><Relationship Type="http://schemas.openxmlformats.org/officeDocument/2006/relationships/notesMaster" Target="/ppt/notesMasters/notesMaster1.xml" Id="Recc12bd35a97462f" /></Relationships>
</file>

<file path=ppt/notesSlides/_rels/notesSlide6.xml.rels>&#65279;<?xml version="1.0" encoding="utf-8"?><Relationships xmlns="http://schemas.openxmlformats.org/package/2006/relationships"><Relationship Type="http://schemas.openxmlformats.org/officeDocument/2006/relationships/slide" Target="/ppt/slides/slide6.xml" Id="R83b535f2a4b448ab" /><Relationship Type="http://schemas.openxmlformats.org/officeDocument/2006/relationships/notesMaster" Target="/ppt/notesMasters/notesMaster1.xml" Id="Rfda5cdb39f3d4a73" /></Relationships>
</file>

<file path=ppt/notesSlides/_rels/notesSlide7.xml.rels>&#65279;<?xml version="1.0" encoding="utf-8"?><Relationships xmlns="http://schemas.openxmlformats.org/package/2006/relationships"><Relationship Type="http://schemas.openxmlformats.org/officeDocument/2006/relationships/slide" Target="/ppt/slides/slide7.xml" Id="R73486e3b6bfa400d" /><Relationship Type="http://schemas.openxmlformats.org/officeDocument/2006/relationships/notesMaster" Target="/ppt/notesMasters/notesMaster1.xml" Id="R1474ebd587f44199" /></Relationships>
</file>

<file path=ppt/notesSlides/_rels/notesSlide8.xml.rels>&#65279;<?xml version="1.0" encoding="utf-8"?><Relationships xmlns="http://schemas.openxmlformats.org/package/2006/relationships"><Relationship Type="http://schemas.openxmlformats.org/officeDocument/2006/relationships/slide" Target="/ppt/slides/slide8.xml" Id="Rafb58e293be9437d" /><Relationship Type="http://schemas.openxmlformats.org/officeDocument/2006/relationships/notesMaster" Target="/ppt/notesMasters/notesMaster1.xml" Id="R8aca50d554224479" /></Relationships>
</file>

<file path=ppt/notesSlides/_rels/notesSlide9.xml.rels>&#65279;<?xml version="1.0" encoding="utf-8"?><Relationships xmlns="http://schemas.openxmlformats.org/package/2006/relationships"><Relationship Type="http://schemas.openxmlformats.org/officeDocument/2006/relationships/slide" Target="/ppt/slides/slide9.xml" Id="R9c1dca2447bb4582" /><Relationship Type="http://schemas.openxmlformats.org/officeDocument/2006/relationships/notesMaster" Target="/ppt/notesMasters/notesMaster1.xml" Id="R8774b0f268b3448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7c9aa5d187849a1" /><Relationship Type="http://schemas.openxmlformats.org/officeDocument/2006/relationships/notesMaster" Target="/ppt/notesMasters/notesMaster1.xml" Id="Rdc22d3e884874c6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a64111325b84fc6" /><Relationship Type="http://schemas.openxmlformats.org/officeDocument/2006/relationships/notesMaster" Target="/ppt/notesMasters/notesMaster1.xml" Id="R5d94d9ee8a00499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fbd722089414300" /><Relationship Type="http://schemas.openxmlformats.org/officeDocument/2006/relationships/notesMaster" Target="/ppt/notesMasters/notesMaster1.xml" Id="R8a20edbb746c487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hasil FinRL Workbench dan visualisasi yang diberikan pengguna. Angka merefleksikan konfigurasi serta periode pada tangkapan layar. Deck ini merupakan laporan riset, bukan rekomendasi investasi.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hasil FinRL Workbench dan visualisasi yang diberikan pengguna. Angka merefleksikan konfigurasi serta periode pada tangkapan layar. Skor 78,18 berasal dari tabel ranking. Hasil −4,04% berasal dari bukti kelayakan pada tangkapan layar terakhir.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hasil FinRL Workbench dan visualisasi yang diberikan pengguna. Angka merefleksikan konfigurasi serta periode pada tangkapan layar. Periode yang terlihat mencakup train mulai 2014 dan beberapa test window 2024 sampai 2026, tergantung konfigurasi.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hasil FinRL Workbench dan visualisasi yang diberikan pengguna. Angka merefleksikan konfigurasi serta periode pada tangkapan layar. Interpretasi teknikal berbasis persentase yang terlihat pada dashboard.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hasil FinRL Workbench dan visualisasi yang diberikan pengguna. Angka merefleksikan konfigurasi serta periode pada tangkapan layar. Nilai dibaca dari tabel ranking pada screenshot. Persentase dibulatkan satu desimal pada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hasil FinRL Workbench dan visualisasi yang diberikan pengguna. Angka merefleksikan konfigurasi serta periode pada tangkapan layar. Grafik harga dinormalisasi sekitar 100 pada awal periode. Tanggal spesifik tidak tercantum lengkap pada gambar.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hasil FinRL Workbench dan visualisasi yang diberikan pengguna. Angka merefleksikan konfigurasi serta periode pada tangkapan layar. Rentang max drawdown mengacu pada lima emiten teratas di tabel ranking.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hasil FinRL Workbench dan visualisasi yang diberikan pengguna. Angka merefleksikan konfigurasi serta periode pada tangkapan layar. Watchlist disusun hanya dari tabel screening dan metrik teknikal yang diberikan pengguna.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hasil FinRL Workbench dan visualisasi yang diberikan pengguna. Angka merefleksikan konfigurasi serta periode pada tangkapan layar. Angka berasal dari screenshot evaluasi model: strategi 12,747%, benchmark 15,545%, Sharpe 0,568 vs 0,586.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hasil FinRL Workbench dan visualisasi yang diberikan pengguna. Angka merefleksikan konfigurasi serta periode pada tangkapan layar. Perbandingan drawdown mengacu pada tabel dan grafik evaluasi positif.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hasil FinRL Workbench dan visualisasi yang diberikan pengguna. Angka merefleksikan konfigurasi serta periode pada tangkapan layar. Tangkapan layar menunjukkan seluruh pemeriksaan dasar lulus, dengan return −4,04%, max drawdown −25,43%, dan Sharpe −0,29.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hasil FinRL Workbench dan visualisasi yang diberikan pengguna. Angka merefleksikan konfigurasi serta periode pada tangkapan layar. Rekomendasi metodologis didasarkan pada perbedaan hasil yang terlihat antarjendela evaluasi.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35dfa1b424345c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02cfaacbb7e4d82" /><Relationship Type="http://schemas.openxmlformats.org/officeDocument/2006/relationships/slideLayout" Target="/ppt/slideLayouts/slideLayout1.xml" Id="R3d45c8a9195c4c5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d45c8a9195c4c5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e31af338e864305" /><Relationship Type="http://schemas.openxmlformats.org/officeDocument/2006/relationships/image" Target="/ppt/media/image.png" Id="R6256fc730a55464a" /><Relationship Type="http://schemas.openxmlformats.org/officeDocument/2006/relationships/notesSlide" Target="/ppt/notesSlides/notesSlide1.xml" Id="R089002192aeb4f4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7145b56961b430f" /><Relationship Type="http://schemas.openxmlformats.org/officeDocument/2006/relationships/notesSlide" Target="/ppt/notesSlides/notesSlide2.xml" Id="R0fed475becfd4a7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448b55d86a54de2" /><Relationship Type="http://schemas.openxmlformats.org/officeDocument/2006/relationships/notesSlide" Target="/ppt/notesSlides/notesSlide3.xml" Id="R09f2b7e71c3842f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b48a14d7c6a4331" /><Relationship Type="http://schemas.openxmlformats.org/officeDocument/2006/relationships/image" Target="/ppt/media/image2.png" Id="Redfc20b1b3de4f43" /><Relationship Type="http://schemas.openxmlformats.org/officeDocument/2006/relationships/notesSlide" Target="/ppt/notesSlides/notesSlide4.xml" Id="R4da2272e7fef46c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5a081889fb84e92" /><Relationship Type="http://schemas.openxmlformats.org/officeDocument/2006/relationships/notesSlide" Target="/ppt/notesSlides/notesSlide5.xml" Id="Rd84a7d56c19c4e2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afd7cb015d84ec1" /><Relationship Type="http://schemas.openxmlformats.org/officeDocument/2006/relationships/image" Target="/ppt/media/image3.png" Id="R5f199bd9309d4a3a" /><Relationship Type="http://schemas.openxmlformats.org/officeDocument/2006/relationships/notesSlide" Target="/ppt/notesSlides/notesSlide6.xml" Id="R686aba1ef835425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747422ce56d488f" /><Relationship Type="http://schemas.openxmlformats.org/officeDocument/2006/relationships/image" Target="/ppt/media/image4.png" Id="Re098615e13514fec" /><Relationship Type="http://schemas.openxmlformats.org/officeDocument/2006/relationships/notesSlide" Target="/ppt/notesSlides/notesSlide7.xml" Id="Rab1dee2a10344ba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cf5292ae0c1474a" /><Relationship Type="http://schemas.openxmlformats.org/officeDocument/2006/relationships/notesSlide" Target="/ppt/notesSlides/notesSlide8.xml" Id="Ra32760c2c5d047b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ae9638823754d4b" /><Relationship Type="http://schemas.openxmlformats.org/officeDocument/2006/relationships/image" Target="/ppt/media/image5.png" Id="R3fdab83b098e4fdb" /><Relationship Type="http://schemas.openxmlformats.org/officeDocument/2006/relationships/notesSlide" Target="/ppt/notesSlides/notesSlide9.xml" Id="Rf5de0f6417b84db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110e9b7f3ef4abf" /><Relationship Type="http://schemas.openxmlformats.org/officeDocument/2006/relationships/image" Target="/ppt/media/image6.png" Id="R306272bdfb1f4a99" /><Relationship Type="http://schemas.openxmlformats.org/officeDocument/2006/relationships/notesSlide" Target="/ppt/notesSlides/notesSlide10.xml" Id="Re82c9fe8e6bc407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cabad7d32224ea5" /><Relationship Type="http://schemas.openxmlformats.org/officeDocument/2006/relationships/image" Target="/ppt/media/image7.png" Id="R221424a3014b4d01" /><Relationship Type="http://schemas.openxmlformats.org/officeDocument/2006/relationships/notesSlide" Target="/ppt/notesSlides/notesSlide11.xml" Id="Rd37d809193a6463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c8788475ba64543" /><Relationship Type="http://schemas.openxmlformats.org/officeDocument/2006/relationships/notesSlide" Target="/ppt/notesSlides/notesSlide12.xml" Id="Ra0e3b177240547e9" /></Relationships>
</file>

<file path=ppt/slides/slide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DD99D54-8C03-4D9C-B558-779339F0757D}"/>
              </a:ext>
            </a:extLst>
          </p:cNvPr>
          <p:cNvSpPr>
            <a:spLocks xmlns:a="http://schemas.openxmlformats.org/drawingml/2006/main" noGrp="1"/>
          </p:cNvSpPr>
          <p:nvPr/>
        </p:nvSpPr>
        <p:spPr>
          <a:xfrm xmlns:a="http://schemas.openxmlformats.org/drawingml/2006/main">
            <a:off x="400050" y="26670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defRPr sz="900" b="0">
                <a:solidFill>
                  <a:srgbClr val="B7B7B7"/>
                </a:solidFill>
                <a:latin typeface="Arial"/>
                <a:ea typeface="Arial"/>
                <a:cs typeface="Arial"/>
              </a:defRPr>
            </a:pPr>
            <a:r>
              <a:rPr sz="900" b="0">
                <a:solidFill>
                  <a:srgbClr val="B7B7B7"/>
                </a:solidFill>
                <a:latin typeface="Arial"/>
                <a:ea typeface="Arial"/>
                <a:cs typeface="Arial"/>
              </a:rPr>
              <a:t>FINRL RESEARCH</a:t>
            </a:r>
          </a:p>
        </p:txBody>
      </p:sp>
      <p:sp>
        <p:nvSpPr>
          <p:cNvPr id="2" name="">
            <a:extLst xmlns:a="http://schemas.openxmlformats.org/drawingml/2006/main">
              <a:ext uri="{FF2B5EF4-FFF2-40B4-BE49-F238E27FC236}">
                <a16:creationId xmlns:a16="http://schemas.microsoft.com/office/drawing/2014/main" id="{8A9BE885-EE6F-44E6-9C93-CA8848B07B5B}"/>
              </a:ext>
            </a:extLst>
          </p:cNvPr>
          <p:cNvSpPr>
            <a:spLocks xmlns:a="http://schemas.openxmlformats.org/drawingml/2006/main" noGrp="1"/>
          </p:cNvSpPr>
          <p:nvPr/>
        </p:nvSpPr>
        <p:spPr>
          <a:xfrm xmlns:a="http://schemas.openxmlformats.org/drawingml/2006/main">
            <a:off x="400050" y="1638300"/>
            <a:ext cx="66675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3375" b="0">
                <a:solidFill>
                  <a:srgbClr val="FFFFFF"/>
                </a:solidFill>
                <a:latin typeface="Arial"/>
                <a:ea typeface="Arial"/>
                <a:cs typeface="Arial"/>
              </a:defRPr>
            </a:pPr>
            <a:r>
              <a:rPr sz="3375" b="0">
                <a:solidFill>
                  <a:srgbClr val="FFFFFF"/>
                </a:solidFill>
                <a:latin typeface="Arial"/>
                <a:ea typeface="Arial"/>
                <a:cs typeface="Arial"/>
              </a:rPr>
              <a:t>Riset kuantitatif</a:t>
            </a:r>
          </a:p>
          <a:p xmlns:a="http://schemas.openxmlformats.org/drawingml/2006/main">
            <a:pPr>
              <a:defRPr sz="3375" b="0">
                <a:solidFill>
                  <a:srgbClr val="FFFFFF"/>
                </a:solidFill>
                <a:latin typeface="Arial"/>
                <a:ea typeface="Arial"/>
                <a:cs typeface="Arial"/>
              </a:defRPr>
            </a:pPr>
            <a:r>
              <a:rPr sz="3375" b="0">
                <a:solidFill>
                  <a:srgbClr val="FFFFFF"/>
                </a:solidFill>
                <a:latin typeface="Arial"/>
                <a:ea typeface="Arial"/>
                <a:cs typeface="Arial"/>
              </a:rPr>
              <a:t>emiten Indonesia</a:t>
            </a:r>
          </a:p>
        </p:txBody>
      </p:sp>
      <p:sp>
        <p:nvSpPr>
          <p:cNvPr id="3" name="">
            <a:extLst xmlns:a="http://schemas.openxmlformats.org/drawingml/2006/main">
              <a:ext uri="{FF2B5EF4-FFF2-40B4-BE49-F238E27FC236}">
                <a16:creationId xmlns:a16="http://schemas.microsoft.com/office/drawing/2014/main" id="{9C3DC7DD-FEA4-4497-810A-E22D85BEF640}"/>
              </a:ext>
            </a:extLst>
          </p:cNvPr>
          <p:cNvSpPr>
            <a:spLocks xmlns:a="http://schemas.openxmlformats.org/drawingml/2006/main" noGrp="1"/>
          </p:cNvSpPr>
          <p:nvPr/>
        </p:nvSpPr>
        <p:spPr>
          <a:xfrm xmlns:a="http://schemas.openxmlformats.org/drawingml/2006/main">
            <a:off x="400050" y="3048000"/>
            <a:ext cx="647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0">
                <a:solidFill>
                  <a:srgbClr val="B7B7B7"/>
                </a:solidFill>
                <a:latin typeface="Arial"/>
                <a:ea typeface="Arial"/>
                <a:cs typeface="Arial"/>
              </a:defRPr>
            </a:pPr>
            <a:r>
              <a:rPr sz="1500" b="0">
                <a:solidFill>
                  <a:srgbClr val="B7B7B7"/>
                </a:solidFill>
                <a:latin typeface="Arial"/>
                <a:ea typeface="Arial"/>
                <a:cs typeface="Arial"/>
              </a:rPr>
              <a:t>Screening teknikal, risiko, dan evaluasi strategi deep reinforcement learning</a:t>
            </a:r>
          </a:p>
        </p:txBody>
      </p:sp>
      <p:sp>
        <p:nvSpPr>
          <p:cNvPr id="4" name="">
            <a:extLst xmlns:a="http://schemas.openxmlformats.org/drawingml/2006/main">
              <a:ext uri="{FF2B5EF4-FFF2-40B4-BE49-F238E27FC236}">
                <a16:creationId xmlns:a16="http://schemas.microsoft.com/office/drawing/2014/main" id="{4CA7C074-EF90-4683-B7D8-297F2EC13A82}"/>
              </a:ext>
            </a:extLst>
          </p:cNvPr>
          <p:cNvSpPr>
            <a:spLocks xmlns:a="http://schemas.openxmlformats.org/drawingml/2006/main" noGrp="1"/>
          </p:cNvSpPr>
          <p:nvPr/>
        </p:nvSpPr>
        <p:spPr>
          <a:xfrm xmlns:a="http://schemas.openxmlformats.org/drawingml/2006/main">
            <a:off x="400050" y="58483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defRPr sz="1050" b="0">
                <a:solidFill>
                  <a:srgbClr val="FFFFFF"/>
                </a:solidFill>
                <a:latin typeface="Arial"/>
                <a:ea typeface="Arial"/>
                <a:cs typeface="Arial"/>
              </a:defRPr>
            </a:pPr>
            <a:r>
              <a:rPr sz="1050" b="0">
                <a:solidFill>
                  <a:srgbClr val="FFFFFF"/>
                </a:solidFill>
                <a:latin typeface="Arial"/>
                <a:ea typeface="Arial"/>
                <a:cs typeface="Arial"/>
              </a:rPr>
              <a:t>Universe 11 emiten  |  Data harian  |  Laporan eksperimen</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6256fc730a55464a"/>
          <a:srcRect xmlns:a="http://schemas.openxmlformats.org/drawingml/2006/main" l="42937" t="0" r="42937" b="0"/>
          <a:stretch xmlns:a="http://schemas.openxmlformats.org/drawingml/2006/main">
            <a:fillRect l="0" t="0" r="0" b="0"/>
          </a:stretch>
        </p:blipFill>
        <p:spPr>
          <a:xfrm xmlns:a="http://schemas.openxmlformats.org/drawingml/2006/main">
            <a:off x="7810500" y="0"/>
            <a:ext cx="4381500" cy="6858000"/>
          </a:xfrm>
          <a:prstGeom xmlns:a="http://schemas.openxmlformats.org/drawingml/2006/main" prst="roundRect">
            <a:avLst>
              <a:gd name="adj" fmla="val 2174"/>
            </a:avLst>
          </a:prstGeom>
        </p:spPr>
      </p:pic>
    </p:spTree>
    <p:extLst>
      <p:ext uri="{BB962C8B-B14F-4D97-AF65-F5344CB8AC3E}">
        <p14:creationId xmlns:p14="http://schemas.microsoft.com/office/powerpoint/2010/main" val="1379414551"/>
      </p:ext>
    </p:extLst>
  </p:cSld>
</p:sld>
</file>

<file path=ppt/slides/slide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6D40CB54-E134-46EC-9DC0-FB5E57B15B1E}"/>
              </a:ext>
            </a:extLst>
          </p:cNvPr>
          <p:cNvSpPr>
            <a:spLocks xmlns:a="http://schemas.openxmlformats.org/drawingml/2006/main" noGrp="1"/>
          </p:cNvSpPr>
          <p:nvPr/>
        </p:nvSpPr>
        <p:spPr>
          <a:xfrm xmlns:a="http://schemas.openxmlformats.org/drawingml/2006/main">
            <a:off x="400050" y="209550"/>
            <a:ext cx="3810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defRPr sz="900" b="0">
                <a:solidFill>
                  <a:srgbClr val="B7B7B7"/>
                </a:solidFill>
                <a:latin typeface="Arial"/>
                <a:ea typeface="Arial"/>
                <a:cs typeface="Arial"/>
              </a:defRPr>
            </a:pPr>
            <a:r>
              <a:rPr sz="900" b="0">
                <a:solidFill>
                  <a:srgbClr val="B7B7B7"/>
                </a:solidFill>
                <a:latin typeface="Arial"/>
                <a:ea typeface="Arial"/>
                <a:cs typeface="Arial"/>
              </a:rPr>
              <a:t>FINRL RESEARCH</a:t>
            </a:r>
          </a:p>
        </p:txBody>
      </p:sp>
      <p:sp>
        <p:nvSpPr>
          <p:cNvPr id="2" name="">
            <a:extLst xmlns:a="http://schemas.openxmlformats.org/drawingml/2006/main">
              <a:ext uri="{FF2B5EF4-FFF2-40B4-BE49-F238E27FC236}">
                <a16:creationId xmlns:a16="http://schemas.microsoft.com/office/drawing/2014/main" id="{52EF4788-C637-4B3E-B268-CB7064A78675}"/>
              </a:ext>
            </a:extLst>
          </p:cNvPr>
          <p:cNvSpPr>
            <a:spLocks xmlns:a="http://schemas.openxmlformats.org/drawingml/2006/main" noGrp="1"/>
          </p:cNvSpPr>
          <p:nvPr/>
        </p:nvSpPr>
        <p:spPr>
          <a:xfrm xmlns:a="http://schemas.openxmlformats.org/drawingml/2006/main">
            <a:off x="400050" y="457200"/>
            <a:ext cx="11239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Ringkasan eksekutif</a:t>
            </a:r>
          </a:p>
        </p:txBody>
      </p:sp>
      <p:sp>
        <p:nvSpPr>
          <p:cNvPr id="3" name="">
            <a:extLst xmlns:a="http://schemas.openxmlformats.org/drawingml/2006/main">
              <a:ext uri="{FF2B5EF4-FFF2-40B4-BE49-F238E27FC236}">
                <a16:creationId xmlns:a16="http://schemas.microsoft.com/office/drawing/2014/main" id="{6619C926-D372-46D1-99AC-0F066839DCE0}"/>
              </a:ext>
            </a:extLst>
          </p:cNvPr>
          <p:cNvSpPr>
            <a:spLocks xmlns:a="http://schemas.openxmlformats.org/drawingml/2006/main" noGrp="1"/>
          </p:cNvSpPr>
          <p:nvPr/>
        </p:nvSpPr>
        <p:spPr>
          <a:xfrm xmlns:a="http://schemas.openxmlformats.org/drawingml/2006/main">
            <a:off x="400050" y="1066800"/>
            <a:ext cx="11391900" cy="9525"/>
          </a:xfrm>
          <a:prstGeom xmlns:a="http://schemas.openxmlformats.org/drawingml/2006/main" prst="rect">
            <a:avLst/>
          </a:prstGeom>
          <a:solidFill xmlns:a="http://schemas.openxmlformats.org/drawingml/2006/main">
            <a:srgbClr val="45454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B3255EC-4E71-41B2-831F-539945FF165A}"/>
              </a:ext>
            </a:extLst>
          </p:cNvPr>
          <p:cNvSpPr>
            <a:spLocks xmlns:a="http://schemas.openxmlformats.org/drawingml/2006/main" noGrp="1"/>
          </p:cNvSpPr>
          <p:nvPr/>
        </p:nvSpPr>
        <p:spPr>
          <a:xfrm xmlns:a="http://schemas.openxmlformats.org/drawingml/2006/main">
            <a:off x="11372850" y="6496050"/>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B7B7B7"/>
                </a:solidFill>
                <a:latin typeface="Arial"/>
                <a:ea typeface="Arial"/>
                <a:cs typeface="Arial"/>
              </a:defRPr>
            </a:pPr>
            <a:r>
              <a:rPr sz="825" b="0">
                <a:solidFill>
                  <a:srgbClr val="B7B7B7"/>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4BCBAAD4-E3BB-436F-BCC8-8FC100B101FB}"/>
              </a:ext>
            </a:extLst>
          </p:cNvPr>
          <p:cNvSpPr>
            <a:spLocks xmlns:a="http://schemas.openxmlformats.org/drawingml/2006/main" noGrp="1"/>
          </p:cNvSpPr>
          <p:nvPr/>
        </p:nvSpPr>
        <p:spPr>
          <a:xfrm xmlns:a="http://schemas.openxmlformats.org/drawingml/2006/main">
            <a:off x="400050" y="1257300"/>
            <a:ext cx="11334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Sinyal lintas saham mendukung seleksi kandidat, tetapi evaluasi strategi menunjukkan hasil yang berubah antarjendela uji.</a:t>
            </a:r>
          </a:p>
        </p:txBody>
      </p:sp>
      <p:sp>
        <p:nvSpPr>
          <p:cNvPr id="6" name="">
            <a:extLst xmlns:a="http://schemas.openxmlformats.org/drawingml/2006/main">
              <a:ext uri="{FF2B5EF4-FFF2-40B4-BE49-F238E27FC236}">
                <a16:creationId xmlns:a16="http://schemas.microsoft.com/office/drawing/2014/main" id="{3F9ED33C-A827-4A44-8AA3-55C63DB26D8C}"/>
              </a:ext>
            </a:extLst>
          </p:cNvPr>
          <p:cNvSpPr>
            <a:spLocks xmlns:a="http://schemas.openxmlformats.org/drawingml/2006/main" noGrp="1"/>
          </p:cNvSpPr>
          <p:nvPr/>
        </p:nvSpPr>
        <p:spPr>
          <a:xfrm xmlns:a="http://schemas.openxmlformats.org/drawingml/2006/main">
            <a:off x="400050" y="2247900"/>
            <a:ext cx="2667000" cy="1447800"/>
          </a:xfrm>
          <a:prstGeom xmlns:a="http://schemas.openxmlformats.org/drawingml/2006/main" prst="roundRect">
            <a:avLst>
              <a:gd name="adj" fmla="val 5263"/>
            </a:avLst>
          </a:prstGeom>
          <a:solidFill xmlns:a="http://schemas.openxmlformats.org/drawingml/2006/main">
            <a:srgbClr val="29292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4856697-9020-413E-9FF4-28F866367042}"/>
              </a:ext>
            </a:extLst>
          </p:cNvPr>
          <p:cNvSpPr>
            <a:spLocks xmlns:a="http://schemas.openxmlformats.org/drawingml/2006/main" noGrp="1"/>
          </p:cNvSpPr>
          <p:nvPr/>
        </p:nvSpPr>
        <p:spPr>
          <a:xfrm xmlns:a="http://schemas.openxmlformats.org/drawingml/2006/main">
            <a:off x="571500" y="2400300"/>
            <a:ext cx="2324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defRPr sz="1050" b="0">
                <a:solidFill>
                  <a:srgbClr val="B7B7B7"/>
                </a:solidFill>
                <a:latin typeface="Arial"/>
                <a:ea typeface="Arial"/>
                <a:cs typeface="Arial"/>
              </a:defRPr>
            </a:pPr>
            <a:r>
              <a:rPr sz="1050" b="0">
                <a:solidFill>
                  <a:srgbClr val="B7B7B7"/>
                </a:solidFill>
                <a:latin typeface="Arial"/>
                <a:ea typeface="Arial"/>
                <a:cs typeface="Arial"/>
              </a:rPr>
              <a:t>Emiten dianalisis</a:t>
            </a:r>
          </a:p>
        </p:txBody>
      </p:sp>
      <p:sp>
        <p:nvSpPr>
          <p:cNvPr id="8" name="">
            <a:extLst xmlns:a="http://schemas.openxmlformats.org/drawingml/2006/main">
              <a:ext uri="{FF2B5EF4-FFF2-40B4-BE49-F238E27FC236}">
                <a16:creationId xmlns:a16="http://schemas.microsoft.com/office/drawing/2014/main" id="{48BF964B-6C24-4AB8-B8D8-CA7BCF095388}"/>
              </a:ext>
            </a:extLst>
          </p:cNvPr>
          <p:cNvSpPr>
            <a:spLocks xmlns:a="http://schemas.openxmlformats.org/drawingml/2006/main" noGrp="1"/>
          </p:cNvSpPr>
          <p:nvPr/>
        </p:nvSpPr>
        <p:spPr>
          <a:xfrm xmlns:a="http://schemas.openxmlformats.org/drawingml/2006/main">
            <a:off x="571500" y="2695575"/>
            <a:ext cx="23241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550" b="0">
                <a:solidFill>
                  <a:srgbClr val="FFFFFF"/>
                </a:solidFill>
                <a:latin typeface="Arial"/>
                <a:ea typeface="Arial"/>
                <a:cs typeface="Arial"/>
              </a:defRPr>
            </a:pPr>
            <a:r>
              <a:rPr sz="2550" b="0">
                <a:solidFill>
                  <a:srgbClr val="FFFFFF"/>
                </a:solidFill>
                <a:latin typeface="Arial"/>
                <a:ea typeface="Arial"/>
                <a:cs typeface="Arial"/>
              </a:rPr>
              <a:t>11</a:t>
            </a:r>
          </a:p>
        </p:txBody>
      </p:sp>
      <p:sp>
        <p:nvSpPr>
          <p:cNvPr id="9" name="">
            <a:extLst xmlns:a="http://schemas.openxmlformats.org/drawingml/2006/main">
              <a:ext uri="{FF2B5EF4-FFF2-40B4-BE49-F238E27FC236}">
                <a16:creationId xmlns:a16="http://schemas.microsoft.com/office/drawing/2014/main" id="{4828CCFA-4FB8-4174-8623-37FC53494C50}"/>
              </a:ext>
            </a:extLst>
          </p:cNvPr>
          <p:cNvSpPr>
            <a:spLocks xmlns:a="http://schemas.openxmlformats.org/drawingml/2006/main" noGrp="1"/>
          </p:cNvSpPr>
          <p:nvPr/>
        </p:nvSpPr>
        <p:spPr>
          <a:xfrm xmlns:a="http://schemas.openxmlformats.org/drawingml/2006/main">
            <a:off x="571500" y="3314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900" b="0">
                <a:solidFill>
                  <a:srgbClr val="B7B7B7"/>
                </a:solidFill>
                <a:latin typeface="Arial"/>
                <a:ea typeface="Arial"/>
                <a:cs typeface="Arial"/>
              </a:defRPr>
            </a:pPr>
            <a:r>
              <a:rPr sz="900" b="0">
                <a:solidFill>
                  <a:srgbClr val="B7B7B7"/>
                </a:solidFill>
                <a:latin typeface="Arial"/>
                <a:ea typeface="Arial"/>
                <a:cs typeface="Arial"/>
              </a:rPr>
              <a:t>LQ45 pilihan pengguna</a:t>
            </a:r>
          </a:p>
        </p:txBody>
      </p:sp>
      <p:sp>
        <p:nvSpPr>
          <p:cNvPr id="10" name="">
            <a:extLst xmlns:a="http://schemas.openxmlformats.org/drawingml/2006/main">
              <a:ext uri="{FF2B5EF4-FFF2-40B4-BE49-F238E27FC236}">
                <a16:creationId xmlns:a16="http://schemas.microsoft.com/office/drawing/2014/main" id="{141BB34C-ACD2-4D61-B289-DCE008B118D3}"/>
              </a:ext>
            </a:extLst>
          </p:cNvPr>
          <p:cNvSpPr>
            <a:spLocks xmlns:a="http://schemas.openxmlformats.org/drawingml/2006/main" noGrp="1"/>
          </p:cNvSpPr>
          <p:nvPr/>
        </p:nvSpPr>
        <p:spPr>
          <a:xfrm xmlns:a="http://schemas.openxmlformats.org/drawingml/2006/main">
            <a:off x="3257550" y="2247900"/>
            <a:ext cx="2667000" cy="1447800"/>
          </a:xfrm>
          <a:prstGeom xmlns:a="http://schemas.openxmlformats.org/drawingml/2006/main" prst="roundRect">
            <a:avLst>
              <a:gd name="adj" fmla="val 5263"/>
            </a:avLst>
          </a:prstGeom>
          <a:solidFill xmlns:a="http://schemas.openxmlformats.org/drawingml/2006/main">
            <a:srgbClr val="292929"/>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23D3F21-943D-46A4-8965-0B5563A4F372}"/>
              </a:ext>
            </a:extLst>
          </p:cNvPr>
          <p:cNvSpPr>
            <a:spLocks xmlns:a="http://schemas.openxmlformats.org/drawingml/2006/main" noGrp="1"/>
          </p:cNvSpPr>
          <p:nvPr/>
        </p:nvSpPr>
        <p:spPr>
          <a:xfrm xmlns:a="http://schemas.openxmlformats.org/drawingml/2006/main">
            <a:off x="3429000" y="2400300"/>
            <a:ext cx="2324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defRPr sz="1050" b="0">
                <a:solidFill>
                  <a:srgbClr val="B7B7B7"/>
                </a:solidFill>
                <a:latin typeface="Arial"/>
                <a:ea typeface="Arial"/>
                <a:cs typeface="Arial"/>
              </a:defRPr>
            </a:pPr>
            <a:r>
              <a:rPr sz="1050" b="0">
                <a:solidFill>
                  <a:srgbClr val="B7B7B7"/>
                </a:solidFill>
                <a:latin typeface="Arial"/>
                <a:ea typeface="Arial"/>
                <a:cs typeface="Arial"/>
              </a:rPr>
              <a:t>Advancers</a:t>
            </a:r>
          </a:p>
        </p:txBody>
      </p:sp>
      <p:sp>
        <p:nvSpPr>
          <p:cNvPr id="12" name="">
            <a:extLst xmlns:a="http://schemas.openxmlformats.org/drawingml/2006/main">
              <a:ext uri="{FF2B5EF4-FFF2-40B4-BE49-F238E27FC236}">
                <a16:creationId xmlns:a16="http://schemas.microsoft.com/office/drawing/2014/main" id="{B85F469C-3849-4262-9AC2-4E52070B08BC}"/>
              </a:ext>
            </a:extLst>
          </p:cNvPr>
          <p:cNvSpPr>
            <a:spLocks xmlns:a="http://schemas.openxmlformats.org/drawingml/2006/main" noGrp="1"/>
          </p:cNvSpPr>
          <p:nvPr/>
        </p:nvSpPr>
        <p:spPr>
          <a:xfrm xmlns:a="http://schemas.openxmlformats.org/drawingml/2006/main">
            <a:off x="3429000" y="2695575"/>
            <a:ext cx="23241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550" b="0">
                <a:solidFill>
                  <a:srgbClr val="F3C969"/>
                </a:solidFill>
                <a:latin typeface="Arial"/>
                <a:ea typeface="Arial"/>
                <a:cs typeface="Arial"/>
              </a:defRPr>
            </a:pPr>
            <a:r>
              <a:rPr sz="2550" b="0">
                <a:solidFill>
                  <a:srgbClr val="F3C969"/>
                </a:solidFill>
                <a:latin typeface="Arial"/>
                <a:ea typeface="Arial"/>
                <a:cs typeface="Arial"/>
              </a:rPr>
              <a:t>45,5%</a:t>
            </a:r>
          </a:p>
        </p:txBody>
      </p:sp>
      <p:sp>
        <p:nvSpPr>
          <p:cNvPr id="13" name="">
            <a:extLst xmlns:a="http://schemas.openxmlformats.org/drawingml/2006/main">
              <a:ext uri="{FF2B5EF4-FFF2-40B4-BE49-F238E27FC236}">
                <a16:creationId xmlns:a16="http://schemas.microsoft.com/office/drawing/2014/main" id="{99A983EA-C0FF-4F3F-9819-CC9E844115C8}"/>
              </a:ext>
            </a:extLst>
          </p:cNvPr>
          <p:cNvSpPr>
            <a:spLocks xmlns:a="http://schemas.openxmlformats.org/drawingml/2006/main" noGrp="1"/>
          </p:cNvSpPr>
          <p:nvPr/>
        </p:nvSpPr>
        <p:spPr>
          <a:xfrm xmlns:a="http://schemas.openxmlformats.org/drawingml/2006/main">
            <a:off x="3429000" y="3314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900" b="0">
                <a:solidFill>
                  <a:srgbClr val="B7B7B7"/>
                </a:solidFill>
                <a:latin typeface="Arial"/>
                <a:ea typeface="Arial"/>
                <a:cs typeface="Arial"/>
              </a:defRPr>
            </a:pPr>
            <a:r>
              <a:rPr sz="900" b="0">
                <a:solidFill>
                  <a:srgbClr val="B7B7B7"/>
                </a:solidFill>
                <a:latin typeface="Arial"/>
                <a:ea typeface="Arial"/>
                <a:cs typeface="Arial"/>
              </a:rPr>
              <a:t>Breadth belum dominan</a:t>
            </a:r>
          </a:p>
        </p:txBody>
      </p:sp>
      <p:sp>
        <p:nvSpPr>
          <p:cNvPr id="14" name="">
            <a:extLst xmlns:a="http://schemas.openxmlformats.org/drawingml/2006/main">
              <a:ext uri="{FF2B5EF4-FFF2-40B4-BE49-F238E27FC236}">
                <a16:creationId xmlns:a16="http://schemas.microsoft.com/office/drawing/2014/main" id="{38E41191-C4E8-4F88-BEA4-80D663CC5DA5}"/>
              </a:ext>
            </a:extLst>
          </p:cNvPr>
          <p:cNvSpPr>
            <a:spLocks xmlns:a="http://schemas.openxmlformats.org/drawingml/2006/main" noGrp="1"/>
          </p:cNvSpPr>
          <p:nvPr/>
        </p:nvSpPr>
        <p:spPr>
          <a:xfrm xmlns:a="http://schemas.openxmlformats.org/drawingml/2006/main">
            <a:off x="6115050" y="2247900"/>
            <a:ext cx="2667000" cy="1447800"/>
          </a:xfrm>
          <a:prstGeom xmlns:a="http://schemas.openxmlformats.org/drawingml/2006/main" prst="roundRect">
            <a:avLst>
              <a:gd name="adj" fmla="val 5263"/>
            </a:avLst>
          </a:prstGeom>
          <a:solidFill xmlns:a="http://schemas.openxmlformats.org/drawingml/2006/main">
            <a:srgbClr val="292929"/>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D55D28B-3670-4AF8-839A-14DFCDCF36A4}"/>
              </a:ext>
            </a:extLst>
          </p:cNvPr>
          <p:cNvSpPr>
            <a:spLocks xmlns:a="http://schemas.openxmlformats.org/drawingml/2006/main" noGrp="1"/>
          </p:cNvSpPr>
          <p:nvPr/>
        </p:nvSpPr>
        <p:spPr>
          <a:xfrm xmlns:a="http://schemas.openxmlformats.org/drawingml/2006/main">
            <a:off x="6286500" y="2400300"/>
            <a:ext cx="2324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defRPr sz="1050" b="0">
                <a:solidFill>
                  <a:srgbClr val="B7B7B7"/>
                </a:solidFill>
                <a:latin typeface="Arial"/>
                <a:ea typeface="Arial"/>
                <a:cs typeface="Arial"/>
              </a:defRPr>
            </a:pPr>
            <a:r>
              <a:rPr sz="1050" b="0">
                <a:solidFill>
                  <a:srgbClr val="B7B7B7"/>
                </a:solidFill>
                <a:latin typeface="Arial"/>
                <a:ea typeface="Arial"/>
                <a:cs typeface="Arial"/>
              </a:rPr>
              <a:t>Skor tertinggi</a:t>
            </a:r>
          </a:p>
        </p:txBody>
      </p:sp>
      <p:sp>
        <p:nvSpPr>
          <p:cNvPr id="16" name="">
            <a:extLst xmlns:a="http://schemas.openxmlformats.org/drawingml/2006/main">
              <a:ext uri="{FF2B5EF4-FFF2-40B4-BE49-F238E27FC236}">
                <a16:creationId xmlns:a16="http://schemas.microsoft.com/office/drawing/2014/main" id="{C733F55F-19AA-458B-AA38-7D4C3B1BBD50}"/>
              </a:ext>
            </a:extLst>
          </p:cNvPr>
          <p:cNvSpPr>
            <a:spLocks xmlns:a="http://schemas.openxmlformats.org/drawingml/2006/main" noGrp="1"/>
          </p:cNvSpPr>
          <p:nvPr/>
        </p:nvSpPr>
        <p:spPr>
          <a:xfrm xmlns:a="http://schemas.openxmlformats.org/drawingml/2006/main">
            <a:off x="6286500" y="2695575"/>
            <a:ext cx="23241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550" b="0">
                <a:solidFill>
                  <a:srgbClr val="6FD3FF"/>
                </a:solidFill>
                <a:latin typeface="Arial"/>
                <a:ea typeface="Arial"/>
                <a:cs typeface="Arial"/>
              </a:defRPr>
            </a:pPr>
            <a:r>
              <a:rPr sz="2550" b="0">
                <a:solidFill>
                  <a:srgbClr val="6FD3FF"/>
                </a:solidFill>
                <a:latin typeface="Arial"/>
                <a:ea typeface="Arial"/>
                <a:cs typeface="Arial"/>
              </a:rPr>
              <a:t>78,18</a:t>
            </a:r>
          </a:p>
        </p:txBody>
      </p:sp>
      <p:sp>
        <p:nvSpPr>
          <p:cNvPr id="17" name="">
            <a:extLst xmlns:a="http://schemas.openxmlformats.org/drawingml/2006/main">
              <a:ext uri="{FF2B5EF4-FFF2-40B4-BE49-F238E27FC236}">
                <a16:creationId xmlns:a16="http://schemas.microsoft.com/office/drawing/2014/main" id="{367E895C-E9AB-4FAE-9409-1D8145A0C9D4}"/>
              </a:ext>
            </a:extLst>
          </p:cNvPr>
          <p:cNvSpPr>
            <a:spLocks xmlns:a="http://schemas.openxmlformats.org/drawingml/2006/main" noGrp="1"/>
          </p:cNvSpPr>
          <p:nvPr/>
        </p:nvSpPr>
        <p:spPr>
          <a:xfrm xmlns:a="http://schemas.openxmlformats.org/drawingml/2006/main">
            <a:off x="6286500" y="3314700"/>
            <a:ext cx="2324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900" b="0">
                <a:solidFill>
                  <a:srgbClr val="B7B7B7"/>
                </a:solidFill>
                <a:latin typeface="Arial"/>
                <a:ea typeface="Arial"/>
                <a:cs typeface="Arial"/>
              </a:defRPr>
            </a:pPr>
            <a:r>
              <a:rPr sz="900" b="0">
                <a:solidFill>
                  <a:srgbClr val="B7B7B7"/>
                </a:solidFill>
                <a:latin typeface="Arial"/>
                <a:ea typeface="Arial"/>
                <a:cs typeface="Arial"/>
              </a:rPr>
              <a:t>ADRO.JK</a:t>
            </a:r>
          </a:p>
        </p:txBody>
      </p:sp>
      <p:sp>
        <p:nvSpPr>
          <p:cNvPr id="18" name="">
            <a:extLst xmlns:a="http://schemas.openxmlformats.org/drawingml/2006/main">
              <a:ext uri="{FF2B5EF4-FFF2-40B4-BE49-F238E27FC236}">
                <a16:creationId xmlns:a16="http://schemas.microsoft.com/office/drawing/2014/main" id="{73839B39-2572-484F-898E-2ED8E7915343}"/>
              </a:ext>
            </a:extLst>
          </p:cNvPr>
          <p:cNvSpPr>
            <a:spLocks xmlns:a="http://schemas.openxmlformats.org/drawingml/2006/main" noGrp="1"/>
          </p:cNvSpPr>
          <p:nvPr/>
        </p:nvSpPr>
        <p:spPr>
          <a:xfrm xmlns:a="http://schemas.openxmlformats.org/drawingml/2006/main">
            <a:off x="8972550" y="2247900"/>
            <a:ext cx="2819400" cy="1447800"/>
          </a:xfrm>
          <a:prstGeom xmlns:a="http://schemas.openxmlformats.org/drawingml/2006/main" prst="roundRect">
            <a:avLst>
              <a:gd name="adj" fmla="val 5263"/>
            </a:avLst>
          </a:prstGeom>
          <a:solidFill xmlns:a="http://schemas.openxmlformats.org/drawingml/2006/main">
            <a:srgbClr val="292929"/>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2EA3F09-52B2-4764-9863-C56EBDD254E6}"/>
              </a:ext>
            </a:extLst>
          </p:cNvPr>
          <p:cNvSpPr>
            <a:spLocks xmlns:a="http://schemas.openxmlformats.org/drawingml/2006/main" noGrp="1"/>
          </p:cNvSpPr>
          <p:nvPr/>
        </p:nvSpPr>
        <p:spPr>
          <a:xfrm xmlns:a="http://schemas.openxmlformats.org/drawingml/2006/main">
            <a:off x="9144000" y="240030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defRPr sz="1050" b="0">
                <a:solidFill>
                  <a:srgbClr val="B7B7B7"/>
                </a:solidFill>
                <a:latin typeface="Arial"/>
                <a:ea typeface="Arial"/>
                <a:cs typeface="Arial"/>
              </a:defRPr>
            </a:pPr>
            <a:r>
              <a:rPr sz="1050" b="0">
                <a:solidFill>
                  <a:srgbClr val="B7B7B7"/>
                </a:solidFill>
                <a:latin typeface="Arial"/>
                <a:ea typeface="Arial"/>
                <a:cs typeface="Arial"/>
              </a:rPr>
              <a:t>Hasil uji lemah</a:t>
            </a:r>
          </a:p>
        </p:txBody>
      </p:sp>
      <p:sp>
        <p:nvSpPr>
          <p:cNvPr id="20" name="">
            <a:extLst xmlns:a="http://schemas.openxmlformats.org/drawingml/2006/main">
              <a:ext uri="{FF2B5EF4-FFF2-40B4-BE49-F238E27FC236}">
                <a16:creationId xmlns:a16="http://schemas.microsoft.com/office/drawing/2014/main" id="{F3A18EB7-D71D-4D6D-A6DB-97E3623FB31B}"/>
              </a:ext>
            </a:extLst>
          </p:cNvPr>
          <p:cNvSpPr>
            <a:spLocks xmlns:a="http://schemas.openxmlformats.org/drawingml/2006/main" noGrp="1"/>
          </p:cNvSpPr>
          <p:nvPr/>
        </p:nvSpPr>
        <p:spPr>
          <a:xfrm xmlns:a="http://schemas.openxmlformats.org/drawingml/2006/main">
            <a:off x="9144000" y="2695575"/>
            <a:ext cx="247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550" b="0">
                <a:solidFill>
                  <a:srgbClr val="FF5B5B"/>
                </a:solidFill>
                <a:latin typeface="Arial"/>
                <a:ea typeface="Arial"/>
                <a:cs typeface="Arial"/>
              </a:defRPr>
            </a:pPr>
            <a:r>
              <a:rPr sz="2550" b="0">
                <a:solidFill>
                  <a:srgbClr val="FF5B5B"/>
                </a:solidFill>
                <a:latin typeface="Arial"/>
                <a:ea typeface="Arial"/>
                <a:cs typeface="Arial"/>
              </a:rPr>
              <a:t>−4,04%</a:t>
            </a:r>
          </a:p>
        </p:txBody>
      </p:sp>
      <p:sp>
        <p:nvSpPr>
          <p:cNvPr id="21" name="">
            <a:extLst xmlns:a="http://schemas.openxmlformats.org/drawingml/2006/main">
              <a:ext uri="{FF2B5EF4-FFF2-40B4-BE49-F238E27FC236}">
                <a16:creationId xmlns:a16="http://schemas.microsoft.com/office/drawing/2014/main" id="{75699CA7-9C83-42CE-A427-B4FBAC9A7268}"/>
              </a:ext>
            </a:extLst>
          </p:cNvPr>
          <p:cNvSpPr>
            <a:spLocks xmlns:a="http://schemas.openxmlformats.org/drawingml/2006/main" noGrp="1"/>
          </p:cNvSpPr>
          <p:nvPr/>
        </p:nvSpPr>
        <p:spPr>
          <a:xfrm xmlns:a="http://schemas.openxmlformats.org/drawingml/2006/main">
            <a:off x="9144000" y="3314700"/>
            <a:ext cx="247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900" b="0">
                <a:solidFill>
                  <a:srgbClr val="B7B7B7"/>
                </a:solidFill>
                <a:latin typeface="Arial"/>
                <a:ea typeface="Arial"/>
                <a:cs typeface="Arial"/>
              </a:defRPr>
            </a:pPr>
            <a:r>
              <a:rPr sz="900" b="0">
                <a:solidFill>
                  <a:srgbClr val="B7B7B7"/>
                </a:solidFill>
                <a:latin typeface="Arial"/>
                <a:ea typeface="Arial"/>
                <a:cs typeface="Arial"/>
              </a:rPr>
              <a:t>Jendela evaluasi terbaru</a:t>
            </a:r>
          </a:p>
        </p:txBody>
      </p:sp>
      <p:sp>
        <p:nvSpPr>
          <p:cNvPr id="22" name="">
            <a:extLst xmlns:a="http://schemas.openxmlformats.org/drawingml/2006/main">
              <a:ext uri="{FF2B5EF4-FFF2-40B4-BE49-F238E27FC236}">
                <a16:creationId xmlns:a16="http://schemas.microsoft.com/office/drawing/2014/main" id="{2E2EF877-62B5-4B65-A65B-E0F892538CD0}"/>
              </a:ext>
            </a:extLst>
          </p:cNvPr>
          <p:cNvSpPr>
            <a:spLocks xmlns:a="http://schemas.openxmlformats.org/drawingml/2006/main" noGrp="1"/>
          </p:cNvSpPr>
          <p:nvPr/>
        </p:nvSpPr>
        <p:spPr>
          <a:xfrm xmlns:a="http://schemas.openxmlformats.org/drawingml/2006/main">
            <a:off x="400050" y="40957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B7B7B7"/>
                </a:solidFill>
                <a:latin typeface="Arial"/>
                <a:ea typeface="Arial"/>
                <a:cs typeface="Arial"/>
              </a:defRPr>
            </a:pPr>
            <a:r>
              <a:rPr sz="1350" b="1">
                <a:solidFill>
                  <a:srgbClr val="B7B7B7"/>
                </a:solidFill>
                <a:latin typeface="Arial"/>
                <a:ea typeface="Arial"/>
                <a:cs typeface="Arial"/>
              </a:rPr>
              <a:t>Implikasi riset</a:t>
            </a:r>
          </a:p>
        </p:txBody>
      </p:sp>
      <p:sp>
        <p:nvSpPr>
          <p:cNvPr id="23" name="">
            <a:extLst xmlns:a="http://schemas.openxmlformats.org/drawingml/2006/main">
              <a:ext uri="{FF2B5EF4-FFF2-40B4-BE49-F238E27FC236}">
                <a16:creationId xmlns:a16="http://schemas.microsoft.com/office/drawing/2014/main" id="{981ACB4C-DC5B-4229-B2C1-59A4E3E7EEED}"/>
              </a:ext>
            </a:extLst>
          </p:cNvPr>
          <p:cNvSpPr>
            <a:spLocks xmlns:a="http://schemas.openxmlformats.org/drawingml/2006/main" noGrp="1"/>
          </p:cNvSpPr>
          <p:nvPr/>
        </p:nvSpPr>
        <p:spPr>
          <a:xfrm xmlns:a="http://schemas.openxmlformats.org/drawingml/2006/main">
            <a:off x="400050" y="44386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a:solidFill>
                  <a:srgbClr val="FFFFFF"/>
                </a:solidFill>
                <a:latin typeface="Arial"/>
                <a:ea typeface="Arial"/>
                <a:cs typeface="Arial"/>
              </a:defRPr>
            </a:pPr>
            <a:r>
              <a:rPr sz="1800" b="0">
                <a:solidFill>
                  <a:srgbClr val="FFFFFF"/>
                </a:solidFill>
                <a:latin typeface="Arial"/>
                <a:ea typeface="Arial"/>
                <a:cs typeface="Arial"/>
              </a:rPr>
              <a:t>Gunakan ranking sebagai prioritas riset, bukan sinyal beli tunggal. Stabilitas model perlu diuji lintas periode sebelum paper trading.</a:t>
            </a:r>
          </a:p>
        </p:txBody>
      </p:sp>
      <p:sp>
        <p:nvSpPr>
          <p:cNvPr id="24" name="">
            <a:extLst xmlns:a="http://schemas.openxmlformats.org/drawingml/2006/main">
              <a:ext uri="{FF2B5EF4-FFF2-40B4-BE49-F238E27FC236}">
                <a16:creationId xmlns:a16="http://schemas.microsoft.com/office/drawing/2014/main" id="{AFF142E7-CA10-4104-A102-286154E0EC6A}"/>
              </a:ext>
            </a:extLst>
          </p:cNvPr>
          <p:cNvSpPr>
            <a:spLocks xmlns:a="http://schemas.openxmlformats.org/drawingml/2006/main" noGrp="1"/>
          </p:cNvSpPr>
          <p:nvPr/>
        </p:nvSpPr>
        <p:spPr>
          <a:xfrm xmlns:a="http://schemas.openxmlformats.org/drawingml/2006/main">
            <a:off x="400050" y="5524500"/>
            <a:ext cx="11391900" cy="9525"/>
          </a:xfrm>
          <a:prstGeom xmlns:a="http://schemas.openxmlformats.org/drawingml/2006/main" prst="rect">
            <a:avLst/>
          </a:prstGeom>
          <a:solidFill xmlns:a="http://schemas.openxmlformats.org/drawingml/2006/main">
            <a:srgbClr val="454545"/>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ECC9B3A8-75D8-476B-B192-7CF25F37F6C5}"/>
              </a:ext>
            </a:extLst>
          </p:cNvPr>
          <p:cNvSpPr>
            <a:spLocks xmlns:a="http://schemas.openxmlformats.org/drawingml/2006/main" noGrp="1"/>
          </p:cNvSpPr>
          <p:nvPr/>
        </p:nvSpPr>
        <p:spPr>
          <a:xfrm xmlns:a="http://schemas.openxmlformats.org/drawingml/2006/main">
            <a:off x="400050" y="5753100"/>
            <a:ext cx="1123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782"/>
          </a:bodyPr>
          <a:lstStyle xmlns:a="http://schemas.openxmlformats.org/drawingml/2006/main"/>
          <a:p xmlns:a="http://schemas.openxmlformats.org/drawingml/2006/main">
            <a:pPr>
              <a:defRPr sz="1500" b="1">
                <a:solidFill>
                  <a:srgbClr val="6FD3FF"/>
                </a:solidFill>
                <a:latin typeface="Arial"/>
                <a:ea typeface="Arial"/>
                <a:cs typeface="Arial"/>
              </a:defRPr>
            </a:pPr>
            <a:r>
              <a:rPr sz="1500" b="1">
                <a:solidFill>
                  <a:srgbClr val="6FD3FF"/>
                </a:solidFill>
                <a:latin typeface="Arial"/>
                <a:ea typeface="Arial"/>
                <a:cs typeface="Arial"/>
              </a:rPr>
              <a:t>Temuan utama: kualitas pemeringkatan emiten lebih konsisten daripada performa strategi A2C pada satu periode tertentu.</a:t>
            </a:r>
          </a:p>
        </p:txBody>
      </p:sp>
    </p:spTree>
    <p:extLst>
      <p:ext uri="{BB962C8B-B14F-4D97-AF65-F5344CB8AC3E}">
        <p14:creationId xmlns:p14="http://schemas.microsoft.com/office/powerpoint/2010/main" val="1523916502"/>
      </p:ext>
    </p:extLst>
  </p:cSld>
</p:sld>
</file>

<file path=ppt/slides/slide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62E7BB56-332C-4E2B-8AF8-4863ABB5E636}"/>
              </a:ext>
            </a:extLst>
          </p:cNvPr>
          <p:cNvSpPr>
            <a:spLocks xmlns:a="http://schemas.openxmlformats.org/drawingml/2006/main" noGrp="1"/>
          </p:cNvSpPr>
          <p:nvPr/>
        </p:nvSpPr>
        <p:spPr>
          <a:xfrm xmlns:a="http://schemas.openxmlformats.org/drawingml/2006/main">
            <a:off x="400050" y="209550"/>
            <a:ext cx="3810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defRPr sz="900" b="0">
                <a:solidFill>
                  <a:srgbClr val="B7B7B7"/>
                </a:solidFill>
                <a:latin typeface="Arial"/>
                <a:ea typeface="Arial"/>
                <a:cs typeface="Arial"/>
              </a:defRPr>
            </a:pPr>
            <a:r>
              <a:rPr sz="900" b="0">
                <a:solidFill>
                  <a:srgbClr val="B7B7B7"/>
                </a:solidFill>
                <a:latin typeface="Arial"/>
                <a:ea typeface="Arial"/>
                <a:cs typeface="Arial"/>
              </a:rPr>
              <a:t>DESAIN EKSPERIMEN</a:t>
            </a:r>
          </a:p>
        </p:txBody>
      </p:sp>
      <p:sp>
        <p:nvSpPr>
          <p:cNvPr id="2" name="">
            <a:extLst xmlns:a="http://schemas.openxmlformats.org/drawingml/2006/main">
              <a:ext uri="{FF2B5EF4-FFF2-40B4-BE49-F238E27FC236}">
                <a16:creationId xmlns:a16="http://schemas.microsoft.com/office/drawing/2014/main" id="{480BD2FD-1063-4FFF-ADFC-FA5D27136844}"/>
              </a:ext>
            </a:extLst>
          </p:cNvPr>
          <p:cNvSpPr>
            <a:spLocks xmlns:a="http://schemas.openxmlformats.org/drawingml/2006/main" noGrp="1"/>
          </p:cNvSpPr>
          <p:nvPr/>
        </p:nvSpPr>
        <p:spPr>
          <a:xfrm xmlns:a="http://schemas.openxmlformats.org/drawingml/2006/main">
            <a:off x="400050" y="457200"/>
            <a:ext cx="11239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Ruang lingkup dan metodologi</a:t>
            </a:r>
          </a:p>
        </p:txBody>
      </p:sp>
      <p:sp>
        <p:nvSpPr>
          <p:cNvPr id="3" name="">
            <a:extLst xmlns:a="http://schemas.openxmlformats.org/drawingml/2006/main">
              <a:ext uri="{FF2B5EF4-FFF2-40B4-BE49-F238E27FC236}">
                <a16:creationId xmlns:a16="http://schemas.microsoft.com/office/drawing/2014/main" id="{9C3AD2A2-7687-46A2-BA40-EBA8803693A3}"/>
              </a:ext>
            </a:extLst>
          </p:cNvPr>
          <p:cNvSpPr>
            <a:spLocks xmlns:a="http://schemas.openxmlformats.org/drawingml/2006/main" noGrp="1"/>
          </p:cNvSpPr>
          <p:nvPr/>
        </p:nvSpPr>
        <p:spPr>
          <a:xfrm xmlns:a="http://schemas.openxmlformats.org/drawingml/2006/main">
            <a:off x="400050" y="1066800"/>
            <a:ext cx="11391900" cy="9525"/>
          </a:xfrm>
          <a:prstGeom xmlns:a="http://schemas.openxmlformats.org/drawingml/2006/main" prst="rect">
            <a:avLst/>
          </a:prstGeom>
          <a:solidFill xmlns:a="http://schemas.openxmlformats.org/drawingml/2006/main">
            <a:srgbClr val="45454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B51CD62-9F3B-4E8C-A8B1-B3EBD070A480}"/>
              </a:ext>
            </a:extLst>
          </p:cNvPr>
          <p:cNvSpPr>
            <a:spLocks xmlns:a="http://schemas.openxmlformats.org/drawingml/2006/main" noGrp="1"/>
          </p:cNvSpPr>
          <p:nvPr/>
        </p:nvSpPr>
        <p:spPr>
          <a:xfrm xmlns:a="http://schemas.openxmlformats.org/drawingml/2006/main">
            <a:off x="11372850" y="6496050"/>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B7B7B7"/>
                </a:solidFill>
                <a:latin typeface="Arial"/>
                <a:ea typeface="Arial"/>
                <a:cs typeface="Arial"/>
              </a:defRPr>
            </a:pPr>
            <a:r>
              <a:rPr sz="825" b="0">
                <a:solidFill>
                  <a:srgbClr val="B7B7B7"/>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45918AE3-4C5B-4FF9-8C36-3899B64AF44E}"/>
              </a:ext>
            </a:extLst>
          </p:cNvPr>
          <p:cNvSpPr>
            <a:spLocks xmlns:a="http://schemas.openxmlformats.org/drawingml/2006/main" noGrp="1"/>
          </p:cNvSpPr>
          <p:nvPr/>
        </p:nvSpPr>
        <p:spPr>
          <a:xfrm xmlns:a="http://schemas.openxmlformats.org/drawingml/2006/main">
            <a:off x="400050" y="14954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125" b="1">
                <a:solidFill>
                  <a:srgbClr val="6FD3FF"/>
                </a:solidFill>
                <a:latin typeface="Arial"/>
                <a:ea typeface="Arial"/>
                <a:cs typeface="Arial"/>
              </a:defRPr>
            </a:pPr>
            <a:r>
              <a:rPr sz="1125" b="1">
                <a:solidFill>
                  <a:srgbClr val="6FD3FF"/>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83AFA531-AB1A-454C-87A9-15D8AD042CF0}"/>
              </a:ext>
            </a:extLst>
          </p:cNvPr>
          <p:cNvSpPr>
            <a:spLocks xmlns:a="http://schemas.openxmlformats.org/drawingml/2006/main" noGrp="1"/>
          </p:cNvSpPr>
          <p:nvPr/>
        </p:nvSpPr>
        <p:spPr>
          <a:xfrm xmlns:a="http://schemas.openxmlformats.org/drawingml/2006/main">
            <a:off x="400050" y="19240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000"/>
          </a:bodyPr>
          <a:lstStyle xmlns:a="http://schemas.openxmlformats.org/drawingml/2006/main"/>
          <a:p xmlns:a="http://schemas.openxmlformats.org/drawingml/2006/main">
            <a:pPr>
              <a:defRPr sz="1500" b="1">
                <a:solidFill>
                  <a:srgbClr val="FFFFFF"/>
                </a:solidFill>
                <a:latin typeface="Arial"/>
                <a:ea typeface="Arial"/>
                <a:cs typeface="Arial"/>
              </a:defRPr>
            </a:pPr>
            <a:r>
              <a:rPr sz="1500" b="1">
                <a:solidFill>
                  <a:srgbClr val="FFFFFF"/>
                </a:solidFill>
                <a:latin typeface="Arial"/>
                <a:ea typeface="Arial"/>
                <a:cs typeface="Arial"/>
              </a:rPr>
              <a:t>Universe</a:t>
            </a:r>
          </a:p>
        </p:txBody>
      </p:sp>
      <p:sp>
        <p:nvSpPr>
          <p:cNvPr id="7" name="">
            <a:extLst xmlns:a="http://schemas.openxmlformats.org/drawingml/2006/main">
              <a:ext uri="{FF2B5EF4-FFF2-40B4-BE49-F238E27FC236}">
                <a16:creationId xmlns:a16="http://schemas.microsoft.com/office/drawing/2014/main" id="{A44BC718-A6E8-4ED8-9D56-5CE8AEA41CA0}"/>
              </a:ext>
            </a:extLst>
          </p:cNvPr>
          <p:cNvSpPr>
            <a:spLocks xmlns:a="http://schemas.openxmlformats.org/drawingml/2006/main" noGrp="1"/>
          </p:cNvSpPr>
          <p:nvPr/>
        </p:nvSpPr>
        <p:spPr>
          <a:xfrm xmlns:a="http://schemas.openxmlformats.org/drawingml/2006/main">
            <a:off x="400050" y="2324100"/>
            <a:ext cx="2381250" cy="9525"/>
          </a:xfrm>
          <a:prstGeom xmlns:a="http://schemas.openxmlformats.org/drawingml/2006/main" prst="rect">
            <a:avLst/>
          </a:prstGeom>
          <a:solidFill xmlns:a="http://schemas.openxmlformats.org/drawingml/2006/main">
            <a:srgbClr val="45454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4C3F910-65BF-4FDC-A13F-542B4E0C2ACF}"/>
              </a:ext>
            </a:extLst>
          </p:cNvPr>
          <p:cNvSpPr>
            <a:spLocks xmlns:a="http://schemas.openxmlformats.org/drawingml/2006/main" noGrp="1"/>
          </p:cNvSpPr>
          <p:nvPr/>
        </p:nvSpPr>
        <p:spPr>
          <a:xfrm xmlns:a="http://schemas.openxmlformats.org/drawingml/2006/main">
            <a:off x="400050" y="2552700"/>
            <a:ext cx="2381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0">
                <a:solidFill>
                  <a:srgbClr val="B7B7B7"/>
                </a:solidFill>
                <a:latin typeface="Arial"/>
                <a:ea typeface="Arial"/>
                <a:cs typeface="Arial"/>
              </a:defRPr>
            </a:pPr>
            <a:r>
              <a:rPr sz="1275" b="0">
                <a:solidFill>
                  <a:srgbClr val="B7B7B7"/>
                </a:solidFill>
                <a:latin typeface="Arial"/>
                <a:ea typeface="Arial"/>
                <a:cs typeface="Arial"/>
              </a:rPr>
              <a:t>ADRO, ANTM, BBCA, BBNI, BBRI, BBTN, BMRI, JPFA, PTBA, TLKM, WIKA</a:t>
            </a:r>
          </a:p>
        </p:txBody>
      </p:sp>
      <p:sp>
        <p:nvSpPr>
          <p:cNvPr id="9" name="">
            <a:extLst xmlns:a="http://schemas.openxmlformats.org/drawingml/2006/main">
              <a:ext uri="{FF2B5EF4-FFF2-40B4-BE49-F238E27FC236}">
                <a16:creationId xmlns:a16="http://schemas.microsoft.com/office/drawing/2014/main" id="{69CB2CE9-9B63-423A-BF1C-8EBA0B61736F}"/>
              </a:ext>
            </a:extLst>
          </p:cNvPr>
          <p:cNvSpPr>
            <a:spLocks xmlns:a="http://schemas.openxmlformats.org/drawingml/2006/main" noGrp="1"/>
          </p:cNvSpPr>
          <p:nvPr/>
        </p:nvSpPr>
        <p:spPr>
          <a:xfrm xmlns:a="http://schemas.openxmlformats.org/drawingml/2006/main">
            <a:off x="3314700" y="14954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125" b="1">
                <a:solidFill>
                  <a:srgbClr val="6FD3FF"/>
                </a:solidFill>
                <a:latin typeface="Arial"/>
                <a:ea typeface="Arial"/>
                <a:cs typeface="Arial"/>
              </a:defRPr>
            </a:pPr>
            <a:r>
              <a:rPr sz="1125" b="1">
                <a:solidFill>
                  <a:srgbClr val="6FD3FF"/>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7F6DE0AE-C39E-4A46-8D05-54452BA5DDAE}"/>
              </a:ext>
            </a:extLst>
          </p:cNvPr>
          <p:cNvSpPr>
            <a:spLocks xmlns:a="http://schemas.openxmlformats.org/drawingml/2006/main" noGrp="1"/>
          </p:cNvSpPr>
          <p:nvPr/>
        </p:nvSpPr>
        <p:spPr>
          <a:xfrm xmlns:a="http://schemas.openxmlformats.org/drawingml/2006/main">
            <a:off x="3314700" y="19240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000"/>
          </a:bodyPr>
          <a:lstStyle xmlns:a="http://schemas.openxmlformats.org/drawingml/2006/main"/>
          <a:p xmlns:a="http://schemas.openxmlformats.org/drawingml/2006/main">
            <a:pPr>
              <a:defRPr sz="1500" b="1">
                <a:solidFill>
                  <a:srgbClr val="FFFFFF"/>
                </a:solidFill>
                <a:latin typeface="Arial"/>
                <a:ea typeface="Arial"/>
                <a:cs typeface="Arial"/>
              </a:defRPr>
            </a:pPr>
            <a:r>
              <a:rPr sz="1500" b="1">
                <a:solidFill>
                  <a:srgbClr val="FFFFFF"/>
                </a:solidFill>
                <a:latin typeface="Arial"/>
                <a:ea typeface="Arial"/>
                <a:cs typeface="Arial"/>
              </a:rPr>
              <a:t>Data dan fitur</a:t>
            </a:r>
          </a:p>
        </p:txBody>
      </p:sp>
      <p:sp>
        <p:nvSpPr>
          <p:cNvPr id="11" name="">
            <a:extLst xmlns:a="http://schemas.openxmlformats.org/drawingml/2006/main">
              <a:ext uri="{FF2B5EF4-FFF2-40B4-BE49-F238E27FC236}">
                <a16:creationId xmlns:a16="http://schemas.microsoft.com/office/drawing/2014/main" id="{E0B5DBEF-B17F-427C-95CF-BDF8E1FD615B}"/>
              </a:ext>
            </a:extLst>
          </p:cNvPr>
          <p:cNvSpPr>
            <a:spLocks xmlns:a="http://schemas.openxmlformats.org/drawingml/2006/main" noGrp="1"/>
          </p:cNvSpPr>
          <p:nvPr/>
        </p:nvSpPr>
        <p:spPr>
          <a:xfrm xmlns:a="http://schemas.openxmlformats.org/drawingml/2006/main">
            <a:off x="3314700" y="2324100"/>
            <a:ext cx="2381250" cy="9525"/>
          </a:xfrm>
          <a:prstGeom xmlns:a="http://schemas.openxmlformats.org/drawingml/2006/main" prst="rect">
            <a:avLst/>
          </a:prstGeom>
          <a:solidFill xmlns:a="http://schemas.openxmlformats.org/drawingml/2006/main">
            <a:srgbClr val="45454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E6AB26B-0667-4C86-AF9D-73816A8FE3A7}"/>
              </a:ext>
            </a:extLst>
          </p:cNvPr>
          <p:cNvSpPr>
            <a:spLocks xmlns:a="http://schemas.openxmlformats.org/drawingml/2006/main" noGrp="1"/>
          </p:cNvSpPr>
          <p:nvPr/>
        </p:nvSpPr>
        <p:spPr>
          <a:xfrm xmlns:a="http://schemas.openxmlformats.org/drawingml/2006/main">
            <a:off x="3314700" y="2552700"/>
            <a:ext cx="2381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0">
                <a:solidFill>
                  <a:srgbClr val="B7B7B7"/>
                </a:solidFill>
                <a:latin typeface="Arial"/>
                <a:ea typeface="Arial"/>
                <a:cs typeface="Arial"/>
              </a:defRPr>
            </a:pPr>
            <a:r>
              <a:rPr sz="1275" b="0">
                <a:solidFill>
                  <a:srgbClr val="B7B7B7"/>
                </a:solidFill>
                <a:latin typeface="Arial"/>
                <a:ea typeface="Arial"/>
                <a:cs typeface="Arial"/>
              </a:rPr>
              <a:t>Yahoo Finance, interval 1D. MACD, RSI 14, RSI 30, dan CCI 30 pada konfigurasi awal.</a:t>
            </a:r>
          </a:p>
        </p:txBody>
      </p:sp>
      <p:sp>
        <p:nvSpPr>
          <p:cNvPr id="13" name="">
            <a:extLst xmlns:a="http://schemas.openxmlformats.org/drawingml/2006/main">
              <a:ext uri="{FF2B5EF4-FFF2-40B4-BE49-F238E27FC236}">
                <a16:creationId xmlns:a16="http://schemas.microsoft.com/office/drawing/2014/main" id="{EF068D76-D55D-4FD2-830E-E5F20CBC3D98}"/>
              </a:ext>
            </a:extLst>
          </p:cNvPr>
          <p:cNvSpPr>
            <a:spLocks xmlns:a="http://schemas.openxmlformats.org/drawingml/2006/main" noGrp="1"/>
          </p:cNvSpPr>
          <p:nvPr/>
        </p:nvSpPr>
        <p:spPr>
          <a:xfrm xmlns:a="http://schemas.openxmlformats.org/drawingml/2006/main">
            <a:off x="6229350" y="14954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125" b="1">
                <a:solidFill>
                  <a:srgbClr val="6FD3FF"/>
                </a:solidFill>
                <a:latin typeface="Arial"/>
                <a:ea typeface="Arial"/>
                <a:cs typeface="Arial"/>
              </a:defRPr>
            </a:pPr>
            <a:r>
              <a:rPr sz="1125" b="1">
                <a:solidFill>
                  <a:srgbClr val="6FD3FF"/>
                </a:solidFill>
                <a:latin typeface="Arial"/>
                <a:ea typeface="Arial"/>
                <a:cs typeface="Arial"/>
              </a:rPr>
              <a:t>03</a:t>
            </a:r>
          </a:p>
        </p:txBody>
      </p:sp>
      <p:sp>
        <p:nvSpPr>
          <p:cNvPr id="14" name="">
            <a:extLst xmlns:a="http://schemas.openxmlformats.org/drawingml/2006/main">
              <a:ext uri="{FF2B5EF4-FFF2-40B4-BE49-F238E27FC236}">
                <a16:creationId xmlns:a16="http://schemas.microsoft.com/office/drawing/2014/main" id="{42895E07-DC27-4BC8-A99C-376BBA21DD08}"/>
              </a:ext>
            </a:extLst>
          </p:cNvPr>
          <p:cNvSpPr>
            <a:spLocks xmlns:a="http://schemas.openxmlformats.org/drawingml/2006/main" noGrp="1"/>
          </p:cNvSpPr>
          <p:nvPr/>
        </p:nvSpPr>
        <p:spPr>
          <a:xfrm xmlns:a="http://schemas.openxmlformats.org/drawingml/2006/main">
            <a:off x="6229350" y="19240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000"/>
          </a:bodyPr>
          <a:lstStyle xmlns:a="http://schemas.openxmlformats.org/drawingml/2006/main"/>
          <a:p xmlns:a="http://schemas.openxmlformats.org/drawingml/2006/main">
            <a:pPr>
              <a:defRPr sz="1500" b="1">
                <a:solidFill>
                  <a:srgbClr val="FFFFFF"/>
                </a:solidFill>
                <a:latin typeface="Arial"/>
                <a:ea typeface="Arial"/>
                <a:cs typeface="Arial"/>
              </a:defRPr>
            </a:pPr>
            <a:r>
              <a:rPr sz="1500" b="1">
                <a:solidFill>
                  <a:srgbClr val="FFFFFF"/>
                </a:solidFill>
                <a:latin typeface="Arial"/>
                <a:ea typeface="Arial"/>
                <a:cs typeface="Arial"/>
              </a:rPr>
              <a:t>Model</a:t>
            </a:r>
          </a:p>
        </p:txBody>
      </p:sp>
      <p:sp>
        <p:nvSpPr>
          <p:cNvPr id="15" name="">
            <a:extLst xmlns:a="http://schemas.openxmlformats.org/drawingml/2006/main">
              <a:ext uri="{FF2B5EF4-FFF2-40B4-BE49-F238E27FC236}">
                <a16:creationId xmlns:a16="http://schemas.microsoft.com/office/drawing/2014/main" id="{C2EE606B-B2F2-4B05-BFEE-2E6BBC8BDEDA}"/>
              </a:ext>
            </a:extLst>
          </p:cNvPr>
          <p:cNvSpPr>
            <a:spLocks xmlns:a="http://schemas.openxmlformats.org/drawingml/2006/main" noGrp="1"/>
          </p:cNvSpPr>
          <p:nvPr/>
        </p:nvSpPr>
        <p:spPr>
          <a:xfrm xmlns:a="http://schemas.openxmlformats.org/drawingml/2006/main">
            <a:off x="6229350" y="2324100"/>
            <a:ext cx="2381250" cy="9525"/>
          </a:xfrm>
          <a:prstGeom xmlns:a="http://schemas.openxmlformats.org/drawingml/2006/main" prst="rect">
            <a:avLst/>
          </a:prstGeom>
          <a:solidFill xmlns:a="http://schemas.openxmlformats.org/drawingml/2006/main">
            <a:srgbClr val="454545"/>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BA288925-F8D8-4CF6-936F-D5523BFB016D}"/>
              </a:ext>
            </a:extLst>
          </p:cNvPr>
          <p:cNvSpPr>
            <a:spLocks xmlns:a="http://schemas.openxmlformats.org/drawingml/2006/main" noGrp="1"/>
          </p:cNvSpPr>
          <p:nvPr/>
        </p:nvSpPr>
        <p:spPr>
          <a:xfrm xmlns:a="http://schemas.openxmlformats.org/drawingml/2006/main">
            <a:off x="6229350" y="2552700"/>
            <a:ext cx="2381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0">
                <a:solidFill>
                  <a:srgbClr val="B7B7B7"/>
                </a:solidFill>
                <a:latin typeface="Arial"/>
                <a:ea typeface="Arial"/>
                <a:cs typeface="Arial"/>
              </a:defRPr>
            </a:pPr>
            <a:r>
              <a:rPr sz="1275" b="0">
                <a:solidFill>
                  <a:srgbClr val="B7B7B7"/>
                </a:solidFill>
                <a:latin typeface="Arial"/>
                <a:ea typeface="Arial"/>
                <a:cs typeface="Arial"/>
              </a:rPr>
              <a:t>Stable Baselines3, algoritma A2C. Contoh konfigurasi mencatat learning rate 0,0003.</a:t>
            </a:r>
          </a:p>
        </p:txBody>
      </p:sp>
      <p:sp>
        <p:nvSpPr>
          <p:cNvPr id="17" name="">
            <a:extLst xmlns:a="http://schemas.openxmlformats.org/drawingml/2006/main">
              <a:ext uri="{FF2B5EF4-FFF2-40B4-BE49-F238E27FC236}">
                <a16:creationId xmlns:a16="http://schemas.microsoft.com/office/drawing/2014/main" id="{DC7BDF40-7472-4A13-AC50-C0336DC0ACCE}"/>
              </a:ext>
            </a:extLst>
          </p:cNvPr>
          <p:cNvSpPr>
            <a:spLocks xmlns:a="http://schemas.openxmlformats.org/drawingml/2006/main" noGrp="1"/>
          </p:cNvSpPr>
          <p:nvPr/>
        </p:nvSpPr>
        <p:spPr>
          <a:xfrm xmlns:a="http://schemas.openxmlformats.org/drawingml/2006/main">
            <a:off x="9144000" y="14954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125" b="1">
                <a:solidFill>
                  <a:srgbClr val="6FD3FF"/>
                </a:solidFill>
                <a:latin typeface="Arial"/>
                <a:ea typeface="Arial"/>
                <a:cs typeface="Arial"/>
              </a:defRPr>
            </a:pPr>
            <a:r>
              <a:rPr sz="1125" b="1">
                <a:solidFill>
                  <a:srgbClr val="6FD3FF"/>
                </a:solidFill>
                <a:latin typeface="Arial"/>
                <a:ea typeface="Arial"/>
                <a:cs typeface="Arial"/>
              </a:rPr>
              <a:t>04</a:t>
            </a:r>
          </a:p>
        </p:txBody>
      </p:sp>
      <p:sp>
        <p:nvSpPr>
          <p:cNvPr id="18" name="">
            <a:extLst xmlns:a="http://schemas.openxmlformats.org/drawingml/2006/main">
              <a:ext uri="{FF2B5EF4-FFF2-40B4-BE49-F238E27FC236}">
                <a16:creationId xmlns:a16="http://schemas.microsoft.com/office/drawing/2014/main" id="{E4FA2B75-F913-4499-8040-970B6B910EE7}"/>
              </a:ext>
            </a:extLst>
          </p:cNvPr>
          <p:cNvSpPr>
            <a:spLocks xmlns:a="http://schemas.openxmlformats.org/drawingml/2006/main" noGrp="1"/>
          </p:cNvSpPr>
          <p:nvPr/>
        </p:nvSpPr>
        <p:spPr>
          <a:xfrm xmlns:a="http://schemas.openxmlformats.org/drawingml/2006/main">
            <a:off x="9144000" y="19240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000"/>
          </a:bodyPr>
          <a:lstStyle xmlns:a="http://schemas.openxmlformats.org/drawingml/2006/main"/>
          <a:p xmlns:a="http://schemas.openxmlformats.org/drawingml/2006/main">
            <a:pPr>
              <a:defRPr sz="1500" b="1">
                <a:solidFill>
                  <a:srgbClr val="FFFFFF"/>
                </a:solidFill>
                <a:latin typeface="Arial"/>
                <a:ea typeface="Arial"/>
                <a:cs typeface="Arial"/>
              </a:defRPr>
            </a:pPr>
            <a:r>
              <a:rPr sz="1500" b="1">
                <a:solidFill>
                  <a:srgbClr val="FFFFFF"/>
                </a:solidFill>
                <a:latin typeface="Arial"/>
                <a:ea typeface="Arial"/>
                <a:cs typeface="Arial"/>
              </a:rPr>
              <a:t>Evaluasi</a:t>
            </a:r>
          </a:p>
        </p:txBody>
      </p:sp>
      <p:sp>
        <p:nvSpPr>
          <p:cNvPr id="19" name="">
            <a:extLst xmlns:a="http://schemas.openxmlformats.org/drawingml/2006/main">
              <a:ext uri="{FF2B5EF4-FFF2-40B4-BE49-F238E27FC236}">
                <a16:creationId xmlns:a16="http://schemas.microsoft.com/office/drawing/2014/main" id="{301AF163-534F-48D9-9D57-0A55C12F3571}"/>
              </a:ext>
            </a:extLst>
          </p:cNvPr>
          <p:cNvSpPr>
            <a:spLocks xmlns:a="http://schemas.openxmlformats.org/drawingml/2006/main" noGrp="1"/>
          </p:cNvSpPr>
          <p:nvPr/>
        </p:nvSpPr>
        <p:spPr>
          <a:xfrm xmlns:a="http://schemas.openxmlformats.org/drawingml/2006/main">
            <a:off x="9144000" y="2324100"/>
            <a:ext cx="2381250" cy="9525"/>
          </a:xfrm>
          <a:prstGeom xmlns:a="http://schemas.openxmlformats.org/drawingml/2006/main" prst="rect">
            <a:avLst/>
          </a:prstGeom>
          <a:solidFill xmlns:a="http://schemas.openxmlformats.org/drawingml/2006/main">
            <a:srgbClr val="454545"/>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8B90D3E6-F395-48B5-A91C-9366AD0465AB}"/>
              </a:ext>
            </a:extLst>
          </p:cNvPr>
          <p:cNvSpPr>
            <a:spLocks xmlns:a="http://schemas.openxmlformats.org/drawingml/2006/main" noGrp="1"/>
          </p:cNvSpPr>
          <p:nvPr/>
        </p:nvSpPr>
        <p:spPr>
          <a:xfrm xmlns:a="http://schemas.openxmlformats.org/drawingml/2006/main">
            <a:off x="9144000" y="2552700"/>
            <a:ext cx="2381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0">
                <a:solidFill>
                  <a:srgbClr val="B7B7B7"/>
                </a:solidFill>
                <a:latin typeface="Arial"/>
                <a:ea typeface="Arial"/>
                <a:cs typeface="Arial"/>
              </a:defRPr>
            </a:pPr>
            <a:r>
              <a:rPr sz="1275" b="0">
                <a:solidFill>
                  <a:srgbClr val="B7B7B7"/>
                </a:solidFill>
                <a:latin typeface="Arial"/>
                <a:ea typeface="Arial"/>
                <a:cs typeface="Arial"/>
              </a:rPr>
              <a:t>Return, volatilitas, Sharpe, max drawdown, benchmark equal weight, dan pemeriksaan kelayakan.</a:t>
            </a:r>
          </a:p>
        </p:txBody>
      </p:sp>
      <p:sp>
        <p:nvSpPr>
          <p:cNvPr id="21" name="">
            <a:extLst xmlns:a="http://schemas.openxmlformats.org/drawingml/2006/main">
              <a:ext uri="{FF2B5EF4-FFF2-40B4-BE49-F238E27FC236}">
                <a16:creationId xmlns:a16="http://schemas.microsoft.com/office/drawing/2014/main" id="{4AFD5060-335B-4968-B5C0-5751494B5134}"/>
              </a:ext>
            </a:extLst>
          </p:cNvPr>
          <p:cNvSpPr>
            <a:spLocks xmlns:a="http://schemas.openxmlformats.org/drawingml/2006/main" noGrp="1"/>
          </p:cNvSpPr>
          <p:nvPr/>
        </p:nvSpPr>
        <p:spPr>
          <a:xfrm xmlns:a="http://schemas.openxmlformats.org/drawingml/2006/main">
            <a:off x="400050" y="4895850"/>
            <a:ext cx="209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208"/>
          </a:bodyPr>
          <a:lstStyle xmlns:a="http://schemas.openxmlformats.org/drawingml/2006/main"/>
          <a:p xmlns:a="http://schemas.openxmlformats.org/drawingml/2006/main">
            <a:pPr>
              <a:defRPr sz="1200" b="1">
                <a:solidFill>
                  <a:srgbClr val="FFFFFF"/>
                </a:solidFill>
                <a:latin typeface="Arial"/>
                <a:ea typeface="Arial"/>
                <a:cs typeface="Arial"/>
              </a:defRPr>
            </a:pPr>
            <a:r>
              <a:rPr sz="1200" b="1">
                <a:solidFill>
                  <a:srgbClr val="FFFFFF"/>
                </a:solidFill>
                <a:latin typeface="Arial"/>
                <a:ea typeface="Arial"/>
                <a:cs typeface="Arial"/>
              </a:rPr>
              <a:t>Catatan periode</a:t>
            </a:r>
          </a:p>
        </p:txBody>
      </p:sp>
      <p:sp>
        <p:nvSpPr>
          <p:cNvPr id="22" name="">
            <a:extLst xmlns:a="http://schemas.openxmlformats.org/drawingml/2006/main">
              <a:ext uri="{FF2B5EF4-FFF2-40B4-BE49-F238E27FC236}">
                <a16:creationId xmlns:a16="http://schemas.microsoft.com/office/drawing/2014/main" id="{97B7C109-E157-4005-BBE4-9C9DCEF3969B}"/>
              </a:ext>
            </a:extLst>
          </p:cNvPr>
          <p:cNvSpPr>
            <a:spLocks xmlns:a="http://schemas.openxmlformats.org/drawingml/2006/main" noGrp="1"/>
          </p:cNvSpPr>
          <p:nvPr/>
        </p:nvSpPr>
        <p:spPr>
          <a:xfrm xmlns:a="http://schemas.openxmlformats.org/drawingml/2006/main">
            <a:off x="400050" y="5238750"/>
            <a:ext cx="11049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b="0">
                <a:solidFill>
                  <a:srgbClr val="FFFFFF"/>
                </a:solidFill>
                <a:latin typeface="Arial"/>
                <a:ea typeface="Arial"/>
                <a:cs typeface="Arial"/>
              </a:defRPr>
            </a:pPr>
            <a:r>
              <a:rPr sz="1575" b="0">
                <a:solidFill>
                  <a:srgbClr val="FFFFFF"/>
                </a:solidFill>
                <a:latin typeface="Arial"/>
                <a:ea typeface="Arial"/>
                <a:cs typeface="Arial"/>
              </a:rPr>
              <a:t>Tangkapan layar memuat beberapa konfigurasi train dan test yang berbeda. Karena itu, hasil backtest harus dibaca sebagai eksperimen terpisah, bukan satu seri performa yang sama.</a:t>
            </a:r>
          </a:p>
        </p:txBody>
      </p:sp>
    </p:spTree>
    <p:extLst>
      <p:ext uri="{BB962C8B-B14F-4D97-AF65-F5344CB8AC3E}">
        <p14:creationId xmlns:p14="http://schemas.microsoft.com/office/powerpoint/2010/main" val="1601929646"/>
      </p:ext>
    </p:extLst>
  </p:cSld>
</p:sld>
</file>

<file path=ppt/slides/slide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A05A25FA-90EE-45DE-B3E3-0E734608E1DF}"/>
              </a:ext>
            </a:extLst>
          </p:cNvPr>
          <p:cNvSpPr>
            <a:spLocks xmlns:a="http://schemas.openxmlformats.org/drawingml/2006/main" noGrp="1"/>
          </p:cNvSpPr>
          <p:nvPr/>
        </p:nvSpPr>
        <p:spPr>
          <a:xfrm xmlns:a="http://schemas.openxmlformats.org/drawingml/2006/main">
            <a:off x="400050" y="209550"/>
            <a:ext cx="3810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defRPr sz="900" b="0">
                <a:solidFill>
                  <a:srgbClr val="B7B7B7"/>
                </a:solidFill>
                <a:latin typeface="Arial"/>
                <a:ea typeface="Arial"/>
                <a:cs typeface="Arial"/>
              </a:defRPr>
            </a:pPr>
            <a:r>
              <a:rPr sz="900" b="0">
                <a:solidFill>
                  <a:srgbClr val="B7B7B7"/>
                </a:solidFill>
                <a:latin typeface="Arial"/>
                <a:ea typeface="Arial"/>
                <a:cs typeface="Arial"/>
              </a:rPr>
              <a:t>SCREENING PASAR</a:t>
            </a:r>
          </a:p>
        </p:txBody>
      </p:sp>
      <p:sp>
        <p:nvSpPr>
          <p:cNvPr id="2" name="">
            <a:extLst xmlns:a="http://schemas.openxmlformats.org/drawingml/2006/main">
              <a:ext uri="{FF2B5EF4-FFF2-40B4-BE49-F238E27FC236}">
                <a16:creationId xmlns:a16="http://schemas.microsoft.com/office/drawing/2014/main" id="{85DC2543-256C-4DEF-BDD7-A8C9E8219271}"/>
              </a:ext>
            </a:extLst>
          </p:cNvPr>
          <p:cNvSpPr>
            <a:spLocks xmlns:a="http://schemas.openxmlformats.org/drawingml/2006/main" noGrp="1"/>
          </p:cNvSpPr>
          <p:nvPr/>
        </p:nvSpPr>
        <p:spPr>
          <a:xfrm xmlns:a="http://schemas.openxmlformats.org/drawingml/2006/main">
            <a:off x="400050" y="457200"/>
            <a:ext cx="11239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Breadth pasar menunjukkan kondisi campuran</a:t>
            </a:r>
          </a:p>
        </p:txBody>
      </p:sp>
      <p:sp>
        <p:nvSpPr>
          <p:cNvPr id="3" name="">
            <a:extLst xmlns:a="http://schemas.openxmlformats.org/drawingml/2006/main">
              <a:ext uri="{FF2B5EF4-FFF2-40B4-BE49-F238E27FC236}">
                <a16:creationId xmlns:a16="http://schemas.microsoft.com/office/drawing/2014/main" id="{9BAE12B0-E5F0-4405-8EDC-CAF42AA21A8D}"/>
              </a:ext>
            </a:extLst>
          </p:cNvPr>
          <p:cNvSpPr>
            <a:spLocks xmlns:a="http://schemas.openxmlformats.org/drawingml/2006/main" noGrp="1"/>
          </p:cNvSpPr>
          <p:nvPr/>
        </p:nvSpPr>
        <p:spPr>
          <a:xfrm xmlns:a="http://schemas.openxmlformats.org/drawingml/2006/main">
            <a:off x="400050" y="1066800"/>
            <a:ext cx="11391900" cy="9525"/>
          </a:xfrm>
          <a:prstGeom xmlns:a="http://schemas.openxmlformats.org/drawingml/2006/main" prst="rect">
            <a:avLst/>
          </a:prstGeom>
          <a:solidFill xmlns:a="http://schemas.openxmlformats.org/drawingml/2006/main">
            <a:srgbClr val="45454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2731A03-2FA8-43D8-B633-552D151DDB5F}"/>
              </a:ext>
            </a:extLst>
          </p:cNvPr>
          <p:cNvSpPr>
            <a:spLocks xmlns:a="http://schemas.openxmlformats.org/drawingml/2006/main" noGrp="1"/>
          </p:cNvSpPr>
          <p:nvPr/>
        </p:nvSpPr>
        <p:spPr>
          <a:xfrm xmlns:a="http://schemas.openxmlformats.org/drawingml/2006/main">
            <a:off x="11372850" y="6496050"/>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B7B7B7"/>
                </a:solidFill>
                <a:latin typeface="Arial"/>
                <a:ea typeface="Arial"/>
                <a:cs typeface="Arial"/>
              </a:defRPr>
            </a:pPr>
            <a:r>
              <a:rPr sz="825" b="0">
                <a:solidFill>
                  <a:srgbClr val="B7B7B7"/>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DED61311-4E12-4E6C-AD90-3004400D5C01}"/>
              </a:ext>
            </a:extLst>
          </p:cNvPr>
          <p:cNvSpPr>
            <a:spLocks xmlns:a="http://schemas.openxmlformats.org/drawingml/2006/main" noGrp="1"/>
          </p:cNvSpPr>
          <p:nvPr/>
        </p:nvSpPr>
        <p:spPr>
          <a:xfrm xmlns:a="http://schemas.openxmlformats.org/drawingml/2006/main">
            <a:off x="400050" y="1304925"/>
            <a:ext cx="2571750" cy="1447800"/>
          </a:xfrm>
          <a:prstGeom xmlns:a="http://schemas.openxmlformats.org/drawingml/2006/main" prst="roundRect">
            <a:avLst>
              <a:gd name="adj" fmla="val 5263"/>
            </a:avLst>
          </a:prstGeom>
          <a:solidFill xmlns:a="http://schemas.openxmlformats.org/drawingml/2006/main">
            <a:srgbClr val="29292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8765698-9AAC-4A1B-9EFE-C2144419D936}"/>
              </a:ext>
            </a:extLst>
          </p:cNvPr>
          <p:cNvSpPr>
            <a:spLocks xmlns:a="http://schemas.openxmlformats.org/drawingml/2006/main" noGrp="1"/>
          </p:cNvSpPr>
          <p:nvPr/>
        </p:nvSpPr>
        <p:spPr>
          <a:xfrm xmlns:a="http://schemas.openxmlformats.org/drawingml/2006/main">
            <a:off x="571500" y="1457325"/>
            <a:ext cx="2228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defRPr sz="1050" b="0">
                <a:solidFill>
                  <a:srgbClr val="B7B7B7"/>
                </a:solidFill>
                <a:latin typeface="Arial"/>
                <a:ea typeface="Arial"/>
                <a:cs typeface="Arial"/>
              </a:defRPr>
            </a:pPr>
            <a:r>
              <a:rPr sz="1050" b="0">
                <a:solidFill>
                  <a:srgbClr val="B7B7B7"/>
                </a:solidFill>
                <a:latin typeface="Arial"/>
                <a:ea typeface="Arial"/>
                <a:cs typeface="Arial"/>
              </a:rPr>
              <a:t>Advancers</a:t>
            </a:r>
          </a:p>
        </p:txBody>
      </p:sp>
      <p:sp>
        <p:nvSpPr>
          <p:cNvPr id="7" name="">
            <a:extLst xmlns:a="http://schemas.openxmlformats.org/drawingml/2006/main">
              <a:ext uri="{FF2B5EF4-FFF2-40B4-BE49-F238E27FC236}">
                <a16:creationId xmlns:a16="http://schemas.microsoft.com/office/drawing/2014/main" id="{F2D82679-A3FF-464A-8176-2015A6068E23}"/>
              </a:ext>
            </a:extLst>
          </p:cNvPr>
          <p:cNvSpPr>
            <a:spLocks xmlns:a="http://schemas.openxmlformats.org/drawingml/2006/main" noGrp="1"/>
          </p:cNvSpPr>
          <p:nvPr/>
        </p:nvSpPr>
        <p:spPr>
          <a:xfrm xmlns:a="http://schemas.openxmlformats.org/drawingml/2006/main">
            <a:off x="571500" y="1752600"/>
            <a:ext cx="2228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550" b="0">
                <a:solidFill>
                  <a:srgbClr val="F3C969"/>
                </a:solidFill>
                <a:latin typeface="Arial"/>
                <a:ea typeface="Arial"/>
                <a:cs typeface="Arial"/>
              </a:defRPr>
            </a:pPr>
            <a:r>
              <a:rPr sz="2550" b="0">
                <a:solidFill>
                  <a:srgbClr val="F3C969"/>
                </a:solidFill>
                <a:latin typeface="Arial"/>
                <a:ea typeface="Arial"/>
                <a:cs typeface="Arial"/>
              </a:rPr>
              <a:t>45,5%</a:t>
            </a:r>
          </a:p>
        </p:txBody>
      </p:sp>
      <p:sp>
        <p:nvSpPr>
          <p:cNvPr id="8" name="">
            <a:extLst xmlns:a="http://schemas.openxmlformats.org/drawingml/2006/main">
              <a:ext uri="{FF2B5EF4-FFF2-40B4-BE49-F238E27FC236}">
                <a16:creationId xmlns:a16="http://schemas.microsoft.com/office/drawing/2014/main" id="{DC553761-62ED-4876-9858-71ACEC439DC1}"/>
              </a:ext>
            </a:extLst>
          </p:cNvPr>
          <p:cNvSpPr>
            <a:spLocks xmlns:a="http://schemas.openxmlformats.org/drawingml/2006/main" noGrp="1"/>
          </p:cNvSpPr>
          <p:nvPr/>
        </p:nvSpPr>
        <p:spPr>
          <a:xfrm xmlns:a="http://schemas.openxmlformats.org/drawingml/2006/main">
            <a:off x="3162300" y="1304925"/>
            <a:ext cx="2571750" cy="1447800"/>
          </a:xfrm>
          <a:prstGeom xmlns:a="http://schemas.openxmlformats.org/drawingml/2006/main" prst="roundRect">
            <a:avLst>
              <a:gd name="adj" fmla="val 5263"/>
            </a:avLst>
          </a:prstGeom>
          <a:solidFill xmlns:a="http://schemas.openxmlformats.org/drawingml/2006/main">
            <a:srgbClr val="29292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5BCBBD1-B792-49BB-B69E-A10E65D54A48}"/>
              </a:ext>
            </a:extLst>
          </p:cNvPr>
          <p:cNvSpPr>
            <a:spLocks xmlns:a="http://schemas.openxmlformats.org/drawingml/2006/main" noGrp="1"/>
          </p:cNvSpPr>
          <p:nvPr/>
        </p:nvSpPr>
        <p:spPr>
          <a:xfrm xmlns:a="http://schemas.openxmlformats.org/drawingml/2006/main">
            <a:off x="3333750" y="1457325"/>
            <a:ext cx="2228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defRPr sz="1050" b="0">
                <a:solidFill>
                  <a:srgbClr val="B7B7B7"/>
                </a:solidFill>
                <a:latin typeface="Arial"/>
                <a:ea typeface="Arial"/>
                <a:cs typeface="Arial"/>
              </a:defRPr>
            </a:pPr>
            <a:r>
              <a:rPr sz="1050" b="0">
                <a:solidFill>
                  <a:srgbClr val="B7B7B7"/>
                </a:solidFill>
                <a:latin typeface="Arial"/>
                <a:ea typeface="Arial"/>
                <a:cs typeface="Arial"/>
              </a:rPr>
              <a:t>Di atas SMA20</a:t>
            </a:r>
          </a:p>
        </p:txBody>
      </p:sp>
      <p:sp>
        <p:nvSpPr>
          <p:cNvPr id="10" name="">
            <a:extLst xmlns:a="http://schemas.openxmlformats.org/drawingml/2006/main">
              <a:ext uri="{FF2B5EF4-FFF2-40B4-BE49-F238E27FC236}">
                <a16:creationId xmlns:a16="http://schemas.microsoft.com/office/drawing/2014/main" id="{05059AFE-6CDF-456F-BB1D-2C18E1F5E816}"/>
              </a:ext>
            </a:extLst>
          </p:cNvPr>
          <p:cNvSpPr>
            <a:spLocks xmlns:a="http://schemas.openxmlformats.org/drawingml/2006/main" noGrp="1"/>
          </p:cNvSpPr>
          <p:nvPr/>
        </p:nvSpPr>
        <p:spPr>
          <a:xfrm xmlns:a="http://schemas.openxmlformats.org/drawingml/2006/main">
            <a:off x="3333750" y="1752600"/>
            <a:ext cx="2228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550" b="0">
                <a:solidFill>
                  <a:srgbClr val="6FD3FF"/>
                </a:solidFill>
                <a:latin typeface="Arial"/>
                <a:ea typeface="Arial"/>
                <a:cs typeface="Arial"/>
              </a:defRPr>
            </a:pPr>
            <a:r>
              <a:rPr sz="2550" b="0">
                <a:solidFill>
                  <a:srgbClr val="6FD3FF"/>
                </a:solidFill>
                <a:latin typeface="Arial"/>
                <a:ea typeface="Arial"/>
                <a:cs typeface="Arial"/>
              </a:rPr>
              <a:t>54,5%</a:t>
            </a:r>
          </a:p>
        </p:txBody>
      </p:sp>
      <p:sp>
        <p:nvSpPr>
          <p:cNvPr id="11" name="">
            <a:extLst xmlns:a="http://schemas.openxmlformats.org/drawingml/2006/main">
              <a:ext uri="{FF2B5EF4-FFF2-40B4-BE49-F238E27FC236}">
                <a16:creationId xmlns:a16="http://schemas.microsoft.com/office/drawing/2014/main" id="{87ED175D-913E-4E77-A0B2-259BB64F94EF}"/>
              </a:ext>
            </a:extLst>
          </p:cNvPr>
          <p:cNvSpPr>
            <a:spLocks xmlns:a="http://schemas.openxmlformats.org/drawingml/2006/main" noGrp="1"/>
          </p:cNvSpPr>
          <p:nvPr/>
        </p:nvSpPr>
        <p:spPr>
          <a:xfrm xmlns:a="http://schemas.openxmlformats.org/drawingml/2006/main">
            <a:off x="5924550" y="1304925"/>
            <a:ext cx="2571750" cy="1447800"/>
          </a:xfrm>
          <a:prstGeom xmlns:a="http://schemas.openxmlformats.org/drawingml/2006/main" prst="roundRect">
            <a:avLst>
              <a:gd name="adj" fmla="val 5263"/>
            </a:avLst>
          </a:prstGeom>
          <a:solidFill xmlns:a="http://schemas.openxmlformats.org/drawingml/2006/main">
            <a:srgbClr val="29292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DDA2CB7-E680-43DF-861C-86A81A8C0759}"/>
              </a:ext>
            </a:extLst>
          </p:cNvPr>
          <p:cNvSpPr>
            <a:spLocks xmlns:a="http://schemas.openxmlformats.org/drawingml/2006/main" noGrp="1"/>
          </p:cNvSpPr>
          <p:nvPr/>
        </p:nvSpPr>
        <p:spPr>
          <a:xfrm xmlns:a="http://schemas.openxmlformats.org/drawingml/2006/main">
            <a:off x="6096000" y="1457325"/>
            <a:ext cx="2228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defRPr sz="1050" b="0">
                <a:solidFill>
                  <a:srgbClr val="B7B7B7"/>
                </a:solidFill>
                <a:latin typeface="Arial"/>
                <a:ea typeface="Arial"/>
                <a:cs typeface="Arial"/>
              </a:defRPr>
            </a:pPr>
            <a:r>
              <a:rPr sz="1050" b="0">
                <a:solidFill>
                  <a:srgbClr val="B7B7B7"/>
                </a:solidFill>
                <a:latin typeface="Arial"/>
                <a:ea typeface="Arial"/>
                <a:cs typeface="Arial"/>
              </a:rPr>
              <a:t>Di atas SMA50</a:t>
            </a:r>
          </a:p>
        </p:txBody>
      </p:sp>
      <p:sp>
        <p:nvSpPr>
          <p:cNvPr id="13" name="">
            <a:extLst xmlns:a="http://schemas.openxmlformats.org/drawingml/2006/main">
              <a:ext uri="{FF2B5EF4-FFF2-40B4-BE49-F238E27FC236}">
                <a16:creationId xmlns:a16="http://schemas.microsoft.com/office/drawing/2014/main" id="{483AFB88-2E49-4AB5-B0BB-FD068F5E639D}"/>
              </a:ext>
            </a:extLst>
          </p:cNvPr>
          <p:cNvSpPr>
            <a:spLocks xmlns:a="http://schemas.openxmlformats.org/drawingml/2006/main" noGrp="1"/>
          </p:cNvSpPr>
          <p:nvPr/>
        </p:nvSpPr>
        <p:spPr>
          <a:xfrm xmlns:a="http://schemas.openxmlformats.org/drawingml/2006/main">
            <a:off x="6096000" y="1752600"/>
            <a:ext cx="2228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550" b="0">
                <a:solidFill>
                  <a:srgbClr val="58D68D"/>
                </a:solidFill>
                <a:latin typeface="Arial"/>
                <a:ea typeface="Arial"/>
                <a:cs typeface="Arial"/>
              </a:defRPr>
            </a:pPr>
            <a:r>
              <a:rPr sz="2550" b="0">
                <a:solidFill>
                  <a:srgbClr val="58D68D"/>
                </a:solidFill>
                <a:latin typeface="Arial"/>
                <a:ea typeface="Arial"/>
                <a:cs typeface="Arial"/>
              </a:rPr>
              <a:t>63,6%</a:t>
            </a:r>
          </a:p>
        </p:txBody>
      </p:sp>
      <p:sp>
        <p:nvSpPr>
          <p:cNvPr id="14" name="">
            <a:extLst xmlns:a="http://schemas.openxmlformats.org/drawingml/2006/main">
              <a:ext uri="{FF2B5EF4-FFF2-40B4-BE49-F238E27FC236}">
                <a16:creationId xmlns:a16="http://schemas.microsoft.com/office/drawing/2014/main" id="{2B810143-C822-4B10-90AE-5B237D982BFA}"/>
              </a:ext>
            </a:extLst>
          </p:cNvPr>
          <p:cNvSpPr>
            <a:spLocks xmlns:a="http://schemas.openxmlformats.org/drawingml/2006/main" noGrp="1"/>
          </p:cNvSpPr>
          <p:nvPr/>
        </p:nvSpPr>
        <p:spPr>
          <a:xfrm xmlns:a="http://schemas.openxmlformats.org/drawingml/2006/main">
            <a:off x="8686800" y="1304925"/>
            <a:ext cx="3105150" cy="1447800"/>
          </a:xfrm>
          <a:prstGeom xmlns:a="http://schemas.openxmlformats.org/drawingml/2006/main" prst="roundRect">
            <a:avLst>
              <a:gd name="adj" fmla="val 5263"/>
            </a:avLst>
          </a:prstGeom>
          <a:solidFill xmlns:a="http://schemas.openxmlformats.org/drawingml/2006/main">
            <a:srgbClr val="292929"/>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2D151A4-48FC-4F0D-9D38-9BBD331C19CD}"/>
              </a:ext>
            </a:extLst>
          </p:cNvPr>
          <p:cNvSpPr>
            <a:spLocks xmlns:a="http://schemas.openxmlformats.org/drawingml/2006/main" noGrp="1"/>
          </p:cNvSpPr>
          <p:nvPr/>
        </p:nvSpPr>
        <p:spPr>
          <a:xfrm xmlns:a="http://schemas.openxmlformats.org/drawingml/2006/main">
            <a:off x="8858250" y="1457325"/>
            <a:ext cx="276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defRPr sz="1050" b="0">
                <a:solidFill>
                  <a:srgbClr val="B7B7B7"/>
                </a:solidFill>
                <a:latin typeface="Arial"/>
                <a:ea typeface="Arial"/>
                <a:cs typeface="Arial"/>
              </a:defRPr>
            </a:pPr>
            <a:r>
              <a:rPr sz="1050" b="0">
                <a:solidFill>
                  <a:srgbClr val="B7B7B7"/>
                </a:solidFill>
                <a:latin typeface="Arial"/>
                <a:ea typeface="Arial"/>
                <a:cs typeface="Arial"/>
              </a:rPr>
              <a:t>Saham dianalisis</a:t>
            </a:r>
          </a:p>
        </p:txBody>
      </p:sp>
      <p:sp>
        <p:nvSpPr>
          <p:cNvPr id="16" name="">
            <a:extLst xmlns:a="http://schemas.openxmlformats.org/drawingml/2006/main">
              <a:ext uri="{FF2B5EF4-FFF2-40B4-BE49-F238E27FC236}">
                <a16:creationId xmlns:a16="http://schemas.microsoft.com/office/drawing/2014/main" id="{A02F6FA6-30C2-4F24-8D22-583F349CA7C5}"/>
              </a:ext>
            </a:extLst>
          </p:cNvPr>
          <p:cNvSpPr>
            <a:spLocks xmlns:a="http://schemas.openxmlformats.org/drawingml/2006/main" noGrp="1"/>
          </p:cNvSpPr>
          <p:nvPr/>
        </p:nvSpPr>
        <p:spPr>
          <a:xfrm xmlns:a="http://schemas.openxmlformats.org/drawingml/2006/main">
            <a:off x="8858250" y="1752600"/>
            <a:ext cx="276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550" b="0">
                <a:solidFill>
                  <a:srgbClr val="FFFFFF"/>
                </a:solidFill>
                <a:latin typeface="Arial"/>
                <a:ea typeface="Arial"/>
                <a:cs typeface="Arial"/>
              </a:defRPr>
            </a:pPr>
            <a:r>
              <a:rPr sz="2550" b="0">
                <a:solidFill>
                  <a:srgbClr val="FFFFFF"/>
                </a:solidFill>
                <a:latin typeface="Arial"/>
                <a:ea typeface="Arial"/>
                <a:cs typeface="Arial"/>
              </a:rPr>
              <a:t>11</a:t>
            </a:r>
          </a:p>
        </p:txBody>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edfc20b1b3de4f43"/>
          <a:stretch xmlns:a="http://schemas.openxmlformats.org/drawingml/2006/main"/>
        </p:blipFill>
        <p:spPr>
          <a:xfrm xmlns:a="http://schemas.openxmlformats.org/drawingml/2006/main">
            <a:off x="400050" y="3295650"/>
            <a:ext cx="7429500" cy="2476500"/>
          </a:xfrm>
          <a:prstGeom xmlns:a="http://schemas.openxmlformats.org/drawingml/2006/main" prst="roundRect">
            <a:avLst>
              <a:gd name="adj" fmla="val 3333"/>
            </a:avLst>
          </a:prstGeom>
        </p:spPr>
      </p:pic>
      <p:sp>
        <p:nvSpPr>
          <p:cNvPr id="18" name="">
            <a:extLst xmlns:a="http://schemas.openxmlformats.org/drawingml/2006/main">
              <a:ext uri="{FF2B5EF4-FFF2-40B4-BE49-F238E27FC236}">
                <a16:creationId xmlns:a16="http://schemas.microsoft.com/office/drawing/2014/main" id="{0BA1B063-E6B0-4779-9442-2D22D4E2B20C}"/>
              </a:ext>
            </a:extLst>
          </p:cNvPr>
          <p:cNvSpPr>
            <a:spLocks xmlns:a="http://schemas.openxmlformats.org/drawingml/2006/main" noGrp="1"/>
          </p:cNvSpPr>
          <p:nvPr/>
        </p:nvSpPr>
        <p:spPr>
          <a:xfrm xmlns:a="http://schemas.openxmlformats.org/drawingml/2006/main">
            <a:off x="8191500" y="32385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FFFFFF"/>
                </a:solidFill>
                <a:latin typeface="Arial"/>
                <a:ea typeface="Arial"/>
                <a:cs typeface="Arial"/>
              </a:defRPr>
            </a:pPr>
            <a:r>
              <a:rPr sz="1350" b="1">
                <a:solidFill>
                  <a:srgbClr val="FFFFFF"/>
                </a:solidFill>
                <a:latin typeface="Arial"/>
                <a:ea typeface="Arial"/>
                <a:cs typeface="Arial"/>
              </a:rPr>
              <a:t>Pembacaan</a:t>
            </a:r>
          </a:p>
        </p:txBody>
      </p:sp>
      <p:sp>
        <p:nvSpPr>
          <p:cNvPr id="19" name="">
            <a:extLst xmlns:a="http://schemas.openxmlformats.org/drawingml/2006/main">
              <a:ext uri="{FF2B5EF4-FFF2-40B4-BE49-F238E27FC236}">
                <a16:creationId xmlns:a16="http://schemas.microsoft.com/office/drawing/2014/main" id="{ED8FBD82-30A8-496E-873D-1DC0FC495F84}"/>
              </a:ext>
            </a:extLst>
          </p:cNvPr>
          <p:cNvSpPr>
            <a:spLocks xmlns:a="http://schemas.openxmlformats.org/drawingml/2006/main" noGrp="1"/>
          </p:cNvSpPr>
          <p:nvPr/>
        </p:nvSpPr>
        <p:spPr>
          <a:xfrm xmlns:a="http://schemas.openxmlformats.org/drawingml/2006/main">
            <a:off x="8191500" y="3638550"/>
            <a:ext cx="32004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0">
                <a:solidFill>
                  <a:srgbClr val="B7B7B7"/>
                </a:solidFill>
                <a:latin typeface="Arial"/>
                <a:ea typeface="Arial"/>
                <a:cs typeface="Arial"/>
              </a:defRPr>
            </a:pPr>
            <a:r>
              <a:rPr sz="1500" b="0">
                <a:solidFill>
                  <a:srgbClr val="B7B7B7"/>
                </a:solidFill>
                <a:latin typeface="Arial"/>
                <a:ea typeface="Arial"/>
                <a:cs typeface="Arial"/>
              </a:rPr>
              <a:t>Lebih banyak saham berada di atas SMA50 daripada SMA20. Kombinasi ini konsisten dengan tren menengah yang masih lebih baik daripada momentum jangka pendek.</a:t>
            </a:r>
          </a:p>
        </p:txBody>
      </p:sp>
      <p:sp>
        <p:nvSpPr>
          <p:cNvPr id="20" name="">
            <a:extLst xmlns:a="http://schemas.openxmlformats.org/drawingml/2006/main">
              <a:ext uri="{FF2B5EF4-FFF2-40B4-BE49-F238E27FC236}">
                <a16:creationId xmlns:a16="http://schemas.microsoft.com/office/drawing/2014/main" id="{D74D5EAD-E1D8-4498-BD36-6E6969D7907D}"/>
              </a:ext>
            </a:extLst>
          </p:cNvPr>
          <p:cNvSpPr>
            <a:spLocks xmlns:a="http://schemas.openxmlformats.org/drawingml/2006/main" noGrp="1"/>
          </p:cNvSpPr>
          <p:nvPr/>
        </p:nvSpPr>
        <p:spPr>
          <a:xfrm xmlns:a="http://schemas.openxmlformats.org/drawingml/2006/main">
            <a:off x="8191500" y="5391150"/>
            <a:ext cx="320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1">
                <a:solidFill>
                  <a:srgbClr val="F3C969"/>
                </a:solidFill>
                <a:latin typeface="Arial"/>
                <a:ea typeface="Arial"/>
                <a:cs typeface="Arial"/>
              </a:defRPr>
            </a:pPr>
            <a:r>
              <a:rPr sz="1350" b="1">
                <a:solidFill>
                  <a:srgbClr val="F3C969"/>
                </a:solidFill>
                <a:latin typeface="Arial"/>
                <a:ea typeface="Arial"/>
                <a:cs typeface="Arial"/>
              </a:rPr>
              <a:t>Breadth 45,5% belum menunjukkan partisipasi kenaikan yang luas.</a:t>
            </a:r>
          </a:p>
        </p:txBody>
      </p:sp>
    </p:spTree>
    <p:extLst>
      <p:ext uri="{BB962C8B-B14F-4D97-AF65-F5344CB8AC3E}">
        <p14:creationId xmlns:p14="http://schemas.microsoft.com/office/powerpoint/2010/main" val="1188080006"/>
      </p:ext>
    </p:extLst>
  </p:cSld>
</p:sld>
</file>

<file path=ppt/slides/slide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BA041396-BCB6-4EAA-875F-234E2FE0707F}"/>
              </a:ext>
            </a:extLst>
          </p:cNvPr>
          <p:cNvSpPr>
            <a:spLocks xmlns:a="http://schemas.openxmlformats.org/drawingml/2006/main" noGrp="1"/>
          </p:cNvSpPr>
          <p:nvPr/>
        </p:nvSpPr>
        <p:spPr>
          <a:xfrm xmlns:a="http://schemas.openxmlformats.org/drawingml/2006/main">
            <a:off x="400050" y="209550"/>
            <a:ext cx="3810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defRPr sz="900" b="0">
                <a:solidFill>
                  <a:srgbClr val="B7B7B7"/>
                </a:solidFill>
                <a:latin typeface="Arial"/>
                <a:ea typeface="Arial"/>
                <a:cs typeface="Arial"/>
              </a:defRPr>
            </a:pPr>
            <a:r>
              <a:rPr sz="900" b="0">
                <a:solidFill>
                  <a:srgbClr val="B7B7B7"/>
                </a:solidFill>
                <a:latin typeface="Arial"/>
                <a:ea typeface="Arial"/>
                <a:cs typeface="Arial"/>
              </a:rPr>
              <a:t>RANKING EMITEN</a:t>
            </a:r>
          </a:p>
        </p:txBody>
      </p:sp>
      <p:sp>
        <p:nvSpPr>
          <p:cNvPr id="2" name="">
            <a:extLst xmlns:a="http://schemas.openxmlformats.org/drawingml/2006/main">
              <a:ext uri="{FF2B5EF4-FFF2-40B4-BE49-F238E27FC236}">
                <a16:creationId xmlns:a16="http://schemas.microsoft.com/office/drawing/2014/main" id="{B22199C0-21F2-4D03-8F39-661235319FC6}"/>
              </a:ext>
            </a:extLst>
          </p:cNvPr>
          <p:cNvSpPr>
            <a:spLocks xmlns:a="http://schemas.openxmlformats.org/drawingml/2006/main" noGrp="1"/>
          </p:cNvSpPr>
          <p:nvPr/>
        </p:nvSpPr>
        <p:spPr>
          <a:xfrm xmlns:a="http://schemas.openxmlformats.org/drawingml/2006/main">
            <a:off x="400050" y="457200"/>
            <a:ext cx="11239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Lima emiten memimpin composite score</a:t>
            </a:r>
          </a:p>
        </p:txBody>
      </p:sp>
      <p:sp>
        <p:nvSpPr>
          <p:cNvPr id="3" name="">
            <a:extLst xmlns:a="http://schemas.openxmlformats.org/drawingml/2006/main">
              <a:ext uri="{FF2B5EF4-FFF2-40B4-BE49-F238E27FC236}">
                <a16:creationId xmlns:a16="http://schemas.microsoft.com/office/drawing/2014/main" id="{274A995B-CDBD-4C43-8B65-4F7B3623BD15}"/>
              </a:ext>
            </a:extLst>
          </p:cNvPr>
          <p:cNvSpPr>
            <a:spLocks xmlns:a="http://schemas.openxmlformats.org/drawingml/2006/main" noGrp="1"/>
          </p:cNvSpPr>
          <p:nvPr/>
        </p:nvSpPr>
        <p:spPr>
          <a:xfrm xmlns:a="http://schemas.openxmlformats.org/drawingml/2006/main">
            <a:off x="400050" y="1066800"/>
            <a:ext cx="11391900" cy="9525"/>
          </a:xfrm>
          <a:prstGeom xmlns:a="http://schemas.openxmlformats.org/drawingml/2006/main" prst="rect">
            <a:avLst/>
          </a:prstGeom>
          <a:solidFill xmlns:a="http://schemas.openxmlformats.org/drawingml/2006/main">
            <a:srgbClr val="45454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F0A60E0-17E7-439F-87A2-B511DF586060}"/>
              </a:ext>
            </a:extLst>
          </p:cNvPr>
          <p:cNvSpPr>
            <a:spLocks xmlns:a="http://schemas.openxmlformats.org/drawingml/2006/main" noGrp="1"/>
          </p:cNvSpPr>
          <p:nvPr/>
        </p:nvSpPr>
        <p:spPr>
          <a:xfrm xmlns:a="http://schemas.openxmlformats.org/drawingml/2006/main">
            <a:off x="11372850" y="6496050"/>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B7B7B7"/>
                </a:solidFill>
                <a:latin typeface="Arial"/>
                <a:ea typeface="Arial"/>
                <a:cs typeface="Arial"/>
              </a:defRPr>
            </a:pPr>
            <a:r>
              <a:rPr sz="825" b="0">
                <a:solidFill>
                  <a:srgbClr val="B7B7B7"/>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A0E4C083-0866-4236-BD56-80A01F14C9AA}"/>
              </a:ext>
            </a:extLst>
          </p:cNvPr>
          <p:cNvSpPr>
            <a:spLocks xmlns:a="http://schemas.openxmlformats.org/drawingml/2006/main" noGrp="1"/>
          </p:cNvSpPr>
          <p:nvPr/>
        </p:nvSpPr>
        <p:spPr>
          <a:xfrm xmlns:a="http://schemas.openxmlformats.org/drawingml/2006/main">
            <a:off x="400050" y="1381125"/>
            <a:ext cx="95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defRPr sz="975" b="1">
                <a:solidFill>
                  <a:srgbClr val="B7B7B7"/>
                </a:solidFill>
                <a:latin typeface="Arial"/>
                <a:ea typeface="Arial"/>
                <a:cs typeface="Arial"/>
              </a:defRPr>
            </a:pPr>
            <a:r>
              <a:rPr sz="975" b="1">
                <a:solidFill>
                  <a:srgbClr val="B7B7B7"/>
                </a:solidFill>
                <a:latin typeface="Arial"/>
                <a:ea typeface="Arial"/>
                <a:cs typeface="Arial"/>
              </a:rPr>
              <a:t>Peringkat</a:t>
            </a:r>
          </a:p>
        </p:txBody>
      </p:sp>
      <p:sp>
        <p:nvSpPr>
          <p:cNvPr id="6" name="">
            <a:extLst xmlns:a="http://schemas.openxmlformats.org/drawingml/2006/main">
              <a:ext uri="{FF2B5EF4-FFF2-40B4-BE49-F238E27FC236}">
                <a16:creationId xmlns:a16="http://schemas.microsoft.com/office/drawing/2014/main" id="{FB9E50D1-4459-4A23-94E9-90DAB4084D12}"/>
              </a:ext>
            </a:extLst>
          </p:cNvPr>
          <p:cNvSpPr>
            <a:spLocks xmlns:a="http://schemas.openxmlformats.org/drawingml/2006/main" noGrp="1"/>
          </p:cNvSpPr>
          <p:nvPr/>
        </p:nvSpPr>
        <p:spPr>
          <a:xfrm xmlns:a="http://schemas.openxmlformats.org/drawingml/2006/main">
            <a:off x="1428750" y="1381125"/>
            <a:ext cx="1809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defRPr sz="975" b="1">
                <a:solidFill>
                  <a:srgbClr val="B7B7B7"/>
                </a:solidFill>
                <a:latin typeface="Arial"/>
                <a:ea typeface="Arial"/>
                <a:cs typeface="Arial"/>
              </a:defRPr>
            </a:pPr>
            <a:r>
              <a:rPr sz="975" b="1">
                <a:solidFill>
                  <a:srgbClr val="B7B7B7"/>
                </a:solidFill>
                <a:latin typeface="Arial"/>
                <a:ea typeface="Arial"/>
                <a:cs typeface="Arial"/>
              </a:rPr>
              <a:t>Ticker</a:t>
            </a:r>
          </a:p>
        </p:txBody>
      </p:sp>
      <p:sp>
        <p:nvSpPr>
          <p:cNvPr id="7" name="">
            <a:extLst xmlns:a="http://schemas.openxmlformats.org/drawingml/2006/main">
              <a:ext uri="{FF2B5EF4-FFF2-40B4-BE49-F238E27FC236}">
                <a16:creationId xmlns:a16="http://schemas.microsoft.com/office/drawing/2014/main" id="{3983658A-FA7C-4FF3-A315-BA38B02CFF26}"/>
              </a:ext>
            </a:extLst>
          </p:cNvPr>
          <p:cNvSpPr>
            <a:spLocks xmlns:a="http://schemas.openxmlformats.org/drawingml/2006/main" noGrp="1"/>
          </p:cNvSpPr>
          <p:nvPr/>
        </p:nvSpPr>
        <p:spPr>
          <a:xfrm xmlns:a="http://schemas.openxmlformats.org/drawingml/2006/main">
            <a:off x="4095750" y="1381125"/>
            <a:ext cx="1238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defRPr sz="975" b="1">
                <a:solidFill>
                  <a:srgbClr val="B7B7B7"/>
                </a:solidFill>
                <a:latin typeface="Arial"/>
                <a:ea typeface="Arial"/>
                <a:cs typeface="Arial"/>
              </a:defRPr>
            </a:pPr>
            <a:r>
              <a:rPr sz="975" b="1">
                <a:solidFill>
                  <a:srgbClr val="B7B7B7"/>
                </a:solidFill>
                <a:latin typeface="Arial"/>
                <a:ea typeface="Arial"/>
                <a:cs typeface="Arial"/>
              </a:rPr>
              <a:t>Skor</a:t>
            </a:r>
          </a:p>
        </p:txBody>
      </p:sp>
      <p:sp>
        <p:nvSpPr>
          <p:cNvPr id="8" name="">
            <a:extLst xmlns:a="http://schemas.openxmlformats.org/drawingml/2006/main">
              <a:ext uri="{FF2B5EF4-FFF2-40B4-BE49-F238E27FC236}">
                <a16:creationId xmlns:a16="http://schemas.microsoft.com/office/drawing/2014/main" id="{0D13714A-F661-4E8C-9433-792B9D6313DF}"/>
              </a:ext>
            </a:extLst>
          </p:cNvPr>
          <p:cNvSpPr>
            <a:spLocks xmlns:a="http://schemas.openxmlformats.org/drawingml/2006/main" noGrp="1"/>
          </p:cNvSpPr>
          <p:nvPr/>
        </p:nvSpPr>
        <p:spPr>
          <a:xfrm xmlns:a="http://schemas.openxmlformats.org/drawingml/2006/main">
            <a:off x="6191250" y="1381125"/>
            <a:ext cx="1809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defRPr sz="975" b="1">
                <a:solidFill>
                  <a:srgbClr val="B7B7B7"/>
                </a:solidFill>
                <a:latin typeface="Arial"/>
                <a:ea typeface="Arial"/>
                <a:cs typeface="Arial"/>
              </a:defRPr>
            </a:pPr>
            <a:r>
              <a:rPr sz="975" b="1">
                <a:solidFill>
                  <a:srgbClr val="B7B7B7"/>
                </a:solidFill>
                <a:latin typeface="Arial"/>
                <a:ea typeface="Arial"/>
                <a:cs typeface="Arial"/>
              </a:rPr>
              <a:t>Return 12 bln</a:t>
            </a:r>
          </a:p>
        </p:txBody>
      </p:sp>
      <p:sp>
        <p:nvSpPr>
          <p:cNvPr id="9" name="">
            <a:extLst xmlns:a="http://schemas.openxmlformats.org/drawingml/2006/main">
              <a:ext uri="{FF2B5EF4-FFF2-40B4-BE49-F238E27FC236}">
                <a16:creationId xmlns:a16="http://schemas.microsoft.com/office/drawing/2014/main" id="{9CF82EDF-87E2-4C16-9C13-F565A23E3467}"/>
              </a:ext>
            </a:extLst>
          </p:cNvPr>
          <p:cNvSpPr>
            <a:spLocks xmlns:a="http://schemas.openxmlformats.org/drawingml/2006/main" noGrp="1"/>
          </p:cNvSpPr>
          <p:nvPr/>
        </p:nvSpPr>
        <p:spPr>
          <a:xfrm xmlns:a="http://schemas.openxmlformats.org/drawingml/2006/main">
            <a:off x="8953500" y="1381125"/>
            <a:ext cx="190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defRPr sz="975" b="1">
                <a:solidFill>
                  <a:srgbClr val="B7B7B7"/>
                </a:solidFill>
                <a:latin typeface="Arial"/>
                <a:ea typeface="Arial"/>
                <a:cs typeface="Arial"/>
              </a:defRPr>
            </a:pPr>
            <a:r>
              <a:rPr sz="975" b="1">
                <a:solidFill>
                  <a:srgbClr val="B7B7B7"/>
                </a:solidFill>
                <a:latin typeface="Arial"/>
                <a:ea typeface="Arial"/>
                <a:cs typeface="Arial"/>
              </a:rPr>
              <a:t>Max drawdown</a:t>
            </a:r>
          </a:p>
        </p:txBody>
      </p:sp>
      <p:sp>
        <p:nvSpPr>
          <p:cNvPr id="10" name="">
            <a:extLst xmlns:a="http://schemas.openxmlformats.org/drawingml/2006/main">
              <a:ext uri="{FF2B5EF4-FFF2-40B4-BE49-F238E27FC236}">
                <a16:creationId xmlns:a16="http://schemas.microsoft.com/office/drawing/2014/main" id="{14BA1F41-DCF2-4856-B62E-564BC1DAA30B}"/>
              </a:ext>
            </a:extLst>
          </p:cNvPr>
          <p:cNvSpPr>
            <a:spLocks xmlns:a="http://schemas.openxmlformats.org/drawingml/2006/main" noGrp="1"/>
          </p:cNvSpPr>
          <p:nvPr/>
        </p:nvSpPr>
        <p:spPr>
          <a:xfrm xmlns:a="http://schemas.openxmlformats.org/drawingml/2006/main">
            <a:off x="400050" y="1685925"/>
            <a:ext cx="11391900" cy="9525"/>
          </a:xfrm>
          <a:prstGeom xmlns:a="http://schemas.openxmlformats.org/drawingml/2006/main" prst="rect">
            <a:avLst/>
          </a:prstGeom>
          <a:solidFill xmlns:a="http://schemas.openxmlformats.org/drawingml/2006/main">
            <a:srgbClr val="45454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09BEB24-C31D-44E8-BDB6-E9E92AB82B39}"/>
              </a:ext>
            </a:extLst>
          </p:cNvPr>
          <p:cNvSpPr>
            <a:spLocks xmlns:a="http://schemas.openxmlformats.org/drawingml/2006/main" noGrp="1"/>
          </p:cNvSpPr>
          <p:nvPr/>
        </p:nvSpPr>
        <p:spPr>
          <a:xfrm xmlns:a="http://schemas.openxmlformats.org/drawingml/2006/main">
            <a:off x="400050" y="1857375"/>
            <a:ext cx="76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125" b="1">
                <a:solidFill>
                  <a:srgbClr val="6FD3FF"/>
                </a:solidFill>
                <a:latin typeface="Arial"/>
                <a:ea typeface="Arial"/>
                <a:cs typeface="Arial"/>
              </a:defRPr>
            </a:pPr>
            <a:r>
              <a:rPr sz="1125" b="1">
                <a:solidFill>
                  <a:srgbClr val="6FD3FF"/>
                </a:solidFill>
                <a:latin typeface="Arial"/>
                <a:ea typeface="Arial"/>
                <a:cs typeface="Arial"/>
              </a:rPr>
              <a:t>01</a:t>
            </a:r>
          </a:p>
        </p:txBody>
      </p:sp>
      <p:sp>
        <p:nvSpPr>
          <p:cNvPr id="12" name="">
            <a:extLst xmlns:a="http://schemas.openxmlformats.org/drawingml/2006/main">
              <a:ext uri="{FF2B5EF4-FFF2-40B4-BE49-F238E27FC236}">
                <a16:creationId xmlns:a16="http://schemas.microsoft.com/office/drawing/2014/main" id="{434B9710-AEB4-45D3-9C7F-DCC5BCB63ADF}"/>
              </a:ext>
            </a:extLst>
          </p:cNvPr>
          <p:cNvSpPr>
            <a:spLocks xmlns:a="http://schemas.openxmlformats.org/drawingml/2006/main" noGrp="1"/>
          </p:cNvSpPr>
          <p:nvPr/>
        </p:nvSpPr>
        <p:spPr>
          <a:xfrm xmlns:a="http://schemas.openxmlformats.org/drawingml/2006/main">
            <a:off x="1428750" y="1857375"/>
            <a:ext cx="180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889"/>
          </a:bodyPr>
          <a:lstStyle xmlns:a="http://schemas.openxmlformats.org/drawingml/2006/main"/>
          <a:p xmlns:a="http://schemas.openxmlformats.org/drawingml/2006/main">
            <a:pPr>
              <a:defRPr sz="1575" b="1">
                <a:solidFill>
                  <a:srgbClr val="FFFFFF"/>
                </a:solidFill>
                <a:latin typeface="Arial"/>
                <a:ea typeface="Arial"/>
                <a:cs typeface="Arial"/>
              </a:defRPr>
            </a:pPr>
            <a:r>
              <a:rPr sz="1575" b="1">
                <a:solidFill>
                  <a:srgbClr val="FFFFFF"/>
                </a:solidFill>
                <a:latin typeface="Arial"/>
                <a:ea typeface="Arial"/>
                <a:cs typeface="Arial"/>
              </a:rPr>
              <a:t>ADRO.JK</a:t>
            </a:r>
          </a:p>
        </p:txBody>
      </p:sp>
      <p:sp>
        <p:nvSpPr>
          <p:cNvPr id="13" name="">
            <a:extLst xmlns:a="http://schemas.openxmlformats.org/drawingml/2006/main">
              <a:ext uri="{FF2B5EF4-FFF2-40B4-BE49-F238E27FC236}">
                <a16:creationId xmlns:a16="http://schemas.microsoft.com/office/drawing/2014/main" id="{1915D4E6-CCA5-431D-959F-BC71B6E27E6A}"/>
              </a:ext>
            </a:extLst>
          </p:cNvPr>
          <p:cNvSpPr>
            <a:spLocks xmlns:a="http://schemas.openxmlformats.org/drawingml/2006/main" noGrp="1"/>
          </p:cNvSpPr>
          <p:nvPr/>
        </p:nvSpPr>
        <p:spPr>
          <a:xfrm xmlns:a="http://schemas.openxmlformats.org/drawingml/2006/main">
            <a:off x="4095750" y="1857375"/>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889"/>
          </a:bodyPr>
          <a:lstStyle xmlns:a="http://schemas.openxmlformats.org/drawingml/2006/main"/>
          <a:p xmlns:a="http://schemas.openxmlformats.org/drawingml/2006/main">
            <a:pPr>
              <a:defRPr sz="1575" b="0">
                <a:solidFill>
                  <a:srgbClr val="FFFFFF"/>
                </a:solidFill>
                <a:latin typeface="Arial"/>
                <a:ea typeface="Arial"/>
                <a:cs typeface="Arial"/>
              </a:defRPr>
            </a:pPr>
            <a:r>
              <a:rPr sz="1575" b="0">
                <a:solidFill>
                  <a:srgbClr val="FFFFFF"/>
                </a:solidFill>
                <a:latin typeface="Arial"/>
                <a:ea typeface="Arial"/>
                <a:cs typeface="Arial"/>
              </a:rPr>
              <a:t>78,18</a:t>
            </a:r>
          </a:p>
        </p:txBody>
      </p:sp>
      <p:sp>
        <p:nvSpPr>
          <p:cNvPr id="14" name="">
            <a:extLst xmlns:a="http://schemas.openxmlformats.org/drawingml/2006/main">
              <a:ext uri="{FF2B5EF4-FFF2-40B4-BE49-F238E27FC236}">
                <a16:creationId xmlns:a16="http://schemas.microsoft.com/office/drawing/2014/main" id="{D041C697-C989-4E64-AB55-A53228184AD3}"/>
              </a:ext>
            </a:extLst>
          </p:cNvPr>
          <p:cNvSpPr>
            <a:spLocks xmlns:a="http://schemas.openxmlformats.org/drawingml/2006/main" noGrp="1"/>
          </p:cNvSpPr>
          <p:nvPr/>
        </p:nvSpPr>
        <p:spPr>
          <a:xfrm xmlns:a="http://schemas.openxmlformats.org/drawingml/2006/main">
            <a:off x="6191250" y="1857375"/>
            <a:ext cx="180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889"/>
          </a:bodyPr>
          <a:lstStyle xmlns:a="http://schemas.openxmlformats.org/drawingml/2006/main"/>
          <a:p xmlns:a="http://schemas.openxmlformats.org/drawingml/2006/main">
            <a:pPr>
              <a:defRPr sz="1575" b="0">
                <a:solidFill>
                  <a:srgbClr val="58D68D"/>
                </a:solidFill>
                <a:latin typeface="Arial"/>
                <a:ea typeface="Arial"/>
                <a:cs typeface="Arial"/>
              </a:defRPr>
            </a:pPr>
            <a:r>
              <a:rPr sz="1575" b="0">
                <a:solidFill>
                  <a:srgbClr val="58D68D"/>
                </a:solidFill>
                <a:latin typeface="Arial"/>
                <a:ea typeface="Arial"/>
                <a:cs typeface="Arial"/>
              </a:rPr>
              <a:t>+60,2%</a:t>
            </a:r>
          </a:p>
        </p:txBody>
      </p:sp>
      <p:sp>
        <p:nvSpPr>
          <p:cNvPr id="15" name="">
            <a:extLst xmlns:a="http://schemas.openxmlformats.org/drawingml/2006/main">
              <a:ext uri="{FF2B5EF4-FFF2-40B4-BE49-F238E27FC236}">
                <a16:creationId xmlns:a16="http://schemas.microsoft.com/office/drawing/2014/main" id="{34892610-547D-47B1-9952-38D668FE2BA0}"/>
              </a:ext>
            </a:extLst>
          </p:cNvPr>
          <p:cNvSpPr>
            <a:spLocks xmlns:a="http://schemas.openxmlformats.org/drawingml/2006/main" noGrp="1"/>
          </p:cNvSpPr>
          <p:nvPr/>
        </p:nvSpPr>
        <p:spPr>
          <a:xfrm xmlns:a="http://schemas.openxmlformats.org/drawingml/2006/main">
            <a:off x="8953500" y="1857375"/>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889"/>
          </a:bodyPr>
          <a:lstStyle xmlns:a="http://schemas.openxmlformats.org/drawingml/2006/main"/>
          <a:p xmlns:a="http://schemas.openxmlformats.org/drawingml/2006/main">
            <a:pPr>
              <a:defRPr sz="1575" b="0">
                <a:solidFill>
                  <a:srgbClr val="FF5B5B"/>
                </a:solidFill>
                <a:latin typeface="Arial"/>
                <a:ea typeface="Arial"/>
                <a:cs typeface="Arial"/>
              </a:defRPr>
            </a:pPr>
            <a:r>
              <a:rPr sz="1575" b="0">
                <a:solidFill>
                  <a:srgbClr val="FF5B5B"/>
                </a:solidFill>
                <a:latin typeface="Arial"/>
                <a:ea typeface="Arial"/>
                <a:cs typeface="Arial"/>
              </a:rPr>
              <a:t>−75,2%</a:t>
            </a:r>
          </a:p>
        </p:txBody>
      </p:sp>
      <p:sp>
        <p:nvSpPr>
          <p:cNvPr id="16" name="">
            <a:extLst xmlns:a="http://schemas.openxmlformats.org/drawingml/2006/main">
              <a:ext uri="{FF2B5EF4-FFF2-40B4-BE49-F238E27FC236}">
                <a16:creationId xmlns:a16="http://schemas.microsoft.com/office/drawing/2014/main" id="{ADAF408D-A079-466F-A31A-4235B707DB87}"/>
              </a:ext>
            </a:extLst>
          </p:cNvPr>
          <p:cNvSpPr>
            <a:spLocks xmlns:a="http://schemas.openxmlformats.org/drawingml/2006/main" noGrp="1"/>
          </p:cNvSpPr>
          <p:nvPr/>
        </p:nvSpPr>
        <p:spPr>
          <a:xfrm xmlns:a="http://schemas.openxmlformats.org/drawingml/2006/main">
            <a:off x="400050" y="2324100"/>
            <a:ext cx="11391900" cy="9525"/>
          </a:xfrm>
          <a:prstGeom xmlns:a="http://schemas.openxmlformats.org/drawingml/2006/main" prst="rect">
            <a:avLst/>
          </a:prstGeom>
          <a:solidFill xmlns:a="http://schemas.openxmlformats.org/drawingml/2006/main">
            <a:srgbClr val="45454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D3DC5CD5-E376-4684-9D24-1CA5A709E052}"/>
              </a:ext>
            </a:extLst>
          </p:cNvPr>
          <p:cNvSpPr>
            <a:spLocks xmlns:a="http://schemas.openxmlformats.org/drawingml/2006/main" noGrp="1"/>
          </p:cNvSpPr>
          <p:nvPr/>
        </p:nvSpPr>
        <p:spPr>
          <a:xfrm xmlns:a="http://schemas.openxmlformats.org/drawingml/2006/main">
            <a:off x="400050" y="2571750"/>
            <a:ext cx="76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125" b="1">
                <a:solidFill>
                  <a:srgbClr val="6FD3FF"/>
                </a:solidFill>
                <a:latin typeface="Arial"/>
                <a:ea typeface="Arial"/>
                <a:cs typeface="Arial"/>
              </a:defRPr>
            </a:pPr>
            <a:r>
              <a:rPr sz="1125" b="1">
                <a:solidFill>
                  <a:srgbClr val="6FD3FF"/>
                </a:solidFill>
                <a:latin typeface="Arial"/>
                <a:ea typeface="Arial"/>
                <a:cs typeface="Arial"/>
              </a:rPr>
              <a:t>02</a:t>
            </a:r>
          </a:p>
        </p:txBody>
      </p:sp>
      <p:sp>
        <p:nvSpPr>
          <p:cNvPr id="18" name="">
            <a:extLst xmlns:a="http://schemas.openxmlformats.org/drawingml/2006/main">
              <a:ext uri="{FF2B5EF4-FFF2-40B4-BE49-F238E27FC236}">
                <a16:creationId xmlns:a16="http://schemas.microsoft.com/office/drawing/2014/main" id="{DA3F2E42-4099-4C5A-83ED-B8BB09151DD7}"/>
              </a:ext>
            </a:extLst>
          </p:cNvPr>
          <p:cNvSpPr>
            <a:spLocks xmlns:a="http://schemas.openxmlformats.org/drawingml/2006/main" noGrp="1"/>
          </p:cNvSpPr>
          <p:nvPr/>
        </p:nvSpPr>
        <p:spPr>
          <a:xfrm xmlns:a="http://schemas.openxmlformats.org/drawingml/2006/main">
            <a:off x="1428750" y="2571750"/>
            <a:ext cx="180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889"/>
          </a:bodyPr>
          <a:lstStyle xmlns:a="http://schemas.openxmlformats.org/drawingml/2006/main"/>
          <a:p xmlns:a="http://schemas.openxmlformats.org/drawingml/2006/main">
            <a:pPr>
              <a:defRPr sz="1575" b="1">
                <a:solidFill>
                  <a:srgbClr val="FFFFFF"/>
                </a:solidFill>
                <a:latin typeface="Arial"/>
                <a:ea typeface="Arial"/>
                <a:cs typeface="Arial"/>
              </a:defRPr>
            </a:pPr>
            <a:r>
              <a:rPr sz="1575" b="1">
                <a:solidFill>
                  <a:srgbClr val="FFFFFF"/>
                </a:solidFill>
                <a:latin typeface="Arial"/>
                <a:ea typeface="Arial"/>
                <a:cs typeface="Arial"/>
              </a:rPr>
              <a:t>BBRI.JK</a:t>
            </a:r>
          </a:p>
        </p:txBody>
      </p:sp>
      <p:sp>
        <p:nvSpPr>
          <p:cNvPr id="19" name="">
            <a:extLst xmlns:a="http://schemas.openxmlformats.org/drawingml/2006/main">
              <a:ext uri="{FF2B5EF4-FFF2-40B4-BE49-F238E27FC236}">
                <a16:creationId xmlns:a16="http://schemas.microsoft.com/office/drawing/2014/main" id="{4660305A-33C7-4D74-9E66-3BD095BB12C2}"/>
              </a:ext>
            </a:extLst>
          </p:cNvPr>
          <p:cNvSpPr>
            <a:spLocks xmlns:a="http://schemas.openxmlformats.org/drawingml/2006/main" noGrp="1"/>
          </p:cNvSpPr>
          <p:nvPr/>
        </p:nvSpPr>
        <p:spPr>
          <a:xfrm xmlns:a="http://schemas.openxmlformats.org/drawingml/2006/main">
            <a:off x="4095750" y="257175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889"/>
          </a:bodyPr>
          <a:lstStyle xmlns:a="http://schemas.openxmlformats.org/drawingml/2006/main"/>
          <a:p xmlns:a="http://schemas.openxmlformats.org/drawingml/2006/main">
            <a:pPr>
              <a:defRPr sz="1575" b="0">
                <a:solidFill>
                  <a:srgbClr val="FFFFFF"/>
                </a:solidFill>
                <a:latin typeface="Arial"/>
                <a:ea typeface="Arial"/>
                <a:cs typeface="Arial"/>
              </a:defRPr>
            </a:pPr>
            <a:r>
              <a:rPr sz="1575" b="0">
                <a:solidFill>
                  <a:srgbClr val="FFFFFF"/>
                </a:solidFill>
                <a:latin typeface="Arial"/>
                <a:ea typeface="Arial"/>
                <a:cs typeface="Arial"/>
              </a:rPr>
              <a:t>69,70</a:t>
            </a:r>
          </a:p>
        </p:txBody>
      </p:sp>
      <p:sp>
        <p:nvSpPr>
          <p:cNvPr id="20" name="">
            <a:extLst xmlns:a="http://schemas.openxmlformats.org/drawingml/2006/main">
              <a:ext uri="{FF2B5EF4-FFF2-40B4-BE49-F238E27FC236}">
                <a16:creationId xmlns:a16="http://schemas.microsoft.com/office/drawing/2014/main" id="{FC15AFBC-6531-4F4F-A807-E9D48436EEC3}"/>
              </a:ext>
            </a:extLst>
          </p:cNvPr>
          <p:cNvSpPr>
            <a:spLocks xmlns:a="http://schemas.openxmlformats.org/drawingml/2006/main" noGrp="1"/>
          </p:cNvSpPr>
          <p:nvPr/>
        </p:nvSpPr>
        <p:spPr>
          <a:xfrm xmlns:a="http://schemas.openxmlformats.org/drawingml/2006/main">
            <a:off x="6191250" y="2571750"/>
            <a:ext cx="180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889"/>
          </a:bodyPr>
          <a:lstStyle xmlns:a="http://schemas.openxmlformats.org/drawingml/2006/main"/>
          <a:p xmlns:a="http://schemas.openxmlformats.org/drawingml/2006/main">
            <a:pPr>
              <a:defRPr sz="1575" b="0">
                <a:solidFill>
                  <a:srgbClr val="FF5B5B"/>
                </a:solidFill>
                <a:latin typeface="Arial"/>
                <a:ea typeface="Arial"/>
                <a:cs typeface="Arial"/>
              </a:defRPr>
            </a:pPr>
            <a:r>
              <a:rPr sz="1575" b="0">
                <a:solidFill>
                  <a:srgbClr val="FF5B5B"/>
                </a:solidFill>
                <a:latin typeface="Arial"/>
                <a:ea typeface="Arial"/>
                <a:cs typeface="Arial"/>
              </a:rPr>
              <a:t>−20,8%</a:t>
            </a:r>
          </a:p>
        </p:txBody>
      </p:sp>
      <p:sp>
        <p:nvSpPr>
          <p:cNvPr id="21" name="">
            <a:extLst xmlns:a="http://schemas.openxmlformats.org/drawingml/2006/main">
              <a:ext uri="{FF2B5EF4-FFF2-40B4-BE49-F238E27FC236}">
                <a16:creationId xmlns:a16="http://schemas.microsoft.com/office/drawing/2014/main" id="{2483EC7D-E7A8-434A-816E-5797C0ED4997}"/>
              </a:ext>
            </a:extLst>
          </p:cNvPr>
          <p:cNvSpPr>
            <a:spLocks xmlns:a="http://schemas.openxmlformats.org/drawingml/2006/main" noGrp="1"/>
          </p:cNvSpPr>
          <p:nvPr/>
        </p:nvSpPr>
        <p:spPr>
          <a:xfrm xmlns:a="http://schemas.openxmlformats.org/drawingml/2006/main">
            <a:off x="8953500" y="257175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889"/>
          </a:bodyPr>
          <a:lstStyle xmlns:a="http://schemas.openxmlformats.org/drawingml/2006/main"/>
          <a:p xmlns:a="http://schemas.openxmlformats.org/drawingml/2006/main">
            <a:pPr>
              <a:defRPr sz="1575" b="0">
                <a:solidFill>
                  <a:srgbClr val="FF5B5B"/>
                </a:solidFill>
                <a:latin typeface="Arial"/>
                <a:ea typeface="Arial"/>
                <a:cs typeface="Arial"/>
              </a:defRPr>
            </a:pPr>
            <a:r>
              <a:rPr sz="1575" b="0">
                <a:solidFill>
                  <a:srgbClr val="FF5B5B"/>
                </a:solidFill>
                <a:latin typeface="Arial"/>
                <a:ea typeface="Arial"/>
                <a:cs typeface="Arial"/>
              </a:rPr>
              <a:t>−60,0%</a:t>
            </a:r>
          </a:p>
        </p:txBody>
      </p:sp>
      <p:sp>
        <p:nvSpPr>
          <p:cNvPr id="22" name="">
            <a:extLst xmlns:a="http://schemas.openxmlformats.org/drawingml/2006/main">
              <a:ext uri="{FF2B5EF4-FFF2-40B4-BE49-F238E27FC236}">
                <a16:creationId xmlns:a16="http://schemas.microsoft.com/office/drawing/2014/main" id="{0248139D-8A36-476E-9305-F19BCC197D0D}"/>
              </a:ext>
            </a:extLst>
          </p:cNvPr>
          <p:cNvSpPr>
            <a:spLocks xmlns:a="http://schemas.openxmlformats.org/drawingml/2006/main" noGrp="1"/>
          </p:cNvSpPr>
          <p:nvPr/>
        </p:nvSpPr>
        <p:spPr>
          <a:xfrm xmlns:a="http://schemas.openxmlformats.org/drawingml/2006/main">
            <a:off x="400050" y="3038475"/>
            <a:ext cx="11391900" cy="9525"/>
          </a:xfrm>
          <a:prstGeom xmlns:a="http://schemas.openxmlformats.org/drawingml/2006/main" prst="rect">
            <a:avLst/>
          </a:prstGeom>
          <a:solidFill xmlns:a="http://schemas.openxmlformats.org/drawingml/2006/main">
            <a:srgbClr val="454545"/>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76A7EFEE-09C3-4A77-B690-C175384414E0}"/>
              </a:ext>
            </a:extLst>
          </p:cNvPr>
          <p:cNvSpPr>
            <a:spLocks xmlns:a="http://schemas.openxmlformats.org/drawingml/2006/main" noGrp="1"/>
          </p:cNvSpPr>
          <p:nvPr/>
        </p:nvSpPr>
        <p:spPr>
          <a:xfrm xmlns:a="http://schemas.openxmlformats.org/drawingml/2006/main">
            <a:off x="400050" y="3286125"/>
            <a:ext cx="76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125" b="1">
                <a:solidFill>
                  <a:srgbClr val="6FD3FF"/>
                </a:solidFill>
                <a:latin typeface="Arial"/>
                <a:ea typeface="Arial"/>
                <a:cs typeface="Arial"/>
              </a:defRPr>
            </a:pPr>
            <a:r>
              <a:rPr sz="1125" b="1">
                <a:solidFill>
                  <a:srgbClr val="6FD3FF"/>
                </a:solidFill>
                <a:latin typeface="Arial"/>
                <a:ea typeface="Arial"/>
                <a:cs typeface="Arial"/>
              </a:rPr>
              <a:t>03</a:t>
            </a:r>
          </a:p>
        </p:txBody>
      </p:sp>
      <p:sp>
        <p:nvSpPr>
          <p:cNvPr id="24" name="">
            <a:extLst xmlns:a="http://schemas.openxmlformats.org/drawingml/2006/main">
              <a:ext uri="{FF2B5EF4-FFF2-40B4-BE49-F238E27FC236}">
                <a16:creationId xmlns:a16="http://schemas.microsoft.com/office/drawing/2014/main" id="{CF0260C0-9331-40CF-B6FF-7520CA2D0E26}"/>
              </a:ext>
            </a:extLst>
          </p:cNvPr>
          <p:cNvSpPr>
            <a:spLocks xmlns:a="http://schemas.openxmlformats.org/drawingml/2006/main" noGrp="1"/>
          </p:cNvSpPr>
          <p:nvPr/>
        </p:nvSpPr>
        <p:spPr>
          <a:xfrm xmlns:a="http://schemas.openxmlformats.org/drawingml/2006/main">
            <a:off x="1428750" y="3286125"/>
            <a:ext cx="180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889"/>
          </a:bodyPr>
          <a:lstStyle xmlns:a="http://schemas.openxmlformats.org/drawingml/2006/main"/>
          <a:p xmlns:a="http://schemas.openxmlformats.org/drawingml/2006/main">
            <a:pPr>
              <a:defRPr sz="1575" b="1">
                <a:solidFill>
                  <a:srgbClr val="FFFFFF"/>
                </a:solidFill>
                <a:latin typeface="Arial"/>
                <a:ea typeface="Arial"/>
                <a:cs typeface="Arial"/>
              </a:defRPr>
            </a:pPr>
            <a:r>
              <a:rPr sz="1575" b="1">
                <a:solidFill>
                  <a:srgbClr val="FFFFFF"/>
                </a:solidFill>
                <a:latin typeface="Arial"/>
                <a:ea typeface="Arial"/>
                <a:cs typeface="Arial"/>
              </a:rPr>
              <a:t>PTBA.JK</a:t>
            </a:r>
          </a:p>
        </p:txBody>
      </p:sp>
      <p:sp>
        <p:nvSpPr>
          <p:cNvPr id="25" name="">
            <a:extLst xmlns:a="http://schemas.openxmlformats.org/drawingml/2006/main">
              <a:ext uri="{FF2B5EF4-FFF2-40B4-BE49-F238E27FC236}">
                <a16:creationId xmlns:a16="http://schemas.microsoft.com/office/drawing/2014/main" id="{4CCC3DB0-21EE-413F-A498-5FA78926A951}"/>
              </a:ext>
            </a:extLst>
          </p:cNvPr>
          <p:cNvSpPr>
            <a:spLocks xmlns:a="http://schemas.openxmlformats.org/drawingml/2006/main" noGrp="1"/>
          </p:cNvSpPr>
          <p:nvPr/>
        </p:nvSpPr>
        <p:spPr>
          <a:xfrm xmlns:a="http://schemas.openxmlformats.org/drawingml/2006/main">
            <a:off x="4095750" y="3286125"/>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889"/>
          </a:bodyPr>
          <a:lstStyle xmlns:a="http://schemas.openxmlformats.org/drawingml/2006/main"/>
          <a:p xmlns:a="http://schemas.openxmlformats.org/drawingml/2006/main">
            <a:pPr>
              <a:defRPr sz="1575" b="0">
                <a:solidFill>
                  <a:srgbClr val="FFFFFF"/>
                </a:solidFill>
                <a:latin typeface="Arial"/>
                <a:ea typeface="Arial"/>
                <a:cs typeface="Arial"/>
              </a:defRPr>
            </a:pPr>
            <a:r>
              <a:rPr sz="1575" b="0">
                <a:solidFill>
                  <a:srgbClr val="FFFFFF"/>
                </a:solidFill>
                <a:latin typeface="Arial"/>
                <a:ea typeface="Arial"/>
                <a:cs typeface="Arial"/>
              </a:rPr>
              <a:t>67,73</a:t>
            </a:r>
          </a:p>
        </p:txBody>
      </p:sp>
      <p:sp>
        <p:nvSpPr>
          <p:cNvPr id="26" name="">
            <a:extLst xmlns:a="http://schemas.openxmlformats.org/drawingml/2006/main">
              <a:ext uri="{FF2B5EF4-FFF2-40B4-BE49-F238E27FC236}">
                <a16:creationId xmlns:a16="http://schemas.microsoft.com/office/drawing/2014/main" id="{7B64F9C4-0299-4D35-8E12-6FB95E2AEC4E}"/>
              </a:ext>
            </a:extLst>
          </p:cNvPr>
          <p:cNvSpPr>
            <a:spLocks xmlns:a="http://schemas.openxmlformats.org/drawingml/2006/main" noGrp="1"/>
          </p:cNvSpPr>
          <p:nvPr/>
        </p:nvSpPr>
        <p:spPr>
          <a:xfrm xmlns:a="http://schemas.openxmlformats.org/drawingml/2006/main">
            <a:off x="6191250" y="3286125"/>
            <a:ext cx="180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889"/>
          </a:bodyPr>
          <a:lstStyle xmlns:a="http://schemas.openxmlformats.org/drawingml/2006/main"/>
          <a:p xmlns:a="http://schemas.openxmlformats.org/drawingml/2006/main">
            <a:pPr>
              <a:defRPr sz="1575" b="0">
                <a:solidFill>
                  <a:srgbClr val="58D68D"/>
                </a:solidFill>
                <a:latin typeface="Arial"/>
                <a:ea typeface="Arial"/>
                <a:cs typeface="Arial"/>
              </a:defRPr>
            </a:pPr>
            <a:r>
              <a:rPr sz="1575" b="0">
                <a:solidFill>
                  <a:srgbClr val="58D68D"/>
                </a:solidFill>
                <a:latin typeface="Arial"/>
                <a:ea typeface="Arial"/>
                <a:cs typeface="Arial"/>
              </a:rPr>
              <a:t>+31,9%</a:t>
            </a:r>
          </a:p>
        </p:txBody>
      </p:sp>
      <p:sp>
        <p:nvSpPr>
          <p:cNvPr id="27" name="">
            <a:extLst xmlns:a="http://schemas.openxmlformats.org/drawingml/2006/main">
              <a:ext uri="{FF2B5EF4-FFF2-40B4-BE49-F238E27FC236}">
                <a16:creationId xmlns:a16="http://schemas.microsoft.com/office/drawing/2014/main" id="{F68D9CA1-0D43-4980-8BA5-6871A2EBAC41}"/>
              </a:ext>
            </a:extLst>
          </p:cNvPr>
          <p:cNvSpPr>
            <a:spLocks xmlns:a="http://schemas.openxmlformats.org/drawingml/2006/main" noGrp="1"/>
          </p:cNvSpPr>
          <p:nvPr/>
        </p:nvSpPr>
        <p:spPr>
          <a:xfrm xmlns:a="http://schemas.openxmlformats.org/drawingml/2006/main">
            <a:off x="8953500" y="3286125"/>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889"/>
          </a:bodyPr>
          <a:lstStyle xmlns:a="http://schemas.openxmlformats.org/drawingml/2006/main"/>
          <a:p xmlns:a="http://schemas.openxmlformats.org/drawingml/2006/main">
            <a:pPr>
              <a:defRPr sz="1575" b="0">
                <a:solidFill>
                  <a:srgbClr val="FF5B5B"/>
                </a:solidFill>
                <a:latin typeface="Arial"/>
                <a:ea typeface="Arial"/>
                <a:cs typeface="Arial"/>
              </a:defRPr>
            </a:pPr>
            <a:r>
              <a:rPr sz="1575" b="0">
                <a:solidFill>
                  <a:srgbClr val="FF5B5B"/>
                </a:solidFill>
                <a:latin typeface="Arial"/>
                <a:ea typeface="Arial"/>
                <a:cs typeface="Arial"/>
              </a:rPr>
              <a:t>−70,0%</a:t>
            </a:r>
          </a:p>
        </p:txBody>
      </p:sp>
      <p:sp>
        <p:nvSpPr>
          <p:cNvPr id="28" name="">
            <a:extLst xmlns:a="http://schemas.openxmlformats.org/drawingml/2006/main">
              <a:ext uri="{FF2B5EF4-FFF2-40B4-BE49-F238E27FC236}">
                <a16:creationId xmlns:a16="http://schemas.microsoft.com/office/drawing/2014/main" id="{AD2D2295-0714-46DF-9E7D-699C16907080}"/>
              </a:ext>
            </a:extLst>
          </p:cNvPr>
          <p:cNvSpPr>
            <a:spLocks xmlns:a="http://schemas.openxmlformats.org/drawingml/2006/main" noGrp="1"/>
          </p:cNvSpPr>
          <p:nvPr/>
        </p:nvSpPr>
        <p:spPr>
          <a:xfrm xmlns:a="http://schemas.openxmlformats.org/drawingml/2006/main">
            <a:off x="400050" y="3752850"/>
            <a:ext cx="11391900" cy="9525"/>
          </a:xfrm>
          <a:prstGeom xmlns:a="http://schemas.openxmlformats.org/drawingml/2006/main" prst="rect">
            <a:avLst/>
          </a:prstGeom>
          <a:solidFill xmlns:a="http://schemas.openxmlformats.org/drawingml/2006/main">
            <a:srgbClr val="454545"/>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71619CD4-BA88-47BE-BD7D-64316359DA1F}"/>
              </a:ext>
            </a:extLst>
          </p:cNvPr>
          <p:cNvSpPr>
            <a:spLocks xmlns:a="http://schemas.openxmlformats.org/drawingml/2006/main" noGrp="1"/>
          </p:cNvSpPr>
          <p:nvPr/>
        </p:nvSpPr>
        <p:spPr>
          <a:xfrm xmlns:a="http://schemas.openxmlformats.org/drawingml/2006/main">
            <a:off x="400050" y="4000500"/>
            <a:ext cx="76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125" b="1">
                <a:solidFill>
                  <a:srgbClr val="6FD3FF"/>
                </a:solidFill>
                <a:latin typeface="Arial"/>
                <a:ea typeface="Arial"/>
                <a:cs typeface="Arial"/>
              </a:defRPr>
            </a:pPr>
            <a:r>
              <a:rPr sz="1125" b="1">
                <a:solidFill>
                  <a:srgbClr val="6FD3FF"/>
                </a:solidFill>
                <a:latin typeface="Arial"/>
                <a:ea typeface="Arial"/>
                <a:cs typeface="Arial"/>
              </a:rPr>
              <a:t>04</a:t>
            </a:r>
          </a:p>
        </p:txBody>
      </p:sp>
      <p:sp>
        <p:nvSpPr>
          <p:cNvPr id="30" name="">
            <a:extLst xmlns:a="http://schemas.openxmlformats.org/drawingml/2006/main">
              <a:ext uri="{FF2B5EF4-FFF2-40B4-BE49-F238E27FC236}">
                <a16:creationId xmlns:a16="http://schemas.microsoft.com/office/drawing/2014/main" id="{D4FCCDA0-1726-4915-A63A-C06EB0706306}"/>
              </a:ext>
            </a:extLst>
          </p:cNvPr>
          <p:cNvSpPr>
            <a:spLocks xmlns:a="http://schemas.openxmlformats.org/drawingml/2006/main" noGrp="1"/>
          </p:cNvSpPr>
          <p:nvPr/>
        </p:nvSpPr>
        <p:spPr>
          <a:xfrm xmlns:a="http://schemas.openxmlformats.org/drawingml/2006/main">
            <a:off x="1428750" y="4000500"/>
            <a:ext cx="180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889"/>
          </a:bodyPr>
          <a:lstStyle xmlns:a="http://schemas.openxmlformats.org/drawingml/2006/main"/>
          <a:p xmlns:a="http://schemas.openxmlformats.org/drawingml/2006/main">
            <a:pPr>
              <a:defRPr sz="1575" b="1">
                <a:solidFill>
                  <a:srgbClr val="FFFFFF"/>
                </a:solidFill>
                <a:latin typeface="Arial"/>
                <a:ea typeface="Arial"/>
                <a:cs typeface="Arial"/>
              </a:defRPr>
            </a:pPr>
            <a:r>
              <a:rPr sz="1575" b="1">
                <a:solidFill>
                  <a:srgbClr val="FFFFFF"/>
                </a:solidFill>
                <a:latin typeface="Arial"/>
                <a:ea typeface="Arial"/>
                <a:cs typeface="Arial"/>
              </a:rPr>
              <a:t>JPFA.JK</a:t>
            </a:r>
          </a:p>
        </p:txBody>
      </p:sp>
      <p:sp>
        <p:nvSpPr>
          <p:cNvPr id="31" name="">
            <a:extLst xmlns:a="http://schemas.openxmlformats.org/drawingml/2006/main">
              <a:ext uri="{FF2B5EF4-FFF2-40B4-BE49-F238E27FC236}">
                <a16:creationId xmlns:a16="http://schemas.microsoft.com/office/drawing/2014/main" id="{A22EE0BF-1BD9-4045-A404-084764A33944}"/>
              </a:ext>
            </a:extLst>
          </p:cNvPr>
          <p:cNvSpPr>
            <a:spLocks xmlns:a="http://schemas.openxmlformats.org/drawingml/2006/main" noGrp="1"/>
          </p:cNvSpPr>
          <p:nvPr/>
        </p:nvSpPr>
        <p:spPr>
          <a:xfrm xmlns:a="http://schemas.openxmlformats.org/drawingml/2006/main">
            <a:off x="4095750" y="40005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889"/>
          </a:bodyPr>
          <a:lstStyle xmlns:a="http://schemas.openxmlformats.org/drawingml/2006/main"/>
          <a:p xmlns:a="http://schemas.openxmlformats.org/drawingml/2006/main">
            <a:pPr>
              <a:defRPr sz="1575" b="0">
                <a:solidFill>
                  <a:srgbClr val="FFFFFF"/>
                </a:solidFill>
                <a:latin typeface="Arial"/>
                <a:ea typeface="Arial"/>
                <a:cs typeface="Arial"/>
              </a:defRPr>
            </a:pPr>
            <a:r>
              <a:rPr sz="1575" b="0">
                <a:solidFill>
                  <a:srgbClr val="FFFFFF"/>
                </a:solidFill>
                <a:latin typeface="Arial"/>
                <a:ea typeface="Arial"/>
                <a:cs typeface="Arial"/>
              </a:rPr>
              <a:t>64,24</a:t>
            </a:r>
          </a:p>
        </p:txBody>
      </p:sp>
      <p:sp>
        <p:nvSpPr>
          <p:cNvPr id="32" name="">
            <a:extLst xmlns:a="http://schemas.openxmlformats.org/drawingml/2006/main">
              <a:ext uri="{FF2B5EF4-FFF2-40B4-BE49-F238E27FC236}">
                <a16:creationId xmlns:a16="http://schemas.microsoft.com/office/drawing/2014/main" id="{524DBF3B-3E93-4EC7-ACCA-1BFDBB1A8C44}"/>
              </a:ext>
            </a:extLst>
          </p:cNvPr>
          <p:cNvSpPr>
            <a:spLocks xmlns:a="http://schemas.openxmlformats.org/drawingml/2006/main" noGrp="1"/>
          </p:cNvSpPr>
          <p:nvPr/>
        </p:nvSpPr>
        <p:spPr>
          <a:xfrm xmlns:a="http://schemas.openxmlformats.org/drawingml/2006/main">
            <a:off x="6191250" y="4000500"/>
            <a:ext cx="180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889"/>
          </a:bodyPr>
          <a:lstStyle xmlns:a="http://schemas.openxmlformats.org/drawingml/2006/main"/>
          <a:p xmlns:a="http://schemas.openxmlformats.org/drawingml/2006/main">
            <a:pPr>
              <a:defRPr sz="1575" b="0">
                <a:solidFill>
                  <a:srgbClr val="58D68D"/>
                </a:solidFill>
                <a:latin typeface="Arial"/>
                <a:ea typeface="Arial"/>
                <a:cs typeface="Arial"/>
              </a:defRPr>
            </a:pPr>
            <a:r>
              <a:rPr sz="1575" b="0">
                <a:solidFill>
                  <a:srgbClr val="58D68D"/>
                </a:solidFill>
                <a:latin typeface="Arial"/>
                <a:ea typeface="Arial"/>
                <a:cs typeface="Arial"/>
              </a:rPr>
              <a:t>+22,2%</a:t>
            </a:r>
          </a:p>
        </p:txBody>
      </p:sp>
      <p:sp>
        <p:nvSpPr>
          <p:cNvPr id="33" name="">
            <a:extLst xmlns:a="http://schemas.openxmlformats.org/drawingml/2006/main">
              <a:ext uri="{FF2B5EF4-FFF2-40B4-BE49-F238E27FC236}">
                <a16:creationId xmlns:a16="http://schemas.microsoft.com/office/drawing/2014/main" id="{D3AC9F1D-41D4-4707-AEE7-7ADAF3EDB44C}"/>
              </a:ext>
            </a:extLst>
          </p:cNvPr>
          <p:cNvSpPr>
            <a:spLocks xmlns:a="http://schemas.openxmlformats.org/drawingml/2006/main" noGrp="1"/>
          </p:cNvSpPr>
          <p:nvPr/>
        </p:nvSpPr>
        <p:spPr>
          <a:xfrm xmlns:a="http://schemas.openxmlformats.org/drawingml/2006/main">
            <a:off x="8953500" y="400050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889"/>
          </a:bodyPr>
          <a:lstStyle xmlns:a="http://schemas.openxmlformats.org/drawingml/2006/main"/>
          <a:p xmlns:a="http://schemas.openxmlformats.org/drawingml/2006/main">
            <a:pPr>
              <a:defRPr sz="1575" b="0">
                <a:solidFill>
                  <a:srgbClr val="FF5B5B"/>
                </a:solidFill>
                <a:latin typeface="Arial"/>
                <a:ea typeface="Arial"/>
                <a:cs typeface="Arial"/>
              </a:defRPr>
            </a:pPr>
            <a:r>
              <a:rPr sz="1575" b="0">
                <a:solidFill>
                  <a:srgbClr val="FF5B5B"/>
                </a:solidFill>
                <a:latin typeface="Arial"/>
                <a:ea typeface="Arial"/>
                <a:cs typeface="Arial"/>
              </a:rPr>
              <a:t>−81,9%</a:t>
            </a:r>
          </a:p>
        </p:txBody>
      </p:sp>
      <p:sp>
        <p:nvSpPr>
          <p:cNvPr id="34" name="">
            <a:extLst xmlns:a="http://schemas.openxmlformats.org/drawingml/2006/main">
              <a:ext uri="{FF2B5EF4-FFF2-40B4-BE49-F238E27FC236}">
                <a16:creationId xmlns:a16="http://schemas.microsoft.com/office/drawing/2014/main" id="{210A1A1C-F6E4-4CD0-8D49-146612CB1851}"/>
              </a:ext>
            </a:extLst>
          </p:cNvPr>
          <p:cNvSpPr>
            <a:spLocks xmlns:a="http://schemas.openxmlformats.org/drawingml/2006/main" noGrp="1"/>
          </p:cNvSpPr>
          <p:nvPr/>
        </p:nvSpPr>
        <p:spPr>
          <a:xfrm xmlns:a="http://schemas.openxmlformats.org/drawingml/2006/main">
            <a:off x="400050" y="4467225"/>
            <a:ext cx="11391900" cy="9525"/>
          </a:xfrm>
          <a:prstGeom xmlns:a="http://schemas.openxmlformats.org/drawingml/2006/main" prst="rect">
            <a:avLst/>
          </a:prstGeom>
          <a:solidFill xmlns:a="http://schemas.openxmlformats.org/drawingml/2006/main">
            <a:srgbClr val="454545"/>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37437F97-951D-40A5-8F41-D51C8F287875}"/>
              </a:ext>
            </a:extLst>
          </p:cNvPr>
          <p:cNvSpPr>
            <a:spLocks xmlns:a="http://schemas.openxmlformats.org/drawingml/2006/main" noGrp="1"/>
          </p:cNvSpPr>
          <p:nvPr/>
        </p:nvSpPr>
        <p:spPr>
          <a:xfrm xmlns:a="http://schemas.openxmlformats.org/drawingml/2006/main">
            <a:off x="400050" y="4714875"/>
            <a:ext cx="76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125" b="1">
                <a:solidFill>
                  <a:srgbClr val="6FD3FF"/>
                </a:solidFill>
                <a:latin typeface="Arial"/>
                <a:ea typeface="Arial"/>
                <a:cs typeface="Arial"/>
              </a:defRPr>
            </a:pPr>
            <a:r>
              <a:rPr sz="1125" b="1">
                <a:solidFill>
                  <a:srgbClr val="6FD3FF"/>
                </a:solidFill>
                <a:latin typeface="Arial"/>
                <a:ea typeface="Arial"/>
                <a:cs typeface="Arial"/>
              </a:rPr>
              <a:t>05</a:t>
            </a:r>
          </a:p>
        </p:txBody>
      </p:sp>
      <p:sp>
        <p:nvSpPr>
          <p:cNvPr id="36" name="">
            <a:extLst xmlns:a="http://schemas.openxmlformats.org/drawingml/2006/main">
              <a:ext uri="{FF2B5EF4-FFF2-40B4-BE49-F238E27FC236}">
                <a16:creationId xmlns:a16="http://schemas.microsoft.com/office/drawing/2014/main" id="{3692206F-5376-4773-9523-D7B2EBFAD111}"/>
              </a:ext>
            </a:extLst>
          </p:cNvPr>
          <p:cNvSpPr>
            <a:spLocks xmlns:a="http://schemas.openxmlformats.org/drawingml/2006/main" noGrp="1"/>
          </p:cNvSpPr>
          <p:nvPr/>
        </p:nvSpPr>
        <p:spPr>
          <a:xfrm xmlns:a="http://schemas.openxmlformats.org/drawingml/2006/main">
            <a:off x="1428750" y="4714875"/>
            <a:ext cx="180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889"/>
          </a:bodyPr>
          <a:lstStyle xmlns:a="http://schemas.openxmlformats.org/drawingml/2006/main"/>
          <a:p xmlns:a="http://schemas.openxmlformats.org/drawingml/2006/main">
            <a:pPr>
              <a:defRPr sz="1575" b="1">
                <a:solidFill>
                  <a:srgbClr val="FFFFFF"/>
                </a:solidFill>
                <a:latin typeface="Arial"/>
                <a:ea typeface="Arial"/>
                <a:cs typeface="Arial"/>
              </a:defRPr>
            </a:pPr>
            <a:r>
              <a:rPr sz="1575" b="1">
                <a:solidFill>
                  <a:srgbClr val="FFFFFF"/>
                </a:solidFill>
                <a:latin typeface="Arial"/>
                <a:ea typeface="Arial"/>
                <a:cs typeface="Arial"/>
              </a:rPr>
              <a:t>BBCA.JK</a:t>
            </a:r>
          </a:p>
        </p:txBody>
      </p:sp>
      <p:sp>
        <p:nvSpPr>
          <p:cNvPr id="37" name="">
            <a:extLst xmlns:a="http://schemas.openxmlformats.org/drawingml/2006/main">
              <a:ext uri="{FF2B5EF4-FFF2-40B4-BE49-F238E27FC236}">
                <a16:creationId xmlns:a16="http://schemas.microsoft.com/office/drawing/2014/main" id="{009EBB96-1ECF-4643-AD02-E8F1E415F29E}"/>
              </a:ext>
            </a:extLst>
          </p:cNvPr>
          <p:cNvSpPr>
            <a:spLocks xmlns:a="http://schemas.openxmlformats.org/drawingml/2006/main" noGrp="1"/>
          </p:cNvSpPr>
          <p:nvPr/>
        </p:nvSpPr>
        <p:spPr>
          <a:xfrm xmlns:a="http://schemas.openxmlformats.org/drawingml/2006/main">
            <a:off x="4095750" y="4714875"/>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889"/>
          </a:bodyPr>
          <a:lstStyle xmlns:a="http://schemas.openxmlformats.org/drawingml/2006/main"/>
          <a:p xmlns:a="http://schemas.openxmlformats.org/drawingml/2006/main">
            <a:pPr>
              <a:defRPr sz="1575" b="0">
                <a:solidFill>
                  <a:srgbClr val="FFFFFF"/>
                </a:solidFill>
                <a:latin typeface="Arial"/>
                <a:ea typeface="Arial"/>
                <a:cs typeface="Arial"/>
              </a:defRPr>
            </a:pPr>
            <a:r>
              <a:rPr sz="1575" b="0">
                <a:solidFill>
                  <a:srgbClr val="FFFFFF"/>
                </a:solidFill>
                <a:latin typeface="Arial"/>
                <a:ea typeface="Arial"/>
                <a:cs typeface="Arial"/>
              </a:rPr>
              <a:t>64,09</a:t>
            </a:r>
          </a:p>
        </p:txBody>
      </p:sp>
      <p:sp>
        <p:nvSpPr>
          <p:cNvPr id="38" name="">
            <a:extLst xmlns:a="http://schemas.openxmlformats.org/drawingml/2006/main">
              <a:ext uri="{FF2B5EF4-FFF2-40B4-BE49-F238E27FC236}">
                <a16:creationId xmlns:a16="http://schemas.microsoft.com/office/drawing/2014/main" id="{B9CE07DE-22E3-4FE1-A326-1897534AE2F2}"/>
              </a:ext>
            </a:extLst>
          </p:cNvPr>
          <p:cNvSpPr>
            <a:spLocks xmlns:a="http://schemas.openxmlformats.org/drawingml/2006/main" noGrp="1"/>
          </p:cNvSpPr>
          <p:nvPr/>
        </p:nvSpPr>
        <p:spPr>
          <a:xfrm xmlns:a="http://schemas.openxmlformats.org/drawingml/2006/main">
            <a:off x="6191250" y="4714875"/>
            <a:ext cx="180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889"/>
          </a:bodyPr>
          <a:lstStyle xmlns:a="http://schemas.openxmlformats.org/drawingml/2006/main"/>
          <a:p xmlns:a="http://schemas.openxmlformats.org/drawingml/2006/main">
            <a:pPr>
              <a:defRPr sz="1575" b="0">
                <a:solidFill>
                  <a:srgbClr val="FF5B5B"/>
                </a:solidFill>
                <a:latin typeface="Arial"/>
                <a:ea typeface="Arial"/>
                <a:cs typeface="Arial"/>
              </a:defRPr>
            </a:pPr>
            <a:r>
              <a:rPr sz="1575" b="0">
                <a:solidFill>
                  <a:srgbClr val="FF5B5B"/>
                </a:solidFill>
                <a:latin typeface="Arial"/>
                <a:ea typeface="Arial"/>
                <a:cs typeface="Arial"/>
              </a:rPr>
              <a:t>−20,7%</a:t>
            </a:r>
          </a:p>
        </p:txBody>
      </p:sp>
      <p:sp>
        <p:nvSpPr>
          <p:cNvPr id="39" name="">
            <a:extLst xmlns:a="http://schemas.openxmlformats.org/drawingml/2006/main">
              <a:ext uri="{FF2B5EF4-FFF2-40B4-BE49-F238E27FC236}">
                <a16:creationId xmlns:a16="http://schemas.microsoft.com/office/drawing/2014/main" id="{0A1F23EB-AC85-4722-B5D7-19F00806D96E}"/>
              </a:ext>
            </a:extLst>
          </p:cNvPr>
          <p:cNvSpPr>
            <a:spLocks xmlns:a="http://schemas.openxmlformats.org/drawingml/2006/main" noGrp="1"/>
          </p:cNvSpPr>
          <p:nvPr/>
        </p:nvSpPr>
        <p:spPr>
          <a:xfrm xmlns:a="http://schemas.openxmlformats.org/drawingml/2006/main">
            <a:off x="8953500" y="4714875"/>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889"/>
          </a:bodyPr>
          <a:lstStyle xmlns:a="http://schemas.openxmlformats.org/drawingml/2006/main"/>
          <a:p xmlns:a="http://schemas.openxmlformats.org/drawingml/2006/main">
            <a:pPr>
              <a:defRPr sz="1575" b="0">
                <a:solidFill>
                  <a:srgbClr val="FF5B5B"/>
                </a:solidFill>
                <a:latin typeface="Arial"/>
                <a:ea typeface="Arial"/>
                <a:cs typeface="Arial"/>
              </a:defRPr>
            </a:pPr>
            <a:r>
              <a:rPr sz="1575" b="0">
                <a:solidFill>
                  <a:srgbClr val="FF5B5B"/>
                </a:solidFill>
                <a:latin typeface="Arial"/>
                <a:ea typeface="Arial"/>
                <a:cs typeface="Arial"/>
              </a:rPr>
              <a:t>−55,5%</a:t>
            </a:r>
          </a:p>
        </p:txBody>
      </p:sp>
      <p:sp>
        <p:nvSpPr>
          <p:cNvPr id="40" name="">
            <a:extLst xmlns:a="http://schemas.openxmlformats.org/drawingml/2006/main">
              <a:ext uri="{FF2B5EF4-FFF2-40B4-BE49-F238E27FC236}">
                <a16:creationId xmlns:a16="http://schemas.microsoft.com/office/drawing/2014/main" id="{4568F35C-C633-4A26-9E18-0A8563656104}"/>
              </a:ext>
            </a:extLst>
          </p:cNvPr>
          <p:cNvSpPr>
            <a:spLocks xmlns:a="http://schemas.openxmlformats.org/drawingml/2006/main" noGrp="1"/>
          </p:cNvSpPr>
          <p:nvPr/>
        </p:nvSpPr>
        <p:spPr>
          <a:xfrm xmlns:a="http://schemas.openxmlformats.org/drawingml/2006/main">
            <a:off x="400050" y="5181600"/>
            <a:ext cx="11391900" cy="9525"/>
          </a:xfrm>
          <a:prstGeom xmlns:a="http://schemas.openxmlformats.org/drawingml/2006/main" prst="rect">
            <a:avLst/>
          </a:prstGeom>
          <a:solidFill xmlns:a="http://schemas.openxmlformats.org/drawingml/2006/main">
            <a:srgbClr val="454545"/>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CAD08BDD-48B2-46A2-9A01-988AFD4B9F7E}"/>
              </a:ext>
            </a:extLst>
          </p:cNvPr>
          <p:cNvSpPr>
            <a:spLocks xmlns:a="http://schemas.openxmlformats.org/drawingml/2006/main" noGrp="1"/>
          </p:cNvSpPr>
          <p:nvPr/>
        </p:nvSpPr>
        <p:spPr>
          <a:xfrm xmlns:a="http://schemas.openxmlformats.org/drawingml/2006/main">
            <a:off x="400050" y="5695950"/>
            <a:ext cx="11144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7918"/>
          </a:bodyPr>
          <a:lstStyle xmlns:a="http://schemas.openxmlformats.org/drawingml/2006/main"/>
          <a:p xmlns:a="http://schemas.openxmlformats.org/drawingml/2006/main">
            <a:pPr>
              <a:defRPr sz="1425" b="0">
                <a:solidFill>
                  <a:srgbClr val="FFFFFF"/>
                </a:solidFill>
                <a:latin typeface="Arial"/>
                <a:ea typeface="Arial"/>
                <a:cs typeface="Arial"/>
              </a:defRPr>
            </a:pPr>
            <a:r>
              <a:rPr sz="1425" b="0">
                <a:solidFill>
                  <a:srgbClr val="FFFFFF"/>
                </a:solidFill>
                <a:latin typeface="Arial"/>
                <a:ea typeface="Arial"/>
                <a:cs typeface="Arial"/>
              </a:rPr>
              <a:t>ADRO memimpin skor dan return 12 bulan. JPFA memiliki drawdown terdalam di kelompok lima besar, sehingga ranking tetap perlu dilengkapi batas risiko.</a:t>
            </a:r>
          </a:p>
        </p:txBody>
      </p:sp>
    </p:spTree>
    <p:extLst>
      <p:ext uri="{BB962C8B-B14F-4D97-AF65-F5344CB8AC3E}">
        <p14:creationId xmlns:p14="http://schemas.microsoft.com/office/powerpoint/2010/main" val="1455224733"/>
      </p:ext>
    </p:extLst>
  </p:cSld>
</p:sld>
</file>

<file path=ppt/slides/slide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50155AA-F462-4CAF-BDAF-3F931FD36034}"/>
              </a:ext>
            </a:extLst>
          </p:cNvPr>
          <p:cNvSpPr>
            <a:spLocks xmlns:a="http://schemas.openxmlformats.org/drawingml/2006/main" noGrp="1"/>
          </p:cNvSpPr>
          <p:nvPr/>
        </p:nvSpPr>
        <p:spPr>
          <a:xfrm xmlns:a="http://schemas.openxmlformats.org/drawingml/2006/main">
            <a:off x="400050" y="209550"/>
            <a:ext cx="3810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defRPr sz="900" b="0">
                <a:solidFill>
                  <a:srgbClr val="B7B7B7"/>
                </a:solidFill>
                <a:latin typeface="Arial"/>
                <a:ea typeface="Arial"/>
                <a:cs typeface="Arial"/>
              </a:defRPr>
            </a:pPr>
            <a:r>
              <a:rPr sz="900" b="0">
                <a:solidFill>
                  <a:srgbClr val="B7B7B7"/>
                </a:solidFill>
                <a:latin typeface="Arial"/>
                <a:ea typeface="Arial"/>
                <a:cs typeface="Arial"/>
              </a:rPr>
              <a:t>PERFORMA HARGA</a:t>
            </a:r>
          </a:p>
        </p:txBody>
      </p:sp>
      <p:sp>
        <p:nvSpPr>
          <p:cNvPr id="2" name="">
            <a:extLst xmlns:a="http://schemas.openxmlformats.org/drawingml/2006/main">
              <a:ext uri="{FF2B5EF4-FFF2-40B4-BE49-F238E27FC236}">
                <a16:creationId xmlns:a16="http://schemas.microsoft.com/office/drawing/2014/main" id="{BE01D36D-4B8F-43D6-B9DF-33CBFA5D6674}"/>
              </a:ext>
            </a:extLst>
          </p:cNvPr>
          <p:cNvSpPr>
            <a:spLocks xmlns:a="http://schemas.openxmlformats.org/drawingml/2006/main" noGrp="1"/>
          </p:cNvSpPr>
          <p:nvPr/>
        </p:nvSpPr>
        <p:spPr>
          <a:xfrm xmlns:a="http://schemas.openxmlformats.org/drawingml/2006/main">
            <a:off x="400050" y="457200"/>
            <a:ext cx="11239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Performa jangka panjang terpisah antar-emiten</a:t>
            </a:r>
          </a:p>
        </p:txBody>
      </p:sp>
      <p:sp>
        <p:nvSpPr>
          <p:cNvPr id="3" name="">
            <a:extLst xmlns:a="http://schemas.openxmlformats.org/drawingml/2006/main">
              <a:ext uri="{FF2B5EF4-FFF2-40B4-BE49-F238E27FC236}">
                <a16:creationId xmlns:a16="http://schemas.microsoft.com/office/drawing/2014/main" id="{77E7F729-EB30-4974-AE10-0072E2AA43D4}"/>
              </a:ext>
            </a:extLst>
          </p:cNvPr>
          <p:cNvSpPr>
            <a:spLocks xmlns:a="http://schemas.openxmlformats.org/drawingml/2006/main" noGrp="1"/>
          </p:cNvSpPr>
          <p:nvPr/>
        </p:nvSpPr>
        <p:spPr>
          <a:xfrm xmlns:a="http://schemas.openxmlformats.org/drawingml/2006/main">
            <a:off x="400050" y="1066800"/>
            <a:ext cx="11391900" cy="9525"/>
          </a:xfrm>
          <a:prstGeom xmlns:a="http://schemas.openxmlformats.org/drawingml/2006/main" prst="rect">
            <a:avLst/>
          </a:prstGeom>
          <a:solidFill xmlns:a="http://schemas.openxmlformats.org/drawingml/2006/main">
            <a:srgbClr val="45454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7B34D28-3A76-4E0F-875F-B251CE6510EC}"/>
              </a:ext>
            </a:extLst>
          </p:cNvPr>
          <p:cNvSpPr>
            <a:spLocks xmlns:a="http://schemas.openxmlformats.org/drawingml/2006/main" noGrp="1"/>
          </p:cNvSpPr>
          <p:nvPr/>
        </p:nvSpPr>
        <p:spPr>
          <a:xfrm xmlns:a="http://schemas.openxmlformats.org/drawingml/2006/main">
            <a:off x="11372850" y="6496050"/>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B7B7B7"/>
                </a:solidFill>
                <a:latin typeface="Arial"/>
                <a:ea typeface="Arial"/>
                <a:cs typeface="Arial"/>
              </a:defRPr>
            </a:pPr>
            <a:r>
              <a:rPr sz="825" b="0">
                <a:solidFill>
                  <a:srgbClr val="B7B7B7"/>
                </a:solidFill>
                <a:latin typeface="Arial"/>
                <a:ea typeface="Arial"/>
                <a:cs typeface="Arial"/>
              </a:rPr>
              <a:t>06</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5f199bd9309d4a3a"/>
          <a:stretch xmlns:a="http://schemas.openxmlformats.org/drawingml/2006/main"/>
        </p:blipFill>
        <p:spPr>
          <a:xfrm xmlns:a="http://schemas.openxmlformats.org/drawingml/2006/main">
            <a:off x="400050" y="2454508"/>
            <a:ext cx="7953375" cy="1758485"/>
          </a:xfrm>
          <a:prstGeom xmlns:a="http://schemas.openxmlformats.org/drawingml/2006/main" prst="roundRect">
            <a:avLst>
              <a:gd name="adj" fmla="val 2381"/>
            </a:avLst>
          </a:prstGeom>
        </p:spPr>
      </p:pic>
      <p:sp>
        <p:nvSpPr>
          <p:cNvPr id="6" name="">
            <a:extLst xmlns:a="http://schemas.openxmlformats.org/drawingml/2006/main">
              <a:ext uri="{FF2B5EF4-FFF2-40B4-BE49-F238E27FC236}">
                <a16:creationId xmlns:a16="http://schemas.microsoft.com/office/drawing/2014/main" id="{65E1E91F-F7D7-4722-8631-A06BFF7FDCF3}"/>
              </a:ext>
            </a:extLst>
          </p:cNvPr>
          <p:cNvSpPr>
            <a:spLocks xmlns:a="http://schemas.openxmlformats.org/drawingml/2006/main" noGrp="1"/>
          </p:cNvSpPr>
          <p:nvPr/>
        </p:nvSpPr>
        <p:spPr>
          <a:xfrm xmlns:a="http://schemas.openxmlformats.org/drawingml/2006/main">
            <a:off x="8763000" y="1438275"/>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5926"/>
          </a:bodyPr>
          <a:lstStyle xmlns:a="http://schemas.openxmlformats.org/drawingml/2006/main"/>
          <a:p xmlns:a="http://schemas.openxmlformats.org/drawingml/2006/main">
            <a:pPr>
              <a:defRPr sz="1350" b="1">
                <a:solidFill>
                  <a:srgbClr val="FFFFFF"/>
                </a:solidFill>
                <a:latin typeface="Arial"/>
                <a:ea typeface="Arial"/>
                <a:cs typeface="Arial"/>
              </a:defRPr>
            </a:pPr>
            <a:r>
              <a:rPr sz="1350" b="1">
                <a:solidFill>
                  <a:srgbClr val="FFFFFF"/>
                </a:solidFill>
                <a:latin typeface="Arial"/>
                <a:ea typeface="Arial"/>
                <a:cs typeface="Arial"/>
              </a:rPr>
              <a:t>Pola yang terlihat</a:t>
            </a:r>
          </a:p>
        </p:txBody>
      </p:sp>
      <p:sp>
        <p:nvSpPr>
          <p:cNvPr id="7" name="">
            <a:extLst xmlns:a="http://schemas.openxmlformats.org/drawingml/2006/main">
              <a:ext uri="{FF2B5EF4-FFF2-40B4-BE49-F238E27FC236}">
                <a16:creationId xmlns:a16="http://schemas.microsoft.com/office/drawing/2014/main" id="{A8BE7ABF-D06A-486A-B382-D77C4F906ED2}"/>
              </a:ext>
            </a:extLst>
          </p:cNvPr>
          <p:cNvSpPr>
            <a:spLocks xmlns:a="http://schemas.openxmlformats.org/drawingml/2006/main" noGrp="1"/>
          </p:cNvSpPr>
          <p:nvPr/>
        </p:nvSpPr>
        <p:spPr>
          <a:xfrm xmlns:a="http://schemas.openxmlformats.org/drawingml/2006/main">
            <a:off x="8763000" y="1866900"/>
            <a:ext cx="276225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425" b="0">
                <a:solidFill>
                  <a:srgbClr val="B7B7B7"/>
                </a:solidFill>
                <a:latin typeface="Arial"/>
                <a:ea typeface="Arial"/>
                <a:cs typeface="Arial"/>
              </a:defRPr>
            </a:pPr>
            <a:r>
              <a:rPr sz="1425" b="0">
                <a:solidFill>
                  <a:srgbClr val="B7B7B7"/>
                </a:solidFill>
                <a:latin typeface="Arial"/>
                <a:ea typeface="Arial"/>
                <a:cs typeface="Arial"/>
              </a:rPr>
              <a:t>BBCA dan BBRI sempat mencatat kenaikan relatif terbesar pada sebagian besar horizon. ADRO menunjukkan lonjakan siklikal yang tajam. JPFA dan PTBA bergerak lebih datar dengan fase volatilitas yang berbeda.</a:t>
            </a:r>
          </a:p>
        </p:txBody>
      </p:sp>
      <p:sp>
        <p:nvSpPr>
          <p:cNvPr id="8" name="">
            <a:extLst xmlns:a="http://schemas.openxmlformats.org/drawingml/2006/main">
              <a:ext uri="{FF2B5EF4-FFF2-40B4-BE49-F238E27FC236}">
                <a16:creationId xmlns:a16="http://schemas.microsoft.com/office/drawing/2014/main" id="{27BF5DC4-C5E5-4262-AA4D-1134B4814EA3}"/>
              </a:ext>
            </a:extLst>
          </p:cNvPr>
          <p:cNvSpPr>
            <a:spLocks xmlns:a="http://schemas.openxmlformats.org/drawingml/2006/main" noGrp="1"/>
          </p:cNvSpPr>
          <p:nvPr/>
        </p:nvSpPr>
        <p:spPr>
          <a:xfrm xmlns:a="http://schemas.openxmlformats.org/drawingml/2006/main">
            <a:off x="8763000" y="4133850"/>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5926"/>
          </a:bodyPr>
          <a:lstStyle xmlns:a="http://schemas.openxmlformats.org/drawingml/2006/main"/>
          <a:p xmlns:a="http://schemas.openxmlformats.org/drawingml/2006/main">
            <a:pPr>
              <a:defRPr sz="1350" b="1">
                <a:solidFill>
                  <a:srgbClr val="FFFFFF"/>
                </a:solidFill>
                <a:latin typeface="Arial"/>
                <a:ea typeface="Arial"/>
                <a:cs typeface="Arial"/>
              </a:defRPr>
            </a:pPr>
            <a:r>
              <a:rPr sz="1350" b="1">
                <a:solidFill>
                  <a:srgbClr val="FFFFFF"/>
                </a:solidFill>
                <a:latin typeface="Arial"/>
                <a:ea typeface="Arial"/>
                <a:cs typeface="Arial"/>
              </a:rPr>
              <a:t>Implikasi</a:t>
            </a:r>
          </a:p>
        </p:txBody>
      </p:sp>
      <p:sp>
        <p:nvSpPr>
          <p:cNvPr id="9" name="">
            <a:extLst xmlns:a="http://schemas.openxmlformats.org/drawingml/2006/main">
              <a:ext uri="{FF2B5EF4-FFF2-40B4-BE49-F238E27FC236}">
                <a16:creationId xmlns:a16="http://schemas.microsoft.com/office/drawing/2014/main" id="{918D23B8-117B-4F46-88B6-2A84424B08E0}"/>
              </a:ext>
            </a:extLst>
          </p:cNvPr>
          <p:cNvSpPr>
            <a:spLocks xmlns:a="http://schemas.openxmlformats.org/drawingml/2006/main" noGrp="1"/>
          </p:cNvSpPr>
          <p:nvPr/>
        </p:nvSpPr>
        <p:spPr>
          <a:xfrm xmlns:a="http://schemas.openxmlformats.org/drawingml/2006/main">
            <a:off x="8763000" y="453390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0">
                <a:solidFill>
                  <a:srgbClr val="FFFFFF"/>
                </a:solidFill>
                <a:latin typeface="Arial"/>
                <a:ea typeface="Arial"/>
                <a:cs typeface="Arial"/>
              </a:defRPr>
            </a:pPr>
            <a:r>
              <a:rPr sz="1350" b="0">
                <a:solidFill>
                  <a:srgbClr val="FFFFFF"/>
                </a:solidFill>
                <a:latin typeface="Arial"/>
                <a:ea typeface="Arial"/>
                <a:cs typeface="Arial"/>
              </a:rPr>
              <a:t>Universe ini tidak homogen. Normalisasi harga membantu membandingkan lintasan, tetapi tidak menggantikan analisis return, volatilitas, dan likuiditas.</a:t>
            </a:r>
          </a:p>
        </p:txBody>
      </p:sp>
    </p:spTree>
    <p:extLst>
      <p:ext uri="{BB962C8B-B14F-4D97-AF65-F5344CB8AC3E}">
        <p14:creationId xmlns:p14="http://schemas.microsoft.com/office/powerpoint/2010/main" val="941597008"/>
      </p:ext>
    </p:extLst>
  </p:cSld>
</p:sld>
</file>

<file path=ppt/slides/slide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E4769F7-5D54-4F3B-A4D6-193443C48778}"/>
              </a:ext>
            </a:extLst>
          </p:cNvPr>
          <p:cNvSpPr>
            <a:spLocks xmlns:a="http://schemas.openxmlformats.org/drawingml/2006/main" noGrp="1"/>
          </p:cNvSpPr>
          <p:nvPr/>
        </p:nvSpPr>
        <p:spPr>
          <a:xfrm xmlns:a="http://schemas.openxmlformats.org/drawingml/2006/main">
            <a:off x="400050" y="209550"/>
            <a:ext cx="3810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defRPr sz="900" b="0">
                <a:solidFill>
                  <a:srgbClr val="B7B7B7"/>
                </a:solidFill>
                <a:latin typeface="Arial"/>
                <a:ea typeface="Arial"/>
                <a:cs typeface="Arial"/>
              </a:defRPr>
            </a:pPr>
            <a:r>
              <a:rPr sz="900" b="0">
                <a:solidFill>
                  <a:srgbClr val="B7B7B7"/>
                </a:solidFill>
                <a:latin typeface="Arial"/>
                <a:ea typeface="Arial"/>
                <a:cs typeface="Arial"/>
              </a:rPr>
              <a:t>RISIKO EMITEN</a:t>
            </a:r>
          </a:p>
        </p:txBody>
      </p:sp>
      <p:sp>
        <p:nvSpPr>
          <p:cNvPr id="2" name="">
            <a:extLst xmlns:a="http://schemas.openxmlformats.org/drawingml/2006/main">
              <a:ext uri="{FF2B5EF4-FFF2-40B4-BE49-F238E27FC236}">
                <a16:creationId xmlns:a16="http://schemas.microsoft.com/office/drawing/2014/main" id="{DAAEDF30-2026-4ACA-A156-2EF0FA2DF462}"/>
              </a:ext>
            </a:extLst>
          </p:cNvPr>
          <p:cNvSpPr>
            <a:spLocks xmlns:a="http://schemas.openxmlformats.org/drawingml/2006/main" noGrp="1"/>
          </p:cNvSpPr>
          <p:nvPr/>
        </p:nvSpPr>
        <p:spPr>
          <a:xfrm xmlns:a="http://schemas.openxmlformats.org/drawingml/2006/main">
            <a:off x="400050" y="457200"/>
            <a:ext cx="11239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Drawdown besar muncul pada beberapa rezim pasar</a:t>
            </a:r>
          </a:p>
        </p:txBody>
      </p:sp>
      <p:sp>
        <p:nvSpPr>
          <p:cNvPr id="3" name="">
            <a:extLst xmlns:a="http://schemas.openxmlformats.org/drawingml/2006/main">
              <a:ext uri="{FF2B5EF4-FFF2-40B4-BE49-F238E27FC236}">
                <a16:creationId xmlns:a16="http://schemas.microsoft.com/office/drawing/2014/main" id="{7A80F91E-4E02-49A2-9542-B6F2BD1D08A9}"/>
              </a:ext>
            </a:extLst>
          </p:cNvPr>
          <p:cNvSpPr>
            <a:spLocks xmlns:a="http://schemas.openxmlformats.org/drawingml/2006/main" noGrp="1"/>
          </p:cNvSpPr>
          <p:nvPr/>
        </p:nvSpPr>
        <p:spPr>
          <a:xfrm xmlns:a="http://schemas.openxmlformats.org/drawingml/2006/main">
            <a:off x="400050" y="1066800"/>
            <a:ext cx="11391900" cy="9525"/>
          </a:xfrm>
          <a:prstGeom xmlns:a="http://schemas.openxmlformats.org/drawingml/2006/main" prst="rect">
            <a:avLst/>
          </a:prstGeom>
          <a:solidFill xmlns:a="http://schemas.openxmlformats.org/drawingml/2006/main">
            <a:srgbClr val="45454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F58F47C-C2FC-49AA-92C0-C0558AC1FC99}"/>
              </a:ext>
            </a:extLst>
          </p:cNvPr>
          <p:cNvSpPr>
            <a:spLocks xmlns:a="http://schemas.openxmlformats.org/drawingml/2006/main" noGrp="1"/>
          </p:cNvSpPr>
          <p:nvPr/>
        </p:nvSpPr>
        <p:spPr>
          <a:xfrm xmlns:a="http://schemas.openxmlformats.org/drawingml/2006/main">
            <a:off x="11372850" y="6496050"/>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B7B7B7"/>
                </a:solidFill>
                <a:latin typeface="Arial"/>
                <a:ea typeface="Arial"/>
                <a:cs typeface="Arial"/>
              </a:defRPr>
            </a:pPr>
            <a:r>
              <a:rPr sz="825" b="0">
                <a:solidFill>
                  <a:srgbClr val="B7B7B7"/>
                </a:solidFill>
                <a:latin typeface="Arial"/>
                <a:ea typeface="Arial"/>
                <a:cs typeface="Arial"/>
              </a:rPr>
              <a:t>07</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e098615e13514fec"/>
          <a:stretch xmlns:a="http://schemas.openxmlformats.org/drawingml/2006/main"/>
        </p:blipFill>
        <p:spPr>
          <a:xfrm xmlns:a="http://schemas.openxmlformats.org/drawingml/2006/main">
            <a:off x="400050" y="1924050"/>
            <a:ext cx="8286750" cy="2762250"/>
          </a:xfrm>
          <a:prstGeom xmlns:a="http://schemas.openxmlformats.org/drawingml/2006/main" prst="roundRect">
            <a:avLst>
              <a:gd name="adj" fmla="val 2439"/>
            </a:avLst>
          </a:prstGeom>
        </p:spPr>
      </p:pic>
      <p:sp>
        <p:nvSpPr>
          <p:cNvPr id="6" name="">
            <a:extLst xmlns:a="http://schemas.openxmlformats.org/drawingml/2006/main">
              <a:ext uri="{FF2B5EF4-FFF2-40B4-BE49-F238E27FC236}">
                <a16:creationId xmlns:a16="http://schemas.microsoft.com/office/drawing/2014/main" id="{9CBA9E2A-6469-4350-937C-C93DD03C84A8}"/>
              </a:ext>
            </a:extLst>
          </p:cNvPr>
          <p:cNvSpPr>
            <a:spLocks xmlns:a="http://schemas.openxmlformats.org/drawingml/2006/main" noGrp="1"/>
          </p:cNvSpPr>
          <p:nvPr/>
        </p:nvSpPr>
        <p:spPr>
          <a:xfrm xmlns:a="http://schemas.openxmlformats.org/drawingml/2006/main">
            <a:off x="9029700" y="1457325"/>
            <a:ext cx="2762250" cy="1447800"/>
          </a:xfrm>
          <a:prstGeom xmlns:a="http://schemas.openxmlformats.org/drawingml/2006/main" prst="roundRect">
            <a:avLst>
              <a:gd name="adj" fmla="val 5263"/>
            </a:avLst>
          </a:prstGeom>
          <a:solidFill xmlns:a="http://schemas.openxmlformats.org/drawingml/2006/main">
            <a:srgbClr val="29292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8C7B24B-7016-4F38-846A-A70F7F16E457}"/>
              </a:ext>
            </a:extLst>
          </p:cNvPr>
          <p:cNvSpPr>
            <a:spLocks xmlns:a="http://schemas.openxmlformats.org/drawingml/2006/main" noGrp="1"/>
          </p:cNvSpPr>
          <p:nvPr/>
        </p:nvSpPr>
        <p:spPr>
          <a:xfrm xmlns:a="http://schemas.openxmlformats.org/drawingml/2006/main">
            <a:off x="9201150" y="1609725"/>
            <a:ext cx="2419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defRPr sz="1050" b="0">
                <a:solidFill>
                  <a:srgbClr val="B7B7B7"/>
                </a:solidFill>
                <a:latin typeface="Arial"/>
                <a:ea typeface="Arial"/>
                <a:cs typeface="Arial"/>
              </a:defRPr>
            </a:pPr>
            <a:r>
              <a:rPr sz="1050" b="0">
                <a:solidFill>
                  <a:srgbClr val="B7B7B7"/>
                </a:solidFill>
                <a:latin typeface="Arial"/>
                <a:ea typeface="Arial"/>
                <a:cs typeface="Arial"/>
              </a:rPr>
              <a:t>Rentang max drawdown</a:t>
            </a:r>
          </a:p>
        </p:txBody>
      </p:sp>
      <p:sp>
        <p:nvSpPr>
          <p:cNvPr id="8" name="">
            <a:extLst xmlns:a="http://schemas.openxmlformats.org/drawingml/2006/main">
              <a:ext uri="{FF2B5EF4-FFF2-40B4-BE49-F238E27FC236}">
                <a16:creationId xmlns:a16="http://schemas.microsoft.com/office/drawing/2014/main" id="{2E36C9C2-FFAC-4438-8007-B014045052FB}"/>
              </a:ext>
            </a:extLst>
          </p:cNvPr>
          <p:cNvSpPr>
            <a:spLocks xmlns:a="http://schemas.openxmlformats.org/drawingml/2006/main" noGrp="1"/>
          </p:cNvSpPr>
          <p:nvPr/>
        </p:nvSpPr>
        <p:spPr>
          <a:xfrm xmlns:a="http://schemas.openxmlformats.org/drawingml/2006/main">
            <a:off x="9201150" y="1905000"/>
            <a:ext cx="24193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993"/>
          </a:bodyPr>
          <a:lstStyle xmlns:a="http://schemas.openxmlformats.org/drawingml/2006/main"/>
          <a:p xmlns:a="http://schemas.openxmlformats.org/drawingml/2006/main">
            <a:pPr>
              <a:defRPr sz="2550" b="0">
                <a:solidFill>
                  <a:srgbClr val="FF5B5B"/>
                </a:solidFill>
                <a:latin typeface="Arial"/>
                <a:ea typeface="Arial"/>
                <a:cs typeface="Arial"/>
              </a:defRPr>
            </a:pPr>
            <a:r>
              <a:rPr sz="2550" b="0">
                <a:solidFill>
                  <a:srgbClr val="FF5B5B"/>
                </a:solidFill>
                <a:latin typeface="Arial"/>
                <a:ea typeface="Arial"/>
                <a:cs typeface="Arial"/>
              </a:rPr>
              <a:t>−55% s.d. −82%</a:t>
            </a:r>
          </a:p>
        </p:txBody>
      </p:sp>
      <p:sp>
        <p:nvSpPr>
          <p:cNvPr id="9" name="">
            <a:extLst xmlns:a="http://schemas.openxmlformats.org/drawingml/2006/main">
              <a:ext uri="{FF2B5EF4-FFF2-40B4-BE49-F238E27FC236}">
                <a16:creationId xmlns:a16="http://schemas.microsoft.com/office/drawing/2014/main" id="{36470C10-FB8B-460B-8C92-BE7C840F4EB3}"/>
              </a:ext>
            </a:extLst>
          </p:cNvPr>
          <p:cNvSpPr>
            <a:spLocks xmlns:a="http://schemas.openxmlformats.org/drawingml/2006/main" noGrp="1"/>
          </p:cNvSpPr>
          <p:nvPr/>
        </p:nvSpPr>
        <p:spPr>
          <a:xfrm xmlns:a="http://schemas.openxmlformats.org/drawingml/2006/main">
            <a:off x="9201150" y="2524125"/>
            <a:ext cx="2419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900" b="0">
                <a:solidFill>
                  <a:srgbClr val="B7B7B7"/>
                </a:solidFill>
                <a:latin typeface="Arial"/>
                <a:ea typeface="Arial"/>
                <a:cs typeface="Arial"/>
              </a:defRPr>
            </a:pPr>
            <a:r>
              <a:rPr sz="900" b="0">
                <a:solidFill>
                  <a:srgbClr val="B7B7B7"/>
                </a:solidFill>
                <a:latin typeface="Arial"/>
                <a:ea typeface="Arial"/>
                <a:cs typeface="Arial"/>
              </a:rPr>
              <a:t>Lima skor teratas</a:t>
            </a:r>
          </a:p>
        </p:txBody>
      </p:sp>
      <p:sp>
        <p:nvSpPr>
          <p:cNvPr id="10" name="">
            <a:extLst xmlns:a="http://schemas.openxmlformats.org/drawingml/2006/main">
              <a:ext uri="{FF2B5EF4-FFF2-40B4-BE49-F238E27FC236}">
                <a16:creationId xmlns:a16="http://schemas.microsoft.com/office/drawing/2014/main" id="{84E31BDC-5F6D-4870-9848-2E58BBF5AF69}"/>
              </a:ext>
            </a:extLst>
          </p:cNvPr>
          <p:cNvSpPr>
            <a:spLocks xmlns:a="http://schemas.openxmlformats.org/drawingml/2006/main" noGrp="1"/>
          </p:cNvSpPr>
          <p:nvPr/>
        </p:nvSpPr>
        <p:spPr>
          <a:xfrm xmlns:a="http://schemas.openxmlformats.org/drawingml/2006/main">
            <a:off x="9029700" y="3286125"/>
            <a:ext cx="26193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000"/>
          </a:bodyPr>
          <a:lstStyle xmlns:a="http://schemas.openxmlformats.org/drawingml/2006/main"/>
          <a:p xmlns:a="http://schemas.openxmlformats.org/drawingml/2006/main">
            <a:pPr>
              <a:defRPr sz="1500" b="0">
                <a:solidFill>
                  <a:srgbClr val="FFFFFF"/>
                </a:solidFill>
                <a:latin typeface="Arial"/>
                <a:ea typeface="Arial"/>
                <a:cs typeface="Arial"/>
              </a:defRPr>
            </a:pPr>
            <a:r>
              <a:rPr sz="1500" b="0">
                <a:solidFill>
                  <a:srgbClr val="FFFFFF"/>
                </a:solidFill>
                <a:latin typeface="Arial"/>
                <a:ea typeface="Arial"/>
                <a:cs typeface="Arial"/>
              </a:rPr>
              <a:t>Drawdown historis berulang dan tidak pulih seragam antar-emiten. Risiko ekor tetap material meski composite score tinggi.</a:t>
            </a:r>
          </a:p>
        </p:txBody>
      </p:sp>
      <p:sp>
        <p:nvSpPr>
          <p:cNvPr id="11" name="">
            <a:extLst xmlns:a="http://schemas.openxmlformats.org/drawingml/2006/main">
              <a:ext uri="{FF2B5EF4-FFF2-40B4-BE49-F238E27FC236}">
                <a16:creationId xmlns:a16="http://schemas.microsoft.com/office/drawing/2014/main" id="{FDA38F3F-82C4-47B8-AE2E-F2D114E465E8}"/>
              </a:ext>
            </a:extLst>
          </p:cNvPr>
          <p:cNvSpPr>
            <a:spLocks xmlns:a="http://schemas.openxmlformats.org/drawingml/2006/main" noGrp="1"/>
          </p:cNvSpPr>
          <p:nvPr/>
        </p:nvSpPr>
        <p:spPr>
          <a:xfrm xmlns:a="http://schemas.openxmlformats.org/drawingml/2006/main">
            <a:off x="9029700" y="4714875"/>
            <a:ext cx="2619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392"/>
          </a:bodyPr>
          <a:lstStyle xmlns:a="http://schemas.openxmlformats.org/drawingml/2006/main"/>
          <a:p xmlns:a="http://schemas.openxmlformats.org/drawingml/2006/main">
            <a:pPr>
              <a:defRPr sz="1275" b="1">
                <a:solidFill>
                  <a:srgbClr val="B7B7B7"/>
                </a:solidFill>
                <a:latin typeface="Arial"/>
                <a:ea typeface="Arial"/>
                <a:cs typeface="Arial"/>
              </a:defRPr>
            </a:pPr>
            <a:r>
              <a:rPr sz="1275" b="1">
                <a:solidFill>
                  <a:srgbClr val="B7B7B7"/>
                </a:solidFill>
                <a:latin typeface="Arial"/>
                <a:ea typeface="Arial"/>
                <a:cs typeface="Arial"/>
              </a:rPr>
              <a:t>Fokus kontrol</a:t>
            </a:r>
          </a:p>
        </p:txBody>
      </p:sp>
      <p:sp>
        <p:nvSpPr>
          <p:cNvPr id="12" name="">
            <a:extLst xmlns:a="http://schemas.openxmlformats.org/drawingml/2006/main">
              <a:ext uri="{FF2B5EF4-FFF2-40B4-BE49-F238E27FC236}">
                <a16:creationId xmlns:a16="http://schemas.microsoft.com/office/drawing/2014/main" id="{DE61DF7C-2648-4C50-83B3-14FD2074A546}"/>
              </a:ext>
            </a:extLst>
          </p:cNvPr>
          <p:cNvSpPr>
            <a:spLocks xmlns:a="http://schemas.openxmlformats.org/drawingml/2006/main" noGrp="1"/>
          </p:cNvSpPr>
          <p:nvPr/>
        </p:nvSpPr>
        <p:spPr>
          <a:xfrm xmlns:a="http://schemas.openxmlformats.org/drawingml/2006/main">
            <a:off x="9029700" y="5067300"/>
            <a:ext cx="261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0">
                <a:solidFill>
                  <a:srgbClr val="6FD3FF"/>
                </a:solidFill>
                <a:latin typeface="Arial"/>
                <a:ea typeface="Arial"/>
                <a:cs typeface="Arial"/>
              </a:defRPr>
            </a:pPr>
            <a:r>
              <a:rPr sz="1350" b="0">
                <a:solidFill>
                  <a:srgbClr val="6FD3FF"/>
                </a:solidFill>
                <a:latin typeface="Arial"/>
                <a:ea typeface="Arial"/>
                <a:cs typeface="Arial"/>
              </a:rPr>
              <a:t>Batas posisi, stop policy, dan evaluasi per rezim perlu diuji bersama model.</a:t>
            </a:r>
          </a:p>
        </p:txBody>
      </p:sp>
    </p:spTree>
    <p:extLst>
      <p:ext uri="{BB962C8B-B14F-4D97-AF65-F5344CB8AC3E}">
        <p14:creationId xmlns:p14="http://schemas.microsoft.com/office/powerpoint/2010/main" val="281794044"/>
      </p:ext>
    </p:extLst>
  </p:cSld>
</p:sld>
</file>

<file path=ppt/slides/slide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F70EA333-2F51-4146-8423-1C4341A26442}"/>
              </a:ext>
            </a:extLst>
          </p:cNvPr>
          <p:cNvSpPr>
            <a:spLocks xmlns:a="http://schemas.openxmlformats.org/drawingml/2006/main" noGrp="1"/>
          </p:cNvSpPr>
          <p:nvPr/>
        </p:nvSpPr>
        <p:spPr>
          <a:xfrm xmlns:a="http://schemas.openxmlformats.org/drawingml/2006/main">
            <a:off x="400050" y="209550"/>
            <a:ext cx="3810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defRPr sz="900" b="0">
                <a:solidFill>
                  <a:srgbClr val="B7B7B7"/>
                </a:solidFill>
                <a:latin typeface="Arial"/>
                <a:ea typeface="Arial"/>
                <a:cs typeface="Arial"/>
              </a:defRPr>
            </a:pPr>
            <a:r>
              <a:rPr sz="900" b="0">
                <a:solidFill>
                  <a:srgbClr val="B7B7B7"/>
                </a:solidFill>
                <a:latin typeface="Arial"/>
                <a:ea typeface="Arial"/>
                <a:cs typeface="Arial"/>
              </a:rPr>
              <a:t>WATCHLIST RISET</a:t>
            </a:r>
          </a:p>
        </p:txBody>
      </p:sp>
      <p:sp>
        <p:nvSpPr>
          <p:cNvPr id="2" name="">
            <a:extLst xmlns:a="http://schemas.openxmlformats.org/drawingml/2006/main">
              <a:ext uri="{FF2B5EF4-FFF2-40B4-BE49-F238E27FC236}">
                <a16:creationId xmlns:a16="http://schemas.microsoft.com/office/drawing/2014/main" id="{3E6AFA70-5065-4833-8CF1-CF4DC7E858FC}"/>
              </a:ext>
            </a:extLst>
          </p:cNvPr>
          <p:cNvSpPr>
            <a:spLocks xmlns:a="http://schemas.openxmlformats.org/drawingml/2006/main" noGrp="1"/>
          </p:cNvSpPr>
          <p:nvPr/>
        </p:nvSpPr>
        <p:spPr>
          <a:xfrm xmlns:a="http://schemas.openxmlformats.org/drawingml/2006/main">
            <a:off x="400050" y="457200"/>
            <a:ext cx="11239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Prioritas riset berdasarkan sinyal teknikal</a:t>
            </a:r>
          </a:p>
        </p:txBody>
      </p:sp>
      <p:sp>
        <p:nvSpPr>
          <p:cNvPr id="3" name="">
            <a:extLst xmlns:a="http://schemas.openxmlformats.org/drawingml/2006/main">
              <a:ext uri="{FF2B5EF4-FFF2-40B4-BE49-F238E27FC236}">
                <a16:creationId xmlns:a16="http://schemas.microsoft.com/office/drawing/2014/main" id="{52E14AE5-F109-438F-A44A-0825FAB93A61}"/>
              </a:ext>
            </a:extLst>
          </p:cNvPr>
          <p:cNvSpPr>
            <a:spLocks xmlns:a="http://schemas.openxmlformats.org/drawingml/2006/main" noGrp="1"/>
          </p:cNvSpPr>
          <p:nvPr/>
        </p:nvSpPr>
        <p:spPr>
          <a:xfrm xmlns:a="http://schemas.openxmlformats.org/drawingml/2006/main">
            <a:off x="400050" y="1066800"/>
            <a:ext cx="11391900" cy="9525"/>
          </a:xfrm>
          <a:prstGeom xmlns:a="http://schemas.openxmlformats.org/drawingml/2006/main" prst="rect">
            <a:avLst/>
          </a:prstGeom>
          <a:solidFill xmlns:a="http://schemas.openxmlformats.org/drawingml/2006/main">
            <a:srgbClr val="45454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844F34A-890A-429B-9CB0-48C1FC0ED0E8}"/>
              </a:ext>
            </a:extLst>
          </p:cNvPr>
          <p:cNvSpPr>
            <a:spLocks xmlns:a="http://schemas.openxmlformats.org/drawingml/2006/main" noGrp="1"/>
          </p:cNvSpPr>
          <p:nvPr/>
        </p:nvSpPr>
        <p:spPr>
          <a:xfrm xmlns:a="http://schemas.openxmlformats.org/drawingml/2006/main">
            <a:off x="11372850" y="6496050"/>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B7B7B7"/>
                </a:solidFill>
                <a:latin typeface="Arial"/>
                <a:ea typeface="Arial"/>
                <a:cs typeface="Arial"/>
              </a:defRPr>
            </a:pPr>
            <a:r>
              <a:rPr sz="825" b="0">
                <a:solidFill>
                  <a:srgbClr val="B7B7B7"/>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DFF9AE07-8D16-4662-84E9-424A63B007A7}"/>
              </a:ext>
            </a:extLst>
          </p:cNvPr>
          <p:cNvSpPr>
            <a:spLocks xmlns:a="http://schemas.openxmlformats.org/drawingml/2006/main" noGrp="1"/>
          </p:cNvSpPr>
          <p:nvPr/>
        </p:nvSpPr>
        <p:spPr>
          <a:xfrm xmlns:a="http://schemas.openxmlformats.org/drawingml/2006/main">
            <a:off x="400050" y="1381125"/>
            <a:ext cx="5334000" cy="1866900"/>
          </a:xfrm>
          <a:prstGeom xmlns:a="http://schemas.openxmlformats.org/drawingml/2006/main" prst="roundRect">
            <a:avLst>
              <a:gd name="adj" fmla="val 4082"/>
            </a:avLst>
          </a:prstGeom>
          <a:solidFill xmlns:a="http://schemas.openxmlformats.org/drawingml/2006/main">
            <a:srgbClr val="29292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77E45A3-6470-43F3-92DD-8713766C3B6E}"/>
              </a:ext>
            </a:extLst>
          </p:cNvPr>
          <p:cNvSpPr>
            <a:spLocks xmlns:a="http://schemas.openxmlformats.org/drawingml/2006/main" noGrp="1"/>
          </p:cNvSpPr>
          <p:nvPr/>
        </p:nvSpPr>
        <p:spPr>
          <a:xfrm xmlns:a="http://schemas.openxmlformats.org/drawingml/2006/main">
            <a:off x="609600" y="1571625"/>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913"/>
          </a:bodyPr>
          <a:lstStyle xmlns:a="http://schemas.openxmlformats.org/drawingml/2006/main"/>
          <a:p xmlns:a="http://schemas.openxmlformats.org/drawingml/2006/main">
            <a:pPr>
              <a:defRPr sz="1725" b="1">
                <a:solidFill>
                  <a:srgbClr val="FFFFFF"/>
                </a:solidFill>
                <a:latin typeface="Arial"/>
                <a:ea typeface="Arial"/>
                <a:cs typeface="Arial"/>
              </a:defRPr>
            </a:pPr>
            <a:r>
              <a:rPr sz="1725" b="1">
                <a:solidFill>
                  <a:srgbClr val="FFFFFF"/>
                </a:solidFill>
                <a:latin typeface="Arial"/>
                <a:ea typeface="Arial"/>
                <a:cs typeface="Arial"/>
              </a:rPr>
              <a:t>ADRO.JK</a:t>
            </a:r>
          </a:p>
        </p:txBody>
      </p:sp>
      <p:sp>
        <p:nvSpPr>
          <p:cNvPr id="7" name="">
            <a:extLst xmlns:a="http://schemas.openxmlformats.org/drawingml/2006/main">
              <a:ext uri="{FF2B5EF4-FFF2-40B4-BE49-F238E27FC236}">
                <a16:creationId xmlns:a16="http://schemas.microsoft.com/office/drawing/2014/main" id="{E539F90B-F2A7-4AA7-96E2-E724B373165F}"/>
              </a:ext>
            </a:extLst>
          </p:cNvPr>
          <p:cNvSpPr>
            <a:spLocks xmlns:a="http://schemas.openxmlformats.org/drawingml/2006/main" noGrp="1"/>
          </p:cNvSpPr>
          <p:nvPr/>
        </p:nvSpPr>
        <p:spPr>
          <a:xfrm xmlns:a="http://schemas.openxmlformats.org/drawingml/2006/main">
            <a:off x="3543300" y="1590675"/>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6FD3FF"/>
                </a:solidFill>
                <a:latin typeface="Arial"/>
                <a:ea typeface="Arial"/>
                <a:cs typeface="Arial"/>
              </a:defRPr>
            </a:pPr>
            <a:r>
              <a:rPr sz="1275" b="1">
                <a:solidFill>
                  <a:srgbClr val="6FD3FF"/>
                </a:solidFill>
                <a:latin typeface="Arial"/>
                <a:ea typeface="Arial"/>
                <a:cs typeface="Arial"/>
              </a:rPr>
              <a:t>Skor 78,18</a:t>
            </a:r>
          </a:p>
        </p:txBody>
      </p:sp>
      <p:sp>
        <p:nvSpPr>
          <p:cNvPr id="8" name="">
            <a:extLst xmlns:a="http://schemas.openxmlformats.org/drawingml/2006/main">
              <a:ext uri="{FF2B5EF4-FFF2-40B4-BE49-F238E27FC236}">
                <a16:creationId xmlns:a16="http://schemas.microsoft.com/office/drawing/2014/main" id="{4C4B5F69-DA6F-4F51-9E6F-D68DD0E00C90}"/>
              </a:ext>
            </a:extLst>
          </p:cNvPr>
          <p:cNvSpPr>
            <a:spLocks xmlns:a="http://schemas.openxmlformats.org/drawingml/2006/main" noGrp="1"/>
          </p:cNvSpPr>
          <p:nvPr/>
        </p:nvSpPr>
        <p:spPr>
          <a:xfrm xmlns:a="http://schemas.openxmlformats.org/drawingml/2006/main">
            <a:off x="609600" y="2114550"/>
            <a:ext cx="485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425" b="0">
                <a:solidFill>
                  <a:srgbClr val="B7B7B7"/>
                </a:solidFill>
                <a:latin typeface="Arial"/>
                <a:ea typeface="Arial"/>
                <a:cs typeface="Arial"/>
              </a:defRPr>
            </a:pPr>
            <a:r>
              <a:rPr sz="1425" b="0">
                <a:solidFill>
                  <a:srgbClr val="B7B7B7"/>
                </a:solidFill>
                <a:latin typeface="Arial"/>
                <a:ea typeface="Arial"/>
                <a:cs typeface="Arial"/>
              </a:rPr>
              <a:t>Return 12 bulan +60,2%. Tren kuat, drawdown historis tetap tinggi.</a:t>
            </a:r>
          </a:p>
        </p:txBody>
      </p:sp>
      <p:sp>
        <p:nvSpPr>
          <p:cNvPr id="9" name="">
            <a:extLst xmlns:a="http://schemas.openxmlformats.org/drawingml/2006/main">
              <a:ext uri="{FF2B5EF4-FFF2-40B4-BE49-F238E27FC236}">
                <a16:creationId xmlns:a16="http://schemas.microsoft.com/office/drawing/2014/main" id="{AC4863F7-E8AD-44EC-B9A0-933728571848}"/>
              </a:ext>
            </a:extLst>
          </p:cNvPr>
          <p:cNvSpPr>
            <a:spLocks xmlns:a="http://schemas.openxmlformats.org/drawingml/2006/main" noGrp="1"/>
          </p:cNvSpPr>
          <p:nvPr/>
        </p:nvSpPr>
        <p:spPr>
          <a:xfrm xmlns:a="http://schemas.openxmlformats.org/drawingml/2006/main">
            <a:off x="6115050" y="1381125"/>
            <a:ext cx="5334000" cy="1866900"/>
          </a:xfrm>
          <a:prstGeom xmlns:a="http://schemas.openxmlformats.org/drawingml/2006/main" prst="roundRect">
            <a:avLst>
              <a:gd name="adj" fmla="val 4082"/>
            </a:avLst>
          </a:prstGeom>
          <a:solidFill xmlns:a="http://schemas.openxmlformats.org/drawingml/2006/main">
            <a:srgbClr val="29292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338B6E7-6B1B-48C9-AF9A-5A21D817106E}"/>
              </a:ext>
            </a:extLst>
          </p:cNvPr>
          <p:cNvSpPr>
            <a:spLocks xmlns:a="http://schemas.openxmlformats.org/drawingml/2006/main" noGrp="1"/>
          </p:cNvSpPr>
          <p:nvPr/>
        </p:nvSpPr>
        <p:spPr>
          <a:xfrm xmlns:a="http://schemas.openxmlformats.org/drawingml/2006/main">
            <a:off x="6324600" y="1571625"/>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913"/>
          </a:bodyPr>
          <a:lstStyle xmlns:a="http://schemas.openxmlformats.org/drawingml/2006/main"/>
          <a:p xmlns:a="http://schemas.openxmlformats.org/drawingml/2006/main">
            <a:pPr>
              <a:defRPr sz="1725" b="1">
                <a:solidFill>
                  <a:srgbClr val="FFFFFF"/>
                </a:solidFill>
                <a:latin typeface="Arial"/>
                <a:ea typeface="Arial"/>
                <a:cs typeface="Arial"/>
              </a:defRPr>
            </a:pPr>
            <a:r>
              <a:rPr sz="1725" b="1">
                <a:solidFill>
                  <a:srgbClr val="FFFFFF"/>
                </a:solidFill>
                <a:latin typeface="Arial"/>
                <a:ea typeface="Arial"/>
                <a:cs typeface="Arial"/>
              </a:rPr>
              <a:t>PTBA.JK</a:t>
            </a:r>
          </a:p>
        </p:txBody>
      </p:sp>
      <p:sp>
        <p:nvSpPr>
          <p:cNvPr id="11" name="">
            <a:extLst xmlns:a="http://schemas.openxmlformats.org/drawingml/2006/main">
              <a:ext uri="{FF2B5EF4-FFF2-40B4-BE49-F238E27FC236}">
                <a16:creationId xmlns:a16="http://schemas.microsoft.com/office/drawing/2014/main" id="{EABD5804-5033-4478-8886-38EC21BC23E3}"/>
              </a:ext>
            </a:extLst>
          </p:cNvPr>
          <p:cNvSpPr>
            <a:spLocks xmlns:a="http://schemas.openxmlformats.org/drawingml/2006/main" noGrp="1"/>
          </p:cNvSpPr>
          <p:nvPr/>
        </p:nvSpPr>
        <p:spPr>
          <a:xfrm xmlns:a="http://schemas.openxmlformats.org/drawingml/2006/main">
            <a:off x="9258300" y="1590675"/>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58D68D"/>
                </a:solidFill>
                <a:latin typeface="Arial"/>
                <a:ea typeface="Arial"/>
                <a:cs typeface="Arial"/>
              </a:defRPr>
            </a:pPr>
            <a:r>
              <a:rPr sz="1275" b="1">
                <a:solidFill>
                  <a:srgbClr val="58D68D"/>
                </a:solidFill>
                <a:latin typeface="Arial"/>
                <a:ea typeface="Arial"/>
                <a:cs typeface="Arial"/>
              </a:rPr>
              <a:t>Skor 67,73</a:t>
            </a:r>
          </a:p>
        </p:txBody>
      </p:sp>
      <p:sp>
        <p:nvSpPr>
          <p:cNvPr id="12" name="">
            <a:extLst xmlns:a="http://schemas.openxmlformats.org/drawingml/2006/main">
              <a:ext uri="{FF2B5EF4-FFF2-40B4-BE49-F238E27FC236}">
                <a16:creationId xmlns:a16="http://schemas.microsoft.com/office/drawing/2014/main" id="{BF7FFE1C-BE69-4A05-BA86-A1788B358E30}"/>
              </a:ext>
            </a:extLst>
          </p:cNvPr>
          <p:cNvSpPr>
            <a:spLocks xmlns:a="http://schemas.openxmlformats.org/drawingml/2006/main" noGrp="1"/>
          </p:cNvSpPr>
          <p:nvPr/>
        </p:nvSpPr>
        <p:spPr>
          <a:xfrm xmlns:a="http://schemas.openxmlformats.org/drawingml/2006/main">
            <a:off x="6324600" y="2114550"/>
            <a:ext cx="485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425" b="0">
                <a:solidFill>
                  <a:srgbClr val="B7B7B7"/>
                </a:solidFill>
                <a:latin typeface="Arial"/>
                <a:ea typeface="Arial"/>
                <a:cs typeface="Arial"/>
              </a:defRPr>
            </a:pPr>
            <a:r>
              <a:rPr sz="1425" b="0">
                <a:solidFill>
                  <a:srgbClr val="B7B7B7"/>
                </a:solidFill>
                <a:latin typeface="Arial"/>
                <a:ea typeface="Arial"/>
                <a:cs typeface="Arial"/>
              </a:rPr>
              <a:t>Return 1 bulan +31,9% dan 3 bulan +27,1%. Momentum paling kuat pada tabel.</a:t>
            </a:r>
          </a:p>
        </p:txBody>
      </p:sp>
      <p:sp>
        <p:nvSpPr>
          <p:cNvPr id="13" name="">
            <a:extLst xmlns:a="http://schemas.openxmlformats.org/drawingml/2006/main">
              <a:ext uri="{FF2B5EF4-FFF2-40B4-BE49-F238E27FC236}">
                <a16:creationId xmlns:a16="http://schemas.microsoft.com/office/drawing/2014/main" id="{E07ABF1E-89AB-4EC6-A348-60B696985C01}"/>
              </a:ext>
            </a:extLst>
          </p:cNvPr>
          <p:cNvSpPr>
            <a:spLocks xmlns:a="http://schemas.openxmlformats.org/drawingml/2006/main" noGrp="1"/>
          </p:cNvSpPr>
          <p:nvPr/>
        </p:nvSpPr>
        <p:spPr>
          <a:xfrm xmlns:a="http://schemas.openxmlformats.org/drawingml/2006/main">
            <a:off x="400050" y="3619500"/>
            <a:ext cx="5334000" cy="1866900"/>
          </a:xfrm>
          <a:prstGeom xmlns:a="http://schemas.openxmlformats.org/drawingml/2006/main" prst="roundRect">
            <a:avLst>
              <a:gd name="adj" fmla="val 4082"/>
            </a:avLst>
          </a:prstGeom>
          <a:solidFill xmlns:a="http://schemas.openxmlformats.org/drawingml/2006/main">
            <a:srgbClr val="29292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F2E6F352-A6B2-45E6-9963-A1EB18967DBC}"/>
              </a:ext>
            </a:extLst>
          </p:cNvPr>
          <p:cNvSpPr>
            <a:spLocks xmlns:a="http://schemas.openxmlformats.org/drawingml/2006/main" noGrp="1"/>
          </p:cNvSpPr>
          <p:nvPr/>
        </p:nvSpPr>
        <p:spPr>
          <a:xfrm xmlns:a="http://schemas.openxmlformats.org/drawingml/2006/main">
            <a:off x="609600" y="3810000"/>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913"/>
          </a:bodyPr>
          <a:lstStyle xmlns:a="http://schemas.openxmlformats.org/drawingml/2006/main"/>
          <a:p xmlns:a="http://schemas.openxmlformats.org/drawingml/2006/main">
            <a:pPr>
              <a:defRPr sz="1725" b="1">
                <a:solidFill>
                  <a:srgbClr val="FFFFFF"/>
                </a:solidFill>
                <a:latin typeface="Arial"/>
                <a:ea typeface="Arial"/>
                <a:cs typeface="Arial"/>
              </a:defRPr>
            </a:pPr>
            <a:r>
              <a:rPr sz="1725" b="1">
                <a:solidFill>
                  <a:srgbClr val="FFFFFF"/>
                </a:solidFill>
                <a:latin typeface="Arial"/>
                <a:ea typeface="Arial"/>
                <a:cs typeface="Arial"/>
              </a:rPr>
              <a:t>BBRI.JK</a:t>
            </a:r>
          </a:p>
        </p:txBody>
      </p:sp>
      <p:sp>
        <p:nvSpPr>
          <p:cNvPr id="15" name="">
            <a:extLst xmlns:a="http://schemas.openxmlformats.org/drawingml/2006/main">
              <a:ext uri="{FF2B5EF4-FFF2-40B4-BE49-F238E27FC236}">
                <a16:creationId xmlns:a16="http://schemas.microsoft.com/office/drawing/2014/main" id="{EE18A213-2F96-4786-8BDB-A9CD636B1631}"/>
              </a:ext>
            </a:extLst>
          </p:cNvPr>
          <p:cNvSpPr>
            <a:spLocks xmlns:a="http://schemas.openxmlformats.org/drawingml/2006/main" noGrp="1"/>
          </p:cNvSpPr>
          <p:nvPr/>
        </p:nvSpPr>
        <p:spPr>
          <a:xfrm xmlns:a="http://schemas.openxmlformats.org/drawingml/2006/main">
            <a:off x="3543300" y="38290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F3C969"/>
                </a:solidFill>
                <a:latin typeface="Arial"/>
                <a:ea typeface="Arial"/>
                <a:cs typeface="Arial"/>
              </a:defRPr>
            </a:pPr>
            <a:r>
              <a:rPr sz="1275" b="1">
                <a:solidFill>
                  <a:srgbClr val="F3C969"/>
                </a:solidFill>
                <a:latin typeface="Arial"/>
                <a:ea typeface="Arial"/>
                <a:cs typeface="Arial"/>
              </a:rPr>
              <a:t>Skor 69,70</a:t>
            </a:r>
          </a:p>
        </p:txBody>
      </p:sp>
      <p:sp>
        <p:nvSpPr>
          <p:cNvPr id="16" name="">
            <a:extLst xmlns:a="http://schemas.openxmlformats.org/drawingml/2006/main">
              <a:ext uri="{FF2B5EF4-FFF2-40B4-BE49-F238E27FC236}">
                <a16:creationId xmlns:a16="http://schemas.microsoft.com/office/drawing/2014/main" id="{E43477CB-6ACF-4BE9-A59E-5674C8212199}"/>
              </a:ext>
            </a:extLst>
          </p:cNvPr>
          <p:cNvSpPr>
            <a:spLocks xmlns:a="http://schemas.openxmlformats.org/drawingml/2006/main" noGrp="1"/>
          </p:cNvSpPr>
          <p:nvPr/>
        </p:nvSpPr>
        <p:spPr>
          <a:xfrm xmlns:a="http://schemas.openxmlformats.org/drawingml/2006/main">
            <a:off x="609600" y="4352925"/>
            <a:ext cx="485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425" b="0">
                <a:solidFill>
                  <a:srgbClr val="B7B7B7"/>
                </a:solidFill>
                <a:latin typeface="Arial"/>
                <a:ea typeface="Arial"/>
                <a:cs typeface="Arial"/>
              </a:defRPr>
            </a:pPr>
            <a:r>
              <a:rPr sz="1425" b="0">
                <a:solidFill>
                  <a:srgbClr val="B7B7B7"/>
                </a:solidFill>
                <a:latin typeface="Arial"/>
                <a:ea typeface="Arial"/>
                <a:cs typeface="Arial"/>
              </a:rPr>
              <a:t>Skor tinggi, tetapi return 12 bulan −20,8%. Perlu konfirmasi perubahan tren.</a:t>
            </a:r>
          </a:p>
        </p:txBody>
      </p:sp>
      <p:sp>
        <p:nvSpPr>
          <p:cNvPr id="17" name="">
            <a:extLst xmlns:a="http://schemas.openxmlformats.org/drawingml/2006/main">
              <a:ext uri="{FF2B5EF4-FFF2-40B4-BE49-F238E27FC236}">
                <a16:creationId xmlns:a16="http://schemas.microsoft.com/office/drawing/2014/main" id="{A8CB2544-735F-49A6-A5B1-760E9E74B989}"/>
              </a:ext>
            </a:extLst>
          </p:cNvPr>
          <p:cNvSpPr>
            <a:spLocks xmlns:a="http://schemas.openxmlformats.org/drawingml/2006/main" noGrp="1"/>
          </p:cNvSpPr>
          <p:nvPr/>
        </p:nvSpPr>
        <p:spPr>
          <a:xfrm xmlns:a="http://schemas.openxmlformats.org/drawingml/2006/main">
            <a:off x="6115050" y="3619500"/>
            <a:ext cx="5334000" cy="1866900"/>
          </a:xfrm>
          <a:prstGeom xmlns:a="http://schemas.openxmlformats.org/drawingml/2006/main" prst="roundRect">
            <a:avLst>
              <a:gd name="adj" fmla="val 4082"/>
            </a:avLst>
          </a:prstGeom>
          <a:solidFill xmlns:a="http://schemas.openxmlformats.org/drawingml/2006/main">
            <a:srgbClr val="292929"/>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B95153E-BD2B-4B4C-9FB2-7E22C3B5592E}"/>
              </a:ext>
            </a:extLst>
          </p:cNvPr>
          <p:cNvSpPr>
            <a:spLocks xmlns:a="http://schemas.openxmlformats.org/drawingml/2006/main" noGrp="1"/>
          </p:cNvSpPr>
          <p:nvPr/>
        </p:nvSpPr>
        <p:spPr>
          <a:xfrm xmlns:a="http://schemas.openxmlformats.org/drawingml/2006/main">
            <a:off x="6324600" y="3810000"/>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913"/>
          </a:bodyPr>
          <a:lstStyle xmlns:a="http://schemas.openxmlformats.org/drawingml/2006/main"/>
          <a:p xmlns:a="http://schemas.openxmlformats.org/drawingml/2006/main">
            <a:pPr>
              <a:defRPr sz="1725" b="1">
                <a:solidFill>
                  <a:srgbClr val="FFFFFF"/>
                </a:solidFill>
                <a:latin typeface="Arial"/>
                <a:ea typeface="Arial"/>
                <a:cs typeface="Arial"/>
              </a:defRPr>
            </a:pPr>
            <a:r>
              <a:rPr sz="1725" b="1">
                <a:solidFill>
                  <a:srgbClr val="FFFFFF"/>
                </a:solidFill>
                <a:latin typeface="Arial"/>
                <a:ea typeface="Arial"/>
                <a:cs typeface="Arial"/>
              </a:rPr>
              <a:t>JPFA.JK</a:t>
            </a:r>
          </a:p>
        </p:txBody>
      </p:sp>
      <p:sp>
        <p:nvSpPr>
          <p:cNvPr id="19" name="">
            <a:extLst xmlns:a="http://schemas.openxmlformats.org/drawingml/2006/main">
              <a:ext uri="{FF2B5EF4-FFF2-40B4-BE49-F238E27FC236}">
                <a16:creationId xmlns:a16="http://schemas.microsoft.com/office/drawing/2014/main" id="{F216EB1C-48CA-4DC7-B8F9-EE85C2AA978B}"/>
              </a:ext>
            </a:extLst>
          </p:cNvPr>
          <p:cNvSpPr>
            <a:spLocks xmlns:a="http://schemas.openxmlformats.org/drawingml/2006/main" noGrp="1"/>
          </p:cNvSpPr>
          <p:nvPr/>
        </p:nvSpPr>
        <p:spPr>
          <a:xfrm xmlns:a="http://schemas.openxmlformats.org/drawingml/2006/main">
            <a:off x="9258300" y="38290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defRPr sz="1275" b="1">
                <a:solidFill>
                  <a:srgbClr val="FF5B5B"/>
                </a:solidFill>
                <a:latin typeface="Arial"/>
                <a:ea typeface="Arial"/>
                <a:cs typeface="Arial"/>
              </a:defRPr>
            </a:pPr>
            <a:r>
              <a:rPr sz="1275" b="1">
                <a:solidFill>
                  <a:srgbClr val="FF5B5B"/>
                </a:solidFill>
                <a:latin typeface="Arial"/>
                <a:ea typeface="Arial"/>
                <a:cs typeface="Arial"/>
              </a:rPr>
              <a:t>Skor 64,24</a:t>
            </a:r>
          </a:p>
        </p:txBody>
      </p:sp>
      <p:sp>
        <p:nvSpPr>
          <p:cNvPr id="20" name="">
            <a:extLst xmlns:a="http://schemas.openxmlformats.org/drawingml/2006/main">
              <a:ext uri="{FF2B5EF4-FFF2-40B4-BE49-F238E27FC236}">
                <a16:creationId xmlns:a16="http://schemas.microsoft.com/office/drawing/2014/main" id="{6B6147C5-6CFC-4ECA-9A25-0CCAF00EA5DA}"/>
              </a:ext>
            </a:extLst>
          </p:cNvPr>
          <p:cNvSpPr>
            <a:spLocks xmlns:a="http://schemas.openxmlformats.org/drawingml/2006/main" noGrp="1"/>
          </p:cNvSpPr>
          <p:nvPr/>
        </p:nvSpPr>
        <p:spPr>
          <a:xfrm xmlns:a="http://schemas.openxmlformats.org/drawingml/2006/main">
            <a:off x="6324600" y="4352925"/>
            <a:ext cx="485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425" b="0">
                <a:solidFill>
                  <a:srgbClr val="B7B7B7"/>
                </a:solidFill>
                <a:latin typeface="Arial"/>
                <a:ea typeface="Arial"/>
                <a:cs typeface="Arial"/>
              </a:defRPr>
            </a:pPr>
            <a:r>
              <a:rPr sz="1425" b="0">
                <a:solidFill>
                  <a:srgbClr val="B7B7B7"/>
                </a:solidFill>
                <a:latin typeface="Arial"/>
                <a:ea typeface="Arial"/>
                <a:cs typeface="Arial"/>
              </a:rPr>
              <a:t>Return 3 bulan +22,8% dengan max drawdown −81,9%. Profil risiko agresif.</a:t>
            </a:r>
          </a:p>
        </p:txBody>
      </p:sp>
      <p:sp>
        <p:nvSpPr>
          <p:cNvPr id="21" name="">
            <a:extLst xmlns:a="http://schemas.openxmlformats.org/drawingml/2006/main">
              <a:ext uri="{FF2B5EF4-FFF2-40B4-BE49-F238E27FC236}">
                <a16:creationId xmlns:a16="http://schemas.microsoft.com/office/drawing/2014/main" id="{D5A2FCF6-9609-4A58-A7DC-719C4ECA1676}"/>
              </a:ext>
            </a:extLst>
          </p:cNvPr>
          <p:cNvSpPr>
            <a:spLocks xmlns:a="http://schemas.openxmlformats.org/drawingml/2006/main" noGrp="1"/>
          </p:cNvSpPr>
          <p:nvPr/>
        </p:nvSpPr>
        <p:spPr>
          <a:xfrm xmlns:a="http://schemas.openxmlformats.org/drawingml/2006/main">
            <a:off x="400050" y="6000750"/>
            <a:ext cx="1104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0">
                <a:solidFill>
                  <a:srgbClr val="FFFFFF"/>
                </a:solidFill>
                <a:latin typeface="Arial"/>
                <a:ea typeface="Arial"/>
                <a:cs typeface="Arial"/>
              </a:defRPr>
            </a:pPr>
            <a:r>
              <a:rPr sz="1275" b="0">
                <a:solidFill>
                  <a:srgbClr val="FFFFFF"/>
                </a:solidFill>
                <a:latin typeface="Arial"/>
                <a:ea typeface="Arial"/>
                <a:cs typeface="Arial"/>
              </a:rPr>
              <a:t>Watchlist ini mengatur urutan analisis lanjutan. Ia tidak memasukkan valuasi, kualitas laba, tata kelola, atau katalis korporasi.</a:t>
            </a:r>
          </a:p>
        </p:txBody>
      </p:sp>
    </p:spTree>
    <p:extLst>
      <p:ext uri="{BB962C8B-B14F-4D97-AF65-F5344CB8AC3E}">
        <p14:creationId xmlns:p14="http://schemas.microsoft.com/office/powerpoint/2010/main" val="1401825782"/>
      </p:ext>
    </p:extLst>
  </p:cSld>
</p:sld>
</file>

<file path=ppt/slides/slide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C8A51005-C8CB-4D95-BB68-E5632658D6B2}"/>
              </a:ext>
            </a:extLst>
          </p:cNvPr>
          <p:cNvSpPr>
            <a:spLocks xmlns:a="http://schemas.openxmlformats.org/drawingml/2006/main" noGrp="1"/>
          </p:cNvSpPr>
          <p:nvPr/>
        </p:nvSpPr>
        <p:spPr>
          <a:xfrm xmlns:a="http://schemas.openxmlformats.org/drawingml/2006/main">
            <a:off x="400050" y="209550"/>
            <a:ext cx="3810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defRPr sz="900" b="0">
                <a:solidFill>
                  <a:srgbClr val="B7B7B7"/>
                </a:solidFill>
                <a:latin typeface="Arial"/>
                <a:ea typeface="Arial"/>
                <a:cs typeface="Arial"/>
              </a:defRPr>
            </a:pPr>
            <a:r>
              <a:rPr sz="900" b="0">
                <a:solidFill>
                  <a:srgbClr val="B7B7B7"/>
                </a:solidFill>
                <a:latin typeface="Arial"/>
                <a:ea typeface="Arial"/>
                <a:cs typeface="Arial"/>
              </a:rPr>
              <a:t>EVALUASI MODEL 2026</a:t>
            </a:r>
          </a:p>
        </p:txBody>
      </p:sp>
      <p:sp>
        <p:nvSpPr>
          <p:cNvPr id="2" name="">
            <a:extLst xmlns:a="http://schemas.openxmlformats.org/drawingml/2006/main">
              <a:ext uri="{FF2B5EF4-FFF2-40B4-BE49-F238E27FC236}">
                <a16:creationId xmlns:a16="http://schemas.microsoft.com/office/drawing/2014/main" id="{EF7D08BE-6716-466F-BDA0-CBF7CA19C6AA}"/>
              </a:ext>
            </a:extLst>
          </p:cNvPr>
          <p:cNvSpPr>
            <a:spLocks xmlns:a="http://schemas.openxmlformats.org/drawingml/2006/main" noGrp="1"/>
          </p:cNvSpPr>
          <p:nvPr/>
        </p:nvSpPr>
        <p:spPr>
          <a:xfrm xmlns:a="http://schemas.openxmlformats.org/drawingml/2006/main">
            <a:off x="400050" y="457200"/>
            <a:ext cx="11239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A2C menghasilkan return positif, tetapi tertinggal dari benchmark</a:t>
            </a:r>
          </a:p>
        </p:txBody>
      </p:sp>
      <p:sp>
        <p:nvSpPr>
          <p:cNvPr id="3" name="">
            <a:extLst xmlns:a="http://schemas.openxmlformats.org/drawingml/2006/main">
              <a:ext uri="{FF2B5EF4-FFF2-40B4-BE49-F238E27FC236}">
                <a16:creationId xmlns:a16="http://schemas.microsoft.com/office/drawing/2014/main" id="{7EA065BB-35AD-4129-9A12-3C68DC7DD4C8}"/>
              </a:ext>
            </a:extLst>
          </p:cNvPr>
          <p:cNvSpPr>
            <a:spLocks xmlns:a="http://schemas.openxmlformats.org/drawingml/2006/main" noGrp="1"/>
          </p:cNvSpPr>
          <p:nvPr/>
        </p:nvSpPr>
        <p:spPr>
          <a:xfrm xmlns:a="http://schemas.openxmlformats.org/drawingml/2006/main">
            <a:off x="400050" y="1066800"/>
            <a:ext cx="11391900" cy="9525"/>
          </a:xfrm>
          <a:prstGeom xmlns:a="http://schemas.openxmlformats.org/drawingml/2006/main" prst="rect">
            <a:avLst/>
          </a:prstGeom>
          <a:solidFill xmlns:a="http://schemas.openxmlformats.org/drawingml/2006/main">
            <a:srgbClr val="45454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3DA7D21-C20D-49BF-AB0F-F71629D5243C}"/>
              </a:ext>
            </a:extLst>
          </p:cNvPr>
          <p:cNvSpPr>
            <a:spLocks xmlns:a="http://schemas.openxmlformats.org/drawingml/2006/main" noGrp="1"/>
          </p:cNvSpPr>
          <p:nvPr/>
        </p:nvSpPr>
        <p:spPr>
          <a:xfrm xmlns:a="http://schemas.openxmlformats.org/drawingml/2006/main">
            <a:off x="11372850" y="6496050"/>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B7B7B7"/>
                </a:solidFill>
                <a:latin typeface="Arial"/>
                <a:ea typeface="Arial"/>
                <a:cs typeface="Arial"/>
              </a:defRPr>
            </a:pPr>
            <a:r>
              <a:rPr sz="825" b="0">
                <a:solidFill>
                  <a:srgbClr val="B7B7B7"/>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5134CAE0-D1AB-4A1E-BF5E-381C0996E371}"/>
              </a:ext>
            </a:extLst>
          </p:cNvPr>
          <p:cNvSpPr>
            <a:spLocks xmlns:a="http://schemas.openxmlformats.org/drawingml/2006/main" noGrp="1"/>
          </p:cNvSpPr>
          <p:nvPr/>
        </p:nvSpPr>
        <p:spPr>
          <a:xfrm xmlns:a="http://schemas.openxmlformats.org/drawingml/2006/main">
            <a:off x="400050" y="1304925"/>
            <a:ext cx="2381250" cy="1447800"/>
          </a:xfrm>
          <a:prstGeom xmlns:a="http://schemas.openxmlformats.org/drawingml/2006/main" prst="roundRect">
            <a:avLst>
              <a:gd name="adj" fmla="val 5263"/>
            </a:avLst>
          </a:prstGeom>
          <a:solidFill xmlns:a="http://schemas.openxmlformats.org/drawingml/2006/main">
            <a:srgbClr val="29292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09218ED-6C49-4D76-9BE8-E1F510905F7F}"/>
              </a:ext>
            </a:extLst>
          </p:cNvPr>
          <p:cNvSpPr>
            <a:spLocks xmlns:a="http://schemas.openxmlformats.org/drawingml/2006/main" noGrp="1"/>
          </p:cNvSpPr>
          <p:nvPr/>
        </p:nvSpPr>
        <p:spPr>
          <a:xfrm xmlns:a="http://schemas.openxmlformats.org/drawingml/2006/main">
            <a:off x="571500" y="1457325"/>
            <a:ext cx="2038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defRPr sz="1050" b="0">
                <a:solidFill>
                  <a:srgbClr val="B7B7B7"/>
                </a:solidFill>
                <a:latin typeface="Arial"/>
                <a:ea typeface="Arial"/>
                <a:cs typeface="Arial"/>
              </a:defRPr>
            </a:pPr>
            <a:r>
              <a:rPr sz="1050" b="0">
                <a:solidFill>
                  <a:srgbClr val="B7B7B7"/>
                </a:solidFill>
                <a:latin typeface="Arial"/>
                <a:ea typeface="Arial"/>
                <a:cs typeface="Arial"/>
              </a:rPr>
              <a:t>Return strategi</a:t>
            </a:r>
          </a:p>
        </p:txBody>
      </p:sp>
      <p:sp>
        <p:nvSpPr>
          <p:cNvPr id="7" name="">
            <a:extLst xmlns:a="http://schemas.openxmlformats.org/drawingml/2006/main">
              <a:ext uri="{FF2B5EF4-FFF2-40B4-BE49-F238E27FC236}">
                <a16:creationId xmlns:a16="http://schemas.microsoft.com/office/drawing/2014/main" id="{ACA9B314-1688-48D5-8E02-9F1F5901B661}"/>
              </a:ext>
            </a:extLst>
          </p:cNvPr>
          <p:cNvSpPr>
            <a:spLocks xmlns:a="http://schemas.openxmlformats.org/drawingml/2006/main" noGrp="1"/>
          </p:cNvSpPr>
          <p:nvPr/>
        </p:nvSpPr>
        <p:spPr>
          <a:xfrm xmlns:a="http://schemas.openxmlformats.org/drawingml/2006/main">
            <a:off x="571500" y="1752600"/>
            <a:ext cx="20383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550" b="0">
                <a:solidFill>
                  <a:srgbClr val="58D68D"/>
                </a:solidFill>
                <a:latin typeface="Arial"/>
                <a:ea typeface="Arial"/>
                <a:cs typeface="Arial"/>
              </a:defRPr>
            </a:pPr>
            <a:r>
              <a:rPr sz="2550" b="0">
                <a:solidFill>
                  <a:srgbClr val="58D68D"/>
                </a:solidFill>
                <a:latin typeface="Arial"/>
                <a:ea typeface="Arial"/>
                <a:cs typeface="Arial"/>
              </a:rPr>
              <a:t>12,75%</a:t>
            </a:r>
          </a:p>
        </p:txBody>
      </p:sp>
      <p:sp>
        <p:nvSpPr>
          <p:cNvPr id="8" name="">
            <a:extLst xmlns:a="http://schemas.openxmlformats.org/drawingml/2006/main">
              <a:ext uri="{FF2B5EF4-FFF2-40B4-BE49-F238E27FC236}">
                <a16:creationId xmlns:a16="http://schemas.microsoft.com/office/drawing/2014/main" id="{CFAFDC25-BD23-4EE7-A5BF-1D564055EC3A}"/>
              </a:ext>
            </a:extLst>
          </p:cNvPr>
          <p:cNvSpPr>
            <a:spLocks xmlns:a="http://schemas.openxmlformats.org/drawingml/2006/main" noGrp="1"/>
          </p:cNvSpPr>
          <p:nvPr/>
        </p:nvSpPr>
        <p:spPr>
          <a:xfrm xmlns:a="http://schemas.openxmlformats.org/drawingml/2006/main">
            <a:off x="571500" y="2371725"/>
            <a:ext cx="2038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900" b="0">
                <a:solidFill>
                  <a:srgbClr val="B7B7B7"/>
                </a:solidFill>
                <a:latin typeface="Arial"/>
                <a:ea typeface="Arial"/>
                <a:cs typeface="Arial"/>
              </a:defRPr>
            </a:pPr>
            <a:r>
              <a:rPr sz="900" b="0">
                <a:solidFill>
                  <a:srgbClr val="B7B7B7"/>
                </a:solidFill>
                <a:latin typeface="Arial"/>
                <a:ea typeface="Arial"/>
                <a:cs typeface="Arial"/>
              </a:rPr>
              <a:t>179 observasi</a:t>
            </a:r>
          </a:p>
        </p:txBody>
      </p:sp>
      <p:sp>
        <p:nvSpPr>
          <p:cNvPr id="9" name="">
            <a:extLst xmlns:a="http://schemas.openxmlformats.org/drawingml/2006/main">
              <a:ext uri="{FF2B5EF4-FFF2-40B4-BE49-F238E27FC236}">
                <a16:creationId xmlns:a16="http://schemas.microsoft.com/office/drawing/2014/main" id="{E93E550B-6CA4-4EAF-BBE2-C6BA6D7D8F40}"/>
              </a:ext>
            </a:extLst>
          </p:cNvPr>
          <p:cNvSpPr>
            <a:spLocks xmlns:a="http://schemas.openxmlformats.org/drawingml/2006/main" noGrp="1"/>
          </p:cNvSpPr>
          <p:nvPr/>
        </p:nvSpPr>
        <p:spPr>
          <a:xfrm xmlns:a="http://schemas.openxmlformats.org/drawingml/2006/main">
            <a:off x="2971800" y="1304925"/>
            <a:ext cx="2381250" cy="1447800"/>
          </a:xfrm>
          <a:prstGeom xmlns:a="http://schemas.openxmlformats.org/drawingml/2006/main" prst="roundRect">
            <a:avLst>
              <a:gd name="adj" fmla="val 5263"/>
            </a:avLst>
          </a:prstGeom>
          <a:solidFill xmlns:a="http://schemas.openxmlformats.org/drawingml/2006/main">
            <a:srgbClr val="29292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8F7667C-F44F-487A-A3BE-0D2769EF05BF}"/>
              </a:ext>
            </a:extLst>
          </p:cNvPr>
          <p:cNvSpPr>
            <a:spLocks xmlns:a="http://schemas.openxmlformats.org/drawingml/2006/main" noGrp="1"/>
          </p:cNvSpPr>
          <p:nvPr/>
        </p:nvSpPr>
        <p:spPr>
          <a:xfrm xmlns:a="http://schemas.openxmlformats.org/drawingml/2006/main">
            <a:off x="3143250" y="1457325"/>
            <a:ext cx="2038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defRPr sz="1050" b="0">
                <a:solidFill>
                  <a:srgbClr val="B7B7B7"/>
                </a:solidFill>
                <a:latin typeface="Arial"/>
                <a:ea typeface="Arial"/>
                <a:cs typeface="Arial"/>
              </a:defRPr>
            </a:pPr>
            <a:r>
              <a:rPr sz="1050" b="0">
                <a:solidFill>
                  <a:srgbClr val="B7B7B7"/>
                </a:solidFill>
                <a:latin typeface="Arial"/>
                <a:ea typeface="Arial"/>
                <a:cs typeface="Arial"/>
              </a:rPr>
              <a:t>Max drawdown</a:t>
            </a:r>
          </a:p>
        </p:txBody>
      </p:sp>
      <p:sp>
        <p:nvSpPr>
          <p:cNvPr id="11" name="">
            <a:extLst xmlns:a="http://schemas.openxmlformats.org/drawingml/2006/main">
              <a:ext uri="{FF2B5EF4-FFF2-40B4-BE49-F238E27FC236}">
                <a16:creationId xmlns:a16="http://schemas.microsoft.com/office/drawing/2014/main" id="{2FF6345F-F108-4532-8902-4331A15F6BCC}"/>
              </a:ext>
            </a:extLst>
          </p:cNvPr>
          <p:cNvSpPr>
            <a:spLocks xmlns:a="http://schemas.openxmlformats.org/drawingml/2006/main" noGrp="1"/>
          </p:cNvSpPr>
          <p:nvPr/>
        </p:nvSpPr>
        <p:spPr>
          <a:xfrm xmlns:a="http://schemas.openxmlformats.org/drawingml/2006/main">
            <a:off x="3143250" y="1752600"/>
            <a:ext cx="20383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550" b="0">
                <a:solidFill>
                  <a:srgbClr val="FF5B5B"/>
                </a:solidFill>
                <a:latin typeface="Arial"/>
                <a:ea typeface="Arial"/>
                <a:cs typeface="Arial"/>
              </a:defRPr>
            </a:pPr>
            <a:r>
              <a:rPr sz="2550" b="0">
                <a:solidFill>
                  <a:srgbClr val="FF5B5B"/>
                </a:solidFill>
                <a:latin typeface="Arial"/>
                <a:ea typeface="Arial"/>
                <a:cs typeface="Arial"/>
              </a:rPr>
              <a:t>−12,63%</a:t>
            </a:r>
          </a:p>
        </p:txBody>
      </p:sp>
      <p:sp>
        <p:nvSpPr>
          <p:cNvPr id="12" name="">
            <a:extLst xmlns:a="http://schemas.openxmlformats.org/drawingml/2006/main">
              <a:ext uri="{FF2B5EF4-FFF2-40B4-BE49-F238E27FC236}">
                <a16:creationId xmlns:a16="http://schemas.microsoft.com/office/drawing/2014/main" id="{50DDD07C-14E8-41C7-921A-3657BACA0A2A}"/>
              </a:ext>
            </a:extLst>
          </p:cNvPr>
          <p:cNvSpPr>
            <a:spLocks xmlns:a="http://schemas.openxmlformats.org/drawingml/2006/main" noGrp="1"/>
          </p:cNvSpPr>
          <p:nvPr/>
        </p:nvSpPr>
        <p:spPr>
          <a:xfrm xmlns:a="http://schemas.openxmlformats.org/drawingml/2006/main">
            <a:off x="5543550" y="1304925"/>
            <a:ext cx="2381250" cy="1447800"/>
          </a:xfrm>
          <a:prstGeom xmlns:a="http://schemas.openxmlformats.org/drawingml/2006/main" prst="roundRect">
            <a:avLst>
              <a:gd name="adj" fmla="val 5263"/>
            </a:avLst>
          </a:prstGeom>
          <a:solidFill xmlns:a="http://schemas.openxmlformats.org/drawingml/2006/main">
            <a:srgbClr val="29292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492FA5A-280F-4F2D-BFBD-F230AD7DC222}"/>
              </a:ext>
            </a:extLst>
          </p:cNvPr>
          <p:cNvSpPr>
            <a:spLocks xmlns:a="http://schemas.openxmlformats.org/drawingml/2006/main" noGrp="1"/>
          </p:cNvSpPr>
          <p:nvPr/>
        </p:nvSpPr>
        <p:spPr>
          <a:xfrm xmlns:a="http://schemas.openxmlformats.org/drawingml/2006/main">
            <a:off x="5715000" y="1457325"/>
            <a:ext cx="2038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defRPr sz="1050" b="0">
                <a:solidFill>
                  <a:srgbClr val="B7B7B7"/>
                </a:solidFill>
                <a:latin typeface="Arial"/>
                <a:ea typeface="Arial"/>
                <a:cs typeface="Arial"/>
              </a:defRPr>
            </a:pPr>
            <a:r>
              <a:rPr sz="1050" b="0">
                <a:solidFill>
                  <a:srgbClr val="B7B7B7"/>
                </a:solidFill>
                <a:latin typeface="Arial"/>
                <a:ea typeface="Arial"/>
                <a:cs typeface="Arial"/>
              </a:rPr>
              <a:t>Sharpe</a:t>
            </a:r>
          </a:p>
        </p:txBody>
      </p:sp>
      <p:sp>
        <p:nvSpPr>
          <p:cNvPr id="14" name="">
            <a:extLst xmlns:a="http://schemas.openxmlformats.org/drawingml/2006/main">
              <a:ext uri="{FF2B5EF4-FFF2-40B4-BE49-F238E27FC236}">
                <a16:creationId xmlns:a16="http://schemas.microsoft.com/office/drawing/2014/main" id="{DE890FEE-B51D-4279-B90B-A5B4F53ABA06}"/>
              </a:ext>
            </a:extLst>
          </p:cNvPr>
          <p:cNvSpPr>
            <a:spLocks xmlns:a="http://schemas.openxmlformats.org/drawingml/2006/main" noGrp="1"/>
          </p:cNvSpPr>
          <p:nvPr/>
        </p:nvSpPr>
        <p:spPr>
          <a:xfrm xmlns:a="http://schemas.openxmlformats.org/drawingml/2006/main">
            <a:off x="5715000" y="1752600"/>
            <a:ext cx="20383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550" b="0">
                <a:solidFill>
                  <a:srgbClr val="6FD3FF"/>
                </a:solidFill>
                <a:latin typeface="Arial"/>
                <a:ea typeface="Arial"/>
                <a:cs typeface="Arial"/>
              </a:defRPr>
            </a:pPr>
            <a:r>
              <a:rPr sz="2550" b="0">
                <a:solidFill>
                  <a:srgbClr val="6FD3FF"/>
                </a:solidFill>
                <a:latin typeface="Arial"/>
                <a:ea typeface="Arial"/>
                <a:cs typeface="Arial"/>
              </a:rPr>
              <a:t>0,57</a:t>
            </a:r>
          </a:p>
        </p:txBody>
      </p:sp>
      <p:sp>
        <p:nvSpPr>
          <p:cNvPr id="15" name="">
            <a:extLst xmlns:a="http://schemas.openxmlformats.org/drawingml/2006/main">
              <a:ext uri="{FF2B5EF4-FFF2-40B4-BE49-F238E27FC236}">
                <a16:creationId xmlns:a16="http://schemas.microsoft.com/office/drawing/2014/main" id="{84D74AC6-FA88-4253-8777-C855B9A85951}"/>
              </a:ext>
            </a:extLst>
          </p:cNvPr>
          <p:cNvSpPr>
            <a:spLocks xmlns:a="http://schemas.openxmlformats.org/drawingml/2006/main" noGrp="1"/>
          </p:cNvSpPr>
          <p:nvPr/>
        </p:nvSpPr>
        <p:spPr>
          <a:xfrm xmlns:a="http://schemas.openxmlformats.org/drawingml/2006/main">
            <a:off x="8115300" y="1304925"/>
            <a:ext cx="3676650" cy="1447800"/>
          </a:xfrm>
          <a:prstGeom xmlns:a="http://schemas.openxmlformats.org/drawingml/2006/main" prst="roundRect">
            <a:avLst>
              <a:gd name="adj" fmla="val 5263"/>
            </a:avLst>
          </a:prstGeom>
          <a:solidFill xmlns:a="http://schemas.openxmlformats.org/drawingml/2006/main">
            <a:srgbClr val="292929"/>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1360A7DA-FA45-4AC9-8A52-9829D327F0B7}"/>
              </a:ext>
            </a:extLst>
          </p:cNvPr>
          <p:cNvSpPr>
            <a:spLocks xmlns:a="http://schemas.openxmlformats.org/drawingml/2006/main" noGrp="1"/>
          </p:cNvSpPr>
          <p:nvPr/>
        </p:nvSpPr>
        <p:spPr>
          <a:xfrm xmlns:a="http://schemas.openxmlformats.org/drawingml/2006/main">
            <a:off x="8286750" y="1457325"/>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defRPr sz="1050" b="0">
                <a:solidFill>
                  <a:srgbClr val="B7B7B7"/>
                </a:solidFill>
                <a:latin typeface="Arial"/>
                <a:ea typeface="Arial"/>
                <a:cs typeface="Arial"/>
              </a:defRPr>
            </a:pPr>
            <a:r>
              <a:rPr sz="1050" b="0">
                <a:solidFill>
                  <a:srgbClr val="B7B7B7"/>
                </a:solidFill>
                <a:latin typeface="Arial"/>
                <a:ea typeface="Arial"/>
                <a:cs typeface="Arial"/>
              </a:rPr>
              <a:t>Return benchmark</a:t>
            </a:r>
          </a:p>
        </p:txBody>
      </p:sp>
      <p:sp>
        <p:nvSpPr>
          <p:cNvPr id="17" name="">
            <a:extLst xmlns:a="http://schemas.openxmlformats.org/drawingml/2006/main">
              <a:ext uri="{FF2B5EF4-FFF2-40B4-BE49-F238E27FC236}">
                <a16:creationId xmlns:a16="http://schemas.microsoft.com/office/drawing/2014/main" id="{4202DB0B-8E3E-427F-A72D-5E9E6B047B13}"/>
              </a:ext>
            </a:extLst>
          </p:cNvPr>
          <p:cNvSpPr>
            <a:spLocks xmlns:a="http://schemas.openxmlformats.org/drawingml/2006/main" noGrp="1"/>
          </p:cNvSpPr>
          <p:nvPr/>
        </p:nvSpPr>
        <p:spPr>
          <a:xfrm xmlns:a="http://schemas.openxmlformats.org/drawingml/2006/main">
            <a:off x="8286750" y="1752600"/>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550" b="0">
                <a:solidFill>
                  <a:srgbClr val="FFFFFF"/>
                </a:solidFill>
                <a:latin typeface="Arial"/>
                <a:ea typeface="Arial"/>
                <a:cs typeface="Arial"/>
              </a:defRPr>
            </a:pPr>
            <a:r>
              <a:rPr sz="2550" b="0">
                <a:solidFill>
                  <a:srgbClr val="FFFFFF"/>
                </a:solidFill>
                <a:latin typeface="Arial"/>
                <a:ea typeface="Arial"/>
                <a:cs typeface="Arial"/>
              </a:rPr>
              <a:t>15,55%</a:t>
            </a:r>
          </a:p>
        </p:txBody>
      </p:sp>
      <p:sp>
        <p:nvSpPr>
          <p:cNvPr id="18" name="">
            <a:extLst xmlns:a="http://schemas.openxmlformats.org/drawingml/2006/main">
              <a:ext uri="{FF2B5EF4-FFF2-40B4-BE49-F238E27FC236}">
                <a16:creationId xmlns:a16="http://schemas.microsoft.com/office/drawing/2014/main" id="{C457A662-0889-45E3-897B-9B3DF95F4D5C}"/>
              </a:ext>
            </a:extLst>
          </p:cNvPr>
          <p:cNvSpPr>
            <a:spLocks xmlns:a="http://schemas.openxmlformats.org/drawingml/2006/main" noGrp="1"/>
          </p:cNvSpPr>
          <p:nvPr/>
        </p:nvSpPr>
        <p:spPr>
          <a:xfrm xmlns:a="http://schemas.openxmlformats.org/drawingml/2006/main">
            <a:off x="8286750" y="2371725"/>
            <a:ext cx="333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900" b="0">
                <a:solidFill>
                  <a:srgbClr val="B7B7B7"/>
                </a:solidFill>
                <a:latin typeface="Arial"/>
                <a:ea typeface="Arial"/>
                <a:cs typeface="Arial"/>
              </a:defRPr>
            </a:pPr>
            <a:r>
              <a:rPr sz="900" b="0">
                <a:solidFill>
                  <a:srgbClr val="B7B7B7"/>
                </a:solidFill>
                <a:latin typeface="Arial"/>
                <a:ea typeface="Arial"/>
                <a:cs typeface="Arial"/>
              </a:rPr>
              <a:t>Equal weight</a:t>
            </a:r>
          </a:p>
        </p:txBody>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3fdab83b098e4fdb"/>
          <a:stretch xmlns:a="http://schemas.openxmlformats.org/drawingml/2006/main"/>
        </p:blipFill>
        <p:spPr>
          <a:xfrm xmlns:a="http://schemas.openxmlformats.org/drawingml/2006/main">
            <a:off x="400050" y="3267075"/>
            <a:ext cx="7429500" cy="2476500"/>
          </a:xfrm>
          <a:prstGeom xmlns:a="http://schemas.openxmlformats.org/drawingml/2006/main" prst="roundRect">
            <a:avLst>
              <a:gd name="adj" fmla="val 3497"/>
            </a:avLst>
          </a:prstGeom>
        </p:spPr>
      </p:pic>
      <p:sp>
        <p:nvSpPr>
          <p:cNvPr id="20" name="">
            <a:extLst xmlns:a="http://schemas.openxmlformats.org/drawingml/2006/main">
              <a:ext uri="{FF2B5EF4-FFF2-40B4-BE49-F238E27FC236}">
                <a16:creationId xmlns:a16="http://schemas.microsoft.com/office/drawing/2014/main" id="{45FBC623-04A0-4D16-B0CC-D3702B2E4AEA}"/>
              </a:ext>
            </a:extLst>
          </p:cNvPr>
          <p:cNvSpPr>
            <a:spLocks xmlns:a="http://schemas.openxmlformats.org/drawingml/2006/main" noGrp="1"/>
          </p:cNvSpPr>
          <p:nvPr/>
        </p:nvSpPr>
        <p:spPr>
          <a:xfrm xmlns:a="http://schemas.openxmlformats.org/drawingml/2006/main">
            <a:off x="8229600" y="3295650"/>
            <a:ext cx="295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FFFFFF"/>
                </a:solidFill>
                <a:latin typeface="Arial"/>
                <a:ea typeface="Arial"/>
                <a:cs typeface="Arial"/>
              </a:defRPr>
            </a:pPr>
            <a:r>
              <a:rPr sz="1350" b="1">
                <a:solidFill>
                  <a:srgbClr val="FFFFFF"/>
                </a:solidFill>
                <a:latin typeface="Arial"/>
                <a:ea typeface="Arial"/>
                <a:cs typeface="Arial"/>
              </a:rPr>
              <a:t>Trade-off</a:t>
            </a:r>
          </a:p>
        </p:txBody>
      </p:sp>
      <p:sp>
        <p:nvSpPr>
          <p:cNvPr id="21" name="">
            <a:extLst xmlns:a="http://schemas.openxmlformats.org/drawingml/2006/main">
              <a:ext uri="{FF2B5EF4-FFF2-40B4-BE49-F238E27FC236}">
                <a16:creationId xmlns:a16="http://schemas.microsoft.com/office/drawing/2014/main" id="{72E16B23-C731-44AB-A7ED-E10FF47290C1}"/>
              </a:ext>
            </a:extLst>
          </p:cNvPr>
          <p:cNvSpPr>
            <a:spLocks xmlns:a="http://schemas.openxmlformats.org/drawingml/2006/main" noGrp="1"/>
          </p:cNvSpPr>
          <p:nvPr/>
        </p:nvSpPr>
        <p:spPr>
          <a:xfrm xmlns:a="http://schemas.openxmlformats.org/drawingml/2006/main">
            <a:off x="8229600" y="3733800"/>
            <a:ext cx="3143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0">
                <a:solidFill>
                  <a:srgbClr val="B7B7B7"/>
                </a:solidFill>
                <a:latin typeface="Arial"/>
                <a:ea typeface="Arial"/>
                <a:cs typeface="Arial"/>
              </a:defRPr>
            </a:pPr>
            <a:r>
              <a:rPr sz="1500" b="0">
                <a:solidFill>
                  <a:srgbClr val="B7B7B7"/>
                </a:solidFill>
                <a:latin typeface="Arial"/>
                <a:ea typeface="Arial"/>
                <a:cs typeface="Arial"/>
              </a:rPr>
              <a:t>Strategi AI mencatat volatilitas tahunan 24,72%, lebih rendah daripada benchmark 35,23%. Namun return dan Sharpe benchmark sedikit lebih tinggi pada jendela ini.</a:t>
            </a:r>
          </a:p>
        </p:txBody>
      </p:sp>
      <p:sp>
        <p:nvSpPr>
          <p:cNvPr id="22" name="">
            <a:extLst xmlns:a="http://schemas.openxmlformats.org/drawingml/2006/main">
              <a:ext uri="{FF2B5EF4-FFF2-40B4-BE49-F238E27FC236}">
                <a16:creationId xmlns:a16="http://schemas.microsoft.com/office/drawing/2014/main" id="{507EDDCB-F442-4311-B20A-655803E2A365}"/>
              </a:ext>
            </a:extLst>
          </p:cNvPr>
          <p:cNvSpPr>
            <a:spLocks xmlns:a="http://schemas.openxmlformats.org/drawingml/2006/main" noGrp="1"/>
          </p:cNvSpPr>
          <p:nvPr/>
        </p:nvSpPr>
        <p:spPr>
          <a:xfrm xmlns:a="http://schemas.openxmlformats.org/drawingml/2006/main">
            <a:off x="8229600" y="5429250"/>
            <a:ext cx="295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0588"/>
          </a:bodyPr>
          <a:lstStyle xmlns:a="http://schemas.openxmlformats.org/drawingml/2006/main"/>
          <a:p xmlns:a="http://schemas.openxmlformats.org/drawingml/2006/main">
            <a:pPr>
              <a:defRPr sz="1275" b="1">
                <a:solidFill>
                  <a:srgbClr val="6FD3FF"/>
                </a:solidFill>
                <a:latin typeface="Arial"/>
                <a:ea typeface="Arial"/>
                <a:cs typeface="Arial"/>
              </a:defRPr>
            </a:pPr>
            <a:r>
              <a:rPr sz="1275" b="1">
                <a:solidFill>
                  <a:srgbClr val="6FD3FF"/>
                </a:solidFill>
                <a:latin typeface="Arial"/>
                <a:ea typeface="Arial"/>
                <a:cs typeface="Arial"/>
              </a:rPr>
              <a:t>Kesimpulan periode</a:t>
            </a:r>
          </a:p>
        </p:txBody>
      </p:sp>
      <p:sp>
        <p:nvSpPr>
          <p:cNvPr id="23" name="">
            <a:extLst xmlns:a="http://schemas.openxmlformats.org/drawingml/2006/main">
              <a:ext uri="{FF2B5EF4-FFF2-40B4-BE49-F238E27FC236}">
                <a16:creationId xmlns:a16="http://schemas.microsoft.com/office/drawing/2014/main" id="{07F79080-B1BC-4223-BCE9-ED088F426F59}"/>
              </a:ext>
            </a:extLst>
          </p:cNvPr>
          <p:cNvSpPr>
            <a:spLocks xmlns:a="http://schemas.openxmlformats.org/drawingml/2006/main" noGrp="1"/>
          </p:cNvSpPr>
          <p:nvPr/>
        </p:nvSpPr>
        <p:spPr>
          <a:xfrm xmlns:a="http://schemas.openxmlformats.org/drawingml/2006/main">
            <a:off x="8229600" y="5743575"/>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630"/>
          </a:bodyPr>
          <a:lstStyle xmlns:a="http://schemas.openxmlformats.org/drawingml/2006/main"/>
          <a:p xmlns:a="http://schemas.openxmlformats.org/drawingml/2006/main">
            <a:pPr>
              <a:defRPr sz="1350" b="0">
                <a:solidFill>
                  <a:srgbClr val="FFFFFF"/>
                </a:solidFill>
                <a:latin typeface="Arial"/>
                <a:ea typeface="Arial"/>
                <a:cs typeface="Arial"/>
              </a:defRPr>
            </a:pPr>
            <a:r>
              <a:rPr sz="1350" b="0">
                <a:solidFill>
                  <a:srgbClr val="FFFFFF"/>
                </a:solidFill>
                <a:latin typeface="Arial"/>
                <a:ea typeface="Arial"/>
                <a:cs typeface="Arial"/>
              </a:rPr>
              <a:t>Ada reduksi risiko, tetapi belum ada alpha yang jelas.</a:t>
            </a:r>
          </a:p>
        </p:txBody>
      </p:sp>
    </p:spTree>
    <p:extLst>
      <p:ext uri="{BB962C8B-B14F-4D97-AF65-F5344CB8AC3E}">
        <p14:creationId xmlns:p14="http://schemas.microsoft.com/office/powerpoint/2010/main" val="597183169"/>
      </p:ext>
    </p:extLst>
  </p:cSld>
</p:sld>
</file>

<file path=ppt/slides/slide1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715FBD4-5E50-4721-B538-8EC2325E3C3F}"/>
              </a:ext>
            </a:extLst>
          </p:cNvPr>
          <p:cNvSpPr>
            <a:spLocks xmlns:a="http://schemas.openxmlformats.org/drawingml/2006/main" noGrp="1"/>
          </p:cNvSpPr>
          <p:nvPr/>
        </p:nvSpPr>
        <p:spPr>
          <a:xfrm xmlns:a="http://schemas.openxmlformats.org/drawingml/2006/main">
            <a:off x="400050" y="209550"/>
            <a:ext cx="3810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defRPr sz="900" b="0">
                <a:solidFill>
                  <a:srgbClr val="B7B7B7"/>
                </a:solidFill>
                <a:latin typeface="Arial"/>
                <a:ea typeface="Arial"/>
                <a:cs typeface="Arial"/>
              </a:defRPr>
            </a:pPr>
            <a:r>
              <a:rPr sz="900" b="0">
                <a:solidFill>
                  <a:srgbClr val="B7B7B7"/>
                </a:solidFill>
                <a:latin typeface="Arial"/>
                <a:ea typeface="Arial"/>
                <a:cs typeface="Arial"/>
              </a:rPr>
              <a:t>EVALUASI RISIKO MODEL</a:t>
            </a:r>
          </a:p>
        </p:txBody>
      </p:sp>
      <p:sp>
        <p:nvSpPr>
          <p:cNvPr id="2" name="">
            <a:extLst xmlns:a="http://schemas.openxmlformats.org/drawingml/2006/main">
              <a:ext uri="{FF2B5EF4-FFF2-40B4-BE49-F238E27FC236}">
                <a16:creationId xmlns:a16="http://schemas.microsoft.com/office/drawing/2014/main" id="{56AE5721-74AE-4DA1-9BDA-4F1904B147B8}"/>
              </a:ext>
            </a:extLst>
          </p:cNvPr>
          <p:cNvSpPr>
            <a:spLocks xmlns:a="http://schemas.openxmlformats.org/drawingml/2006/main" noGrp="1"/>
          </p:cNvSpPr>
          <p:nvPr/>
        </p:nvSpPr>
        <p:spPr>
          <a:xfrm xmlns:a="http://schemas.openxmlformats.org/drawingml/2006/main">
            <a:off x="400050" y="457200"/>
            <a:ext cx="11239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Profil drawdown AI lebih baik pada sebagian periode</a:t>
            </a:r>
          </a:p>
        </p:txBody>
      </p:sp>
      <p:sp>
        <p:nvSpPr>
          <p:cNvPr id="3" name="">
            <a:extLst xmlns:a="http://schemas.openxmlformats.org/drawingml/2006/main">
              <a:ext uri="{FF2B5EF4-FFF2-40B4-BE49-F238E27FC236}">
                <a16:creationId xmlns:a16="http://schemas.microsoft.com/office/drawing/2014/main" id="{9BA2B770-FD6E-48C3-B023-CC6ACE0C5FFA}"/>
              </a:ext>
            </a:extLst>
          </p:cNvPr>
          <p:cNvSpPr>
            <a:spLocks xmlns:a="http://schemas.openxmlformats.org/drawingml/2006/main" noGrp="1"/>
          </p:cNvSpPr>
          <p:nvPr/>
        </p:nvSpPr>
        <p:spPr>
          <a:xfrm xmlns:a="http://schemas.openxmlformats.org/drawingml/2006/main">
            <a:off x="400050" y="1066800"/>
            <a:ext cx="11391900" cy="9525"/>
          </a:xfrm>
          <a:prstGeom xmlns:a="http://schemas.openxmlformats.org/drawingml/2006/main" prst="rect">
            <a:avLst/>
          </a:prstGeom>
          <a:solidFill xmlns:a="http://schemas.openxmlformats.org/drawingml/2006/main">
            <a:srgbClr val="45454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A8A8460-E0CA-4126-88A7-559C8C152A22}"/>
              </a:ext>
            </a:extLst>
          </p:cNvPr>
          <p:cNvSpPr>
            <a:spLocks xmlns:a="http://schemas.openxmlformats.org/drawingml/2006/main" noGrp="1"/>
          </p:cNvSpPr>
          <p:nvPr/>
        </p:nvSpPr>
        <p:spPr>
          <a:xfrm xmlns:a="http://schemas.openxmlformats.org/drawingml/2006/main">
            <a:off x="11372850" y="6496050"/>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B7B7B7"/>
                </a:solidFill>
                <a:latin typeface="Arial"/>
                <a:ea typeface="Arial"/>
                <a:cs typeface="Arial"/>
              </a:defRPr>
            </a:pPr>
            <a:r>
              <a:rPr sz="825" b="0">
                <a:solidFill>
                  <a:srgbClr val="B7B7B7"/>
                </a:solidFill>
                <a:latin typeface="Arial"/>
                <a:ea typeface="Arial"/>
                <a:cs typeface="Arial"/>
              </a:rPr>
              <a:t>10</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306272bdfb1f4a99"/>
          <a:stretch xmlns:a="http://schemas.openxmlformats.org/drawingml/2006/main"/>
        </p:blipFill>
        <p:spPr>
          <a:xfrm xmlns:a="http://schemas.openxmlformats.org/drawingml/2006/main">
            <a:off x="400050" y="1876425"/>
            <a:ext cx="8001000" cy="2667000"/>
          </a:xfrm>
          <a:prstGeom xmlns:a="http://schemas.openxmlformats.org/drawingml/2006/main" prst="roundRect">
            <a:avLst>
              <a:gd name="adj" fmla="val 2564"/>
            </a:avLst>
          </a:prstGeom>
        </p:spPr>
      </p:pic>
      <p:sp>
        <p:nvSpPr>
          <p:cNvPr id="6" name="">
            <a:extLst xmlns:a="http://schemas.openxmlformats.org/drawingml/2006/main">
              <a:ext uri="{FF2B5EF4-FFF2-40B4-BE49-F238E27FC236}">
                <a16:creationId xmlns:a16="http://schemas.microsoft.com/office/drawing/2014/main" id="{15316CA7-43C0-4BD3-8683-5C696BE7C131}"/>
              </a:ext>
            </a:extLst>
          </p:cNvPr>
          <p:cNvSpPr>
            <a:spLocks xmlns:a="http://schemas.openxmlformats.org/drawingml/2006/main" noGrp="1"/>
          </p:cNvSpPr>
          <p:nvPr/>
        </p:nvSpPr>
        <p:spPr>
          <a:xfrm xmlns:a="http://schemas.openxmlformats.org/drawingml/2006/main">
            <a:off x="8858250" y="152400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8889"/>
          </a:bodyPr>
          <a:lstStyle xmlns:a="http://schemas.openxmlformats.org/drawingml/2006/main"/>
          <a:p xmlns:a="http://schemas.openxmlformats.org/drawingml/2006/main">
            <a:pPr>
              <a:defRPr sz="1125" b="1">
                <a:solidFill>
                  <a:srgbClr val="B7B7B7"/>
                </a:solidFill>
                <a:latin typeface="Arial"/>
                <a:ea typeface="Arial"/>
                <a:cs typeface="Arial"/>
              </a:defRPr>
            </a:pPr>
            <a:r>
              <a:rPr sz="1125" b="1">
                <a:solidFill>
                  <a:srgbClr val="B7B7B7"/>
                </a:solidFill>
                <a:latin typeface="Arial"/>
                <a:ea typeface="Arial"/>
                <a:cs typeface="Arial"/>
              </a:rPr>
              <a:t>Strategi AI</a:t>
            </a:r>
          </a:p>
        </p:txBody>
      </p:sp>
      <p:sp>
        <p:nvSpPr>
          <p:cNvPr id="7" name="">
            <a:extLst xmlns:a="http://schemas.openxmlformats.org/drawingml/2006/main">
              <a:ext uri="{FF2B5EF4-FFF2-40B4-BE49-F238E27FC236}">
                <a16:creationId xmlns:a16="http://schemas.microsoft.com/office/drawing/2014/main" id="{58E97031-4FBB-44FD-A235-FCCCA86079B5}"/>
              </a:ext>
            </a:extLst>
          </p:cNvPr>
          <p:cNvSpPr>
            <a:spLocks xmlns:a="http://schemas.openxmlformats.org/drawingml/2006/main" noGrp="1"/>
          </p:cNvSpPr>
          <p:nvPr/>
        </p:nvSpPr>
        <p:spPr>
          <a:xfrm xmlns:a="http://schemas.openxmlformats.org/drawingml/2006/main">
            <a:off x="8858250" y="1866900"/>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118"/>
          </a:bodyPr>
          <a:lstStyle xmlns:a="http://schemas.openxmlformats.org/drawingml/2006/main"/>
          <a:p xmlns:a="http://schemas.openxmlformats.org/drawingml/2006/main">
            <a:pPr>
              <a:defRPr sz="2550" b="0">
                <a:solidFill>
                  <a:srgbClr val="6FD3FF"/>
                </a:solidFill>
                <a:latin typeface="Arial"/>
                <a:ea typeface="Arial"/>
                <a:cs typeface="Arial"/>
              </a:defRPr>
            </a:pPr>
            <a:r>
              <a:rPr sz="2550" b="0">
                <a:solidFill>
                  <a:srgbClr val="6FD3FF"/>
                </a:solidFill>
                <a:latin typeface="Arial"/>
                <a:ea typeface="Arial"/>
                <a:cs typeface="Arial"/>
              </a:rPr>
              <a:t>−12,63%</a:t>
            </a:r>
          </a:p>
        </p:txBody>
      </p:sp>
      <p:sp>
        <p:nvSpPr>
          <p:cNvPr id="8" name="">
            <a:extLst xmlns:a="http://schemas.openxmlformats.org/drawingml/2006/main">
              <a:ext uri="{FF2B5EF4-FFF2-40B4-BE49-F238E27FC236}">
                <a16:creationId xmlns:a16="http://schemas.microsoft.com/office/drawing/2014/main" id="{0798AF34-3188-4073-896F-734E7B39726C}"/>
              </a:ext>
            </a:extLst>
          </p:cNvPr>
          <p:cNvSpPr>
            <a:spLocks xmlns:a="http://schemas.openxmlformats.org/drawingml/2006/main" noGrp="1"/>
          </p:cNvSpPr>
          <p:nvPr/>
        </p:nvSpPr>
        <p:spPr>
          <a:xfrm xmlns:a="http://schemas.openxmlformats.org/drawingml/2006/main">
            <a:off x="8858250" y="264795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8889"/>
          </a:bodyPr>
          <a:lstStyle xmlns:a="http://schemas.openxmlformats.org/drawingml/2006/main"/>
          <a:p xmlns:a="http://schemas.openxmlformats.org/drawingml/2006/main">
            <a:pPr>
              <a:defRPr sz="1125" b="1">
                <a:solidFill>
                  <a:srgbClr val="B7B7B7"/>
                </a:solidFill>
                <a:latin typeface="Arial"/>
                <a:ea typeface="Arial"/>
                <a:cs typeface="Arial"/>
              </a:defRPr>
            </a:pPr>
            <a:r>
              <a:rPr sz="1125" b="1">
                <a:solidFill>
                  <a:srgbClr val="B7B7B7"/>
                </a:solidFill>
                <a:latin typeface="Arial"/>
                <a:ea typeface="Arial"/>
                <a:cs typeface="Arial"/>
              </a:rPr>
              <a:t>Benchmark</a:t>
            </a:r>
          </a:p>
        </p:txBody>
      </p:sp>
      <p:sp>
        <p:nvSpPr>
          <p:cNvPr id="9" name="">
            <a:extLst xmlns:a="http://schemas.openxmlformats.org/drawingml/2006/main">
              <a:ext uri="{FF2B5EF4-FFF2-40B4-BE49-F238E27FC236}">
                <a16:creationId xmlns:a16="http://schemas.microsoft.com/office/drawing/2014/main" id="{10FE4D77-2B82-4FDC-9899-F8ACBD5DC354}"/>
              </a:ext>
            </a:extLst>
          </p:cNvPr>
          <p:cNvSpPr>
            <a:spLocks xmlns:a="http://schemas.openxmlformats.org/drawingml/2006/main" noGrp="1"/>
          </p:cNvSpPr>
          <p:nvPr/>
        </p:nvSpPr>
        <p:spPr>
          <a:xfrm xmlns:a="http://schemas.openxmlformats.org/drawingml/2006/main">
            <a:off x="8858250" y="2990850"/>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118"/>
          </a:bodyPr>
          <a:lstStyle xmlns:a="http://schemas.openxmlformats.org/drawingml/2006/main"/>
          <a:p xmlns:a="http://schemas.openxmlformats.org/drawingml/2006/main">
            <a:pPr>
              <a:defRPr sz="2550" b="0">
                <a:solidFill>
                  <a:srgbClr val="FFFFFF"/>
                </a:solidFill>
                <a:latin typeface="Arial"/>
                <a:ea typeface="Arial"/>
                <a:cs typeface="Arial"/>
              </a:defRPr>
            </a:pPr>
            <a:r>
              <a:rPr sz="2550" b="0">
                <a:solidFill>
                  <a:srgbClr val="FFFFFF"/>
                </a:solidFill>
                <a:latin typeface="Arial"/>
                <a:ea typeface="Arial"/>
                <a:cs typeface="Arial"/>
              </a:rPr>
              <a:t>−16,31%</a:t>
            </a:r>
          </a:p>
        </p:txBody>
      </p:sp>
      <p:sp>
        <p:nvSpPr>
          <p:cNvPr id="10" name="">
            <a:extLst xmlns:a="http://schemas.openxmlformats.org/drawingml/2006/main">
              <a:ext uri="{FF2B5EF4-FFF2-40B4-BE49-F238E27FC236}">
                <a16:creationId xmlns:a16="http://schemas.microsoft.com/office/drawing/2014/main" id="{A12FAB9A-2FD8-4097-A959-DC418D13930E}"/>
              </a:ext>
            </a:extLst>
          </p:cNvPr>
          <p:cNvSpPr>
            <a:spLocks xmlns:a="http://schemas.openxmlformats.org/drawingml/2006/main" noGrp="1"/>
          </p:cNvSpPr>
          <p:nvPr/>
        </p:nvSpPr>
        <p:spPr>
          <a:xfrm xmlns:a="http://schemas.openxmlformats.org/drawingml/2006/main">
            <a:off x="8858250" y="3695700"/>
            <a:ext cx="2476500" cy="9525"/>
          </a:xfrm>
          <a:prstGeom xmlns:a="http://schemas.openxmlformats.org/drawingml/2006/main" prst="rect">
            <a:avLst/>
          </a:prstGeom>
          <a:solidFill xmlns:a="http://schemas.openxmlformats.org/drawingml/2006/main">
            <a:srgbClr val="45454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BC1CEDF-7FB6-4265-B776-7CEB26DFC0C7}"/>
              </a:ext>
            </a:extLst>
          </p:cNvPr>
          <p:cNvSpPr>
            <a:spLocks xmlns:a="http://schemas.openxmlformats.org/drawingml/2006/main" noGrp="1"/>
          </p:cNvSpPr>
          <p:nvPr/>
        </p:nvSpPr>
        <p:spPr>
          <a:xfrm xmlns:a="http://schemas.openxmlformats.org/drawingml/2006/main">
            <a:off x="8858250" y="4000500"/>
            <a:ext cx="26193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425" b="0">
                <a:solidFill>
                  <a:srgbClr val="B7B7B7"/>
                </a:solidFill>
                <a:latin typeface="Arial"/>
                <a:ea typeface="Arial"/>
                <a:cs typeface="Arial"/>
              </a:defRPr>
            </a:pPr>
            <a:r>
              <a:rPr sz="1425" b="0">
                <a:solidFill>
                  <a:srgbClr val="B7B7B7"/>
                </a:solidFill>
                <a:latin typeface="Arial"/>
                <a:ea typeface="Arial"/>
                <a:cs typeface="Arial"/>
              </a:rPr>
              <a:t>Perbaikan drawdown sekitar 3,7 poin persentase pada jendela positif. Keunggulan ini belum cukup menutup selisih return terhadap benchmark.</a:t>
            </a:r>
          </a:p>
        </p:txBody>
      </p:sp>
      <p:sp>
        <p:nvSpPr>
          <p:cNvPr id="12" name="">
            <a:extLst xmlns:a="http://schemas.openxmlformats.org/drawingml/2006/main">
              <a:ext uri="{FF2B5EF4-FFF2-40B4-BE49-F238E27FC236}">
                <a16:creationId xmlns:a16="http://schemas.microsoft.com/office/drawing/2014/main" id="{23A48E08-73A1-4581-90F5-8CBE803E7CA3}"/>
              </a:ext>
            </a:extLst>
          </p:cNvPr>
          <p:cNvSpPr>
            <a:spLocks xmlns:a="http://schemas.openxmlformats.org/drawingml/2006/main" noGrp="1"/>
          </p:cNvSpPr>
          <p:nvPr/>
        </p:nvSpPr>
        <p:spPr>
          <a:xfrm xmlns:a="http://schemas.openxmlformats.org/drawingml/2006/main">
            <a:off x="8858250" y="5543550"/>
            <a:ext cx="2619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332"/>
          </a:bodyPr>
          <a:lstStyle xmlns:a="http://schemas.openxmlformats.org/drawingml/2006/main"/>
          <a:p xmlns:a="http://schemas.openxmlformats.org/drawingml/2006/main">
            <a:pPr>
              <a:defRPr sz="1275" b="1">
                <a:solidFill>
                  <a:srgbClr val="F3C969"/>
                </a:solidFill>
                <a:latin typeface="Arial"/>
                <a:ea typeface="Arial"/>
                <a:cs typeface="Arial"/>
              </a:defRPr>
            </a:pPr>
            <a:r>
              <a:rPr sz="1275" b="1">
                <a:solidFill>
                  <a:srgbClr val="F3C969"/>
                </a:solidFill>
                <a:latin typeface="Arial"/>
                <a:ea typeface="Arial"/>
                <a:cs typeface="Arial"/>
              </a:rPr>
              <a:t>Pengukuran perlu diulang dengan biaya transaksi dan beberapa seed model.</a:t>
            </a:r>
          </a:p>
        </p:txBody>
      </p:sp>
    </p:spTree>
    <p:extLst>
      <p:ext uri="{BB962C8B-B14F-4D97-AF65-F5344CB8AC3E}">
        <p14:creationId xmlns:p14="http://schemas.microsoft.com/office/powerpoint/2010/main" val="2051072275"/>
      </p:ext>
    </p:extLst>
  </p:cSld>
</p:sld>
</file>

<file path=ppt/slides/slide1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CF18FCE6-4C96-4950-86E7-C8AF74B069D3}"/>
              </a:ext>
            </a:extLst>
          </p:cNvPr>
          <p:cNvSpPr>
            <a:spLocks xmlns:a="http://schemas.openxmlformats.org/drawingml/2006/main" noGrp="1"/>
          </p:cNvSpPr>
          <p:nvPr/>
        </p:nvSpPr>
        <p:spPr>
          <a:xfrm xmlns:a="http://schemas.openxmlformats.org/drawingml/2006/main">
            <a:off x="400050" y="209550"/>
            <a:ext cx="3810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defRPr sz="900" b="0">
                <a:solidFill>
                  <a:srgbClr val="B7B7B7"/>
                </a:solidFill>
                <a:latin typeface="Arial"/>
                <a:ea typeface="Arial"/>
                <a:cs typeface="Arial"/>
              </a:defRPr>
            </a:pPr>
            <a:r>
              <a:rPr sz="900" b="0">
                <a:solidFill>
                  <a:srgbClr val="B7B7B7"/>
                </a:solidFill>
                <a:latin typeface="Arial"/>
                <a:ea typeface="Arial"/>
                <a:cs typeface="Arial"/>
              </a:rPr>
              <a:t>UJI KETAHANAN</a:t>
            </a:r>
          </a:p>
        </p:txBody>
      </p:sp>
      <p:sp>
        <p:nvSpPr>
          <p:cNvPr id="2" name="">
            <a:extLst xmlns:a="http://schemas.openxmlformats.org/drawingml/2006/main">
              <a:ext uri="{FF2B5EF4-FFF2-40B4-BE49-F238E27FC236}">
                <a16:creationId xmlns:a16="http://schemas.microsoft.com/office/drawing/2014/main" id="{EBC6C79A-7853-4B5D-80C1-26C3C6F83C89}"/>
              </a:ext>
            </a:extLst>
          </p:cNvPr>
          <p:cNvSpPr>
            <a:spLocks xmlns:a="http://schemas.openxmlformats.org/drawingml/2006/main" noGrp="1"/>
          </p:cNvSpPr>
          <p:nvPr/>
        </p:nvSpPr>
        <p:spPr>
          <a:xfrm xmlns:a="http://schemas.openxmlformats.org/drawingml/2006/main">
            <a:off x="400050" y="457200"/>
            <a:ext cx="11239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Hasil negatif pada jendela lain menegaskan risiko ketidakstabilan</a:t>
            </a:r>
          </a:p>
        </p:txBody>
      </p:sp>
      <p:sp>
        <p:nvSpPr>
          <p:cNvPr id="3" name="">
            <a:extLst xmlns:a="http://schemas.openxmlformats.org/drawingml/2006/main">
              <a:ext uri="{FF2B5EF4-FFF2-40B4-BE49-F238E27FC236}">
                <a16:creationId xmlns:a16="http://schemas.microsoft.com/office/drawing/2014/main" id="{F1FFF0BB-F78A-417E-B31E-82C94EBF36CD}"/>
              </a:ext>
            </a:extLst>
          </p:cNvPr>
          <p:cNvSpPr>
            <a:spLocks xmlns:a="http://schemas.openxmlformats.org/drawingml/2006/main" noGrp="1"/>
          </p:cNvSpPr>
          <p:nvPr/>
        </p:nvSpPr>
        <p:spPr>
          <a:xfrm xmlns:a="http://schemas.openxmlformats.org/drawingml/2006/main">
            <a:off x="400050" y="1066800"/>
            <a:ext cx="11391900" cy="9525"/>
          </a:xfrm>
          <a:prstGeom xmlns:a="http://schemas.openxmlformats.org/drawingml/2006/main" prst="rect">
            <a:avLst/>
          </a:prstGeom>
          <a:solidFill xmlns:a="http://schemas.openxmlformats.org/drawingml/2006/main">
            <a:srgbClr val="45454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D7E6B74-8055-4B6F-8DF4-106769C7ABE3}"/>
              </a:ext>
            </a:extLst>
          </p:cNvPr>
          <p:cNvSpPr>
            <a:spLocks xmlns:a="http://schemas.openxmlformats.org/drawingml/2006/main" noGrp="1"/>
          </p:cNvSpPr>
          <p:nvPr/>
        </p:nvSpPr>
        <p:spPr>
          <a:xfrm xmlns:a="http://schemas.openxmlformats.org/drawingml/2006/main">
            <a:off x="11372850" y="6496050"/>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B7B7B7"/>
                </a:solidFill>
                <a:latin typeface="Arial"/>
                <a:ea typeface="Arial"/>
                <a:cs typeface="Arial"/>
              </a:defRPr>
            </a:pPr>
            <a:r>
              <a:rPr sz="825" b="0">
                <a:solidFill>
                  <a:srgbClr val="B7B7B7"/>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9FB63B70-9828-4357-A7DC-A9B39CD699D5}"/>
              </a:ext>
            </a:extLst>
          </p:cNvPr>
          <p:cNvSpPr>
            <a:spLocks xmlns:a="http://schemas.openxmlformats.org/drawingml/2006/main" noGrp="1"/>
          </p:cNvSpPr>
          <p:nvPr/>
        </p:nvSpPr>
        <p:spPr>
          <a:xfrm xmlns:a="http://schemas.openxmlformats.org/drawingml/2006/main">
            <a:off x="400050" y="1323975"/>
            <a:ext cx="3143250" cy="1447800"/>
          </a:xfrm>
          <a:prstGeom xmlns:a="http://schemas.openxmlformats.org/drawingml/2006/main" prst="roundRect">
            <a:avLst>
              <a:gd name="adj" fmla="val 5263"/>
            </a:avLst>
          </a:prstGeom>
          <a:solidFill xmlns:a="http://schemas.openxmlformats.org/drawingml/2006/main">
            <a:srgbClr val="29292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A603E18-BAB6-42FA-91A6-70B6BD02D20F}"/>
              </a:ext>
            </a:extLst>
          </p:cNvPr>
          <p:cNvSpPr>
            <a:spLocks xmlns:a="http://schemas.openxmlformats.org/drawingml/2006/main" noGrp="1"/>
          </p:cNvSpPr>
          <p:nvPr/>
        </p:nvSpPr>
        <p:spPr>
          <a:xfrm xmlns:a="http://schemas.openxmlformats.org/drawingml/2006/main">
            <a:off x="571500" y="1476375"/>
            <a:ext cx="2800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defRPr sz="1050" b="0">
                <a:solidFill>
                  <a:srgbClr val="B7B7B7"/>
                </a:solidFill>
                <a:latin typeface="Arial"/>
                <a:ea typeface="Arial"/>
                <a:cs typeface="Arial"/>
              </a:defRPr>
            </a:pPr>
            <a:r>
              <a:rPr sz="1050" b="0">
                <a:solidFill>
                  <a:srgbClr val="B7B7B7"/>
                </a:solidFill>
                <a:latin typeface="Arial"/>
                <a:ea typeface="Arial"/>
                <a:cs typeface="Arial"/>
              </a:rPr>
              <a:t>Return strategi</a:t>
            </a:r>
          </a:p>
        </p:txBody>
      </p:sp>
      <p:sp>
        <p:nvSpPr>
          <p:cNvPr id="7" name="">
            <a:extLst xmlns:a="http://schemas.openxmlformats.org/drawingml/2006/main">
              <a:ext uri="{FF2B5EF4-FFF2-40B4-BE49-F238E27FC236}">
                <a16:creationId xmlns:a16="http://schemas.microsoft.com/office/drawing/2014/main" id="{F5DE413E-CF8C-4EE3-9BAB-F1D7E70038C8}"/>
              </a:ext>
            </a:extLst>
          </p:cNvPr>
          <p:cNvSpPr>
            <a:spLocks xmlns:a="http://schemas.openxmlformats.org/drawingml/2006/main" noGrp="1"/>
          </p:cNvSpPr>
          <p:nvPr/>
        </p:nvSpPr>
        <p:spPr>
          <a:xfrm xmlns:a="http://schemas.openxmlformats.org/drawingml/2006/main">
            <a:off x="571500" y="1771650"/>
            <a:ext cx="28003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550" b="0">
                <a:solidFill>
                  <a:srgbClr val="FF5B5B"/>
                </a:solidFill>
                <a:latin typeface="Arial"/>
                <a:ea typeface="Arial"/>
                <a:cs typeface="Arial"/>
              </a:defRPr>
            </a:pPr>
            <a:r>
              <a:rPr sz="2550" b="0">
                <a:solidFill>
                  <a:srgbClr val="FF5B5B"/>
                </a:solidFill>
                <a:latin typeface="Arial"/>
                <a:ea typeface="Arial"/>
                <a:cs typeface="Arial"/>
              </a:rPr>
              <a:t>−4,04%</a:t>
            </a:r>
          </a:p>
        </p:txBody>
      </p:sp>
      <p:sp>
        <p:nvSpPr>
          <p:cNvPr id="8" name="">
            <a:extLst xmlns:a="http://schemas.openxmlformats.org/drawingml/2006/main">
              <a:ext uri="{FF2B5EF4-FFF2-40B4-BE49-F238E27FC236}">
                <a16:creationId xmlns:a16="http://schemas.microsoft.com/office/drawing/2014/main" id="{44754D42-4BC3-4543-921F-66BA4607F191}"/>
              </a:ext>
            </a:extLst>
          </p:cNvPr>
          <p:cNvSpPr>
            <a:spLocks xmlns:a="http://schemas.openxmlformats.org/drawingml/2006/main" noGrp="1"/>
          </p:cNvSpPr>
          <p:nvPr/>
        </p:nvSpPr>
        <p:spPr>
          <a:xfrm xmlns:a="http://schemas.openxmlformats.org/drawingml/2006/main">
            <a:off x="3733800" y="1323975"/>
            <a:ext cx="3143250" cy="1447800"/>
          </a:xfrm>
          <a:prstGeom xmlns:a="http://schemas.openxmlformats.org/drawingml/2006/main" prst="roundRect">
            <a:avLst>
              <a:gd name="adj" fmla="val 5263"/>
            </a:avLst>
          </a:prstGeom>
          <a:solidFill xmlns:a="http://schemas.openxmlformats.org/drawingml/2006/main">
            <a:srgbClr val="29292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8655B70-8BD8-4DFA-8E47-407EFEC362AA}"/>
              </a:ext>
            </a:extLst>
          </p:cNvPr>
          <p:cNvSpPr>
            <a:spLocks xmlns:a="http://schemas.openxmlformats.org/drawingml/2006/main" noGrp="1"/>
          </p:cNvSpPr>
          <p:nvPr/>
        </p:nvSpPr>
        <p:spPr>
          <a:xfrm xmlns:a="http://schemas.openxmlformats.org/drawingml/2006/main">
            <a:off x="3905250" y="1476375"/>
            <a:ext cx="2800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defRPr sz="1050" b="0">
                <a:solidFill>
                  <a:srgbClr val="B7B7B7"/>
                </a:solidFill>
                <a:latin typeface="Arial"/>
                <a:ea typeface="Arial"/>
                <a:cs typeface="Arial"/>
              </a:defRPr>
            </a:pPr>
            <a:r>
              <a:rPr sz="1050" b="0">
                <a:solidFill>
                  <a:srgbClr val="B7B7B7"/>
                </a:solidFill>
                <a:latin typeface="Arial"/>
                <a:ea typeface="Arial"/>
                <a:cs typeface="Arial"/>
              </a:rPr>
              <a:t>Max drawdown</a:t>
            </a:r>
          </a:p>
        </p:txBody>
      </p:sp>
      <p:sp>
        <p:nvSpPr>
          <p:cNvPr id="10" name="">
            <a:extLst xmlns:a="http://schemas.openxmlformats.org/drawingml/2006/main">
              <a:ext uri="{FF2B5EF4-FFF2-40B4-BE49-F238E27FC236}">
                <a16:creationId xmlns:a16="http://schemas.microsoft.com/office/drawing/2014/main" id="{639C6D77-4840-4F0D-B46F-0BFEE731F818}"/>
              </a:ext>
            </a:extLst>
          </p:cNvPr>
          <p:cNvSpPr>
            <a:spLocks xmlns:a="http://schemas.openxmlformats.org/drawingml/2006/main" noGrp="1"/>
          </p:cNvSpPr>
          <p:nvPr/>
        </p:nvSpPr>
        <p:spPr>
          <a:xfrm xmlns:a="http://schemas.openxmlformats.org/drawingml/2006/main">
            <a:off x="3905250" y="1771650"/>
            <a:ext cx="28003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550" b="0">
                <a:solidFill>
                  <a:srgbClr val="FF5B5B"/>
                </a:solidFill>
                <a:latin typeface="Arial"/>
                <a:ea typeface="Arial"/>
                <a:cs typeface="Arial"/>
              </a:defRPr>
            </a:pPr>
            <a:r>
              <a:rPr sz="2550" b="0">
                <a:solidFill>
                  <a:srgbClr val="FF5B5B"/>
                </a:solidFill>
                <a:latin typeface="Arial"/>
                <a:ea typeface="Arial"/>
                <a:cs typeface="Arial"/>
              </a:rPr>
              <a:t>−25,43%</a:t>
            </a:r>
          </a:p>
        </p:txBody>
      </p:sp>
      <p:sp>
        <p:nvSpPr>
          <p:cNvPr id="11" name="">
            <a:extLst xmlns:a="http://schemas.openxmlformats.org/drawingml/2006/main">
              <a:ext uri="{FF2B5EF4-FFF2-40B4-BE49-F238E27FC236}">
                <a16:creationId xmlns:a16="http://schemas.microsoft.com/office/drawing/2014/main" id="{B65B3A70-EEAD-467D-8503-379F4CCC86B1}"/>
              </a:ext>
            </a:extLst>
          </p:cNvPr>
          <p:cNvSpPr>
            <a:spLocks xmlns:a="http://schemas.openxmlformats.org/drawingml/2006/main" noGrp="1"/>
          </p:cNvSpPr>
          <p:nvPr/>
        </p:nvSpPr>
        <p:spPr>
          <a:xfrm xmlns:a="http://schemas.openxmlformats.org/drawingml/2006/main">
            <a:off x="7067550" y="1323975"/>
            <a:ext cx="3143250" cy="1447800"/>
          </a:xfrm>
          <a:prstGeom xmlns:a="http://schemas.openxmlformats.org/drawingml/2006/main" prst="roundRect">
            <a:avLst>
              <a:gd name="adj" fmla="val 5263"/>
            </a:avLst>
          </a:prstGeom>
          <a:solidFill xmlns:a="http://schemas.openxmlformats.org/drawingml/2006/main">
            <a:srgbClr val="29292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E2DD721-9EBF-41C4-BDE9-6148F91FA6C1}"/>
              </a:ext>
            </a:extLst>
          </p:cNvPr>
          <p:cNvSpPr>
            <a:spLocks xmlns:a="http://schemas.openxmlformats.org/drawingml/2006/main" noGrp="1"/>
          </p:cNvSpPr>
          <p:nvPr/>
        </p:nvSpPr>
        <p:spPr>
          <a:xfrm xmlns:a="http://schemas.openxmlformats.org/drawingml/2006/main">
            <a:off x="7239000" y="1476375"/>
            <a:ext cx="2800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defRPr sz="1050" b="0">
                <a:solidFill>
                  <a:srgbClr val="B7B7B7"/>
                </a:solidFill>
                <a:latin typeface="Arial"/>
                <a:ea typeface="Arial"/>
                <a:cs typeface="Arial"/>
              </a:defRPr>
            </a:pPr>
            <a:r>
              <a:rPr sz="1050" b="0">
                <a:solidFill>
                  <a:srgbClr val="B7B7B7"/>
                </a:solidFill>
                <a:latin typeface="Arial"/>
                <a:ea typeface="Arial"/>
                <a:cs typeface="Arial"/>
              </a:rPr>
              <a:t>Sharpe</a:t>
            </a:r>
          </a:p>
        </p:txBody>
      </p:sp>
      <p:sp>
        <p:nvSpPr>
          <p:cNvPr id="13" name="">
            <a:extLst xmlns:a="http://schemas.openxmlformats.org/drawingml/2006/main">
              <a:ext uri="{FF2B5EF4-FFF2-40B4-BE49-F238E27FC236}">
                <a16:creationId xmlns:a16="http://schemas.microsoft.com/office/drawing/2014/main" id="{F4EC3F14-2AFB-441A-A87C-008E0D888D4A}"/>
              </a:ext>
            </a:extLst>
          </p:cNvPr>
          <p:cNvSpPr>
            <a:spLocks xmlns:a="http://schemas.openxmlformats.org/drawingml/2006/main" noGrp="1"/>
          </p:cNvSpPr>
          <p:nvPr/>
        </p:nvSpPr>
        <p:spPr>
          <a:xfrm xmlns:a="http://schemas.openxmlformats.org/drawingml/2006/main">
            <a:off x="7239000" y="1771650"/>
            <a:ext cx="28003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550" b="0">
                <a:solidFill>
                  <a:srgbClr val="FF5B5B"/>
                </a:solidFill>
                <a:latin typeface="Arial"/>
                <a:ea typeface="Arial"/>
                <a:cs typeface="Arial"/>
              </a:defRPr>
            </a:pPr>
            <a:r>
              <a:rPr sz="2550" b="0">
                <a:solidFill>
                  <a:srgbClr val="FF5B5B"/>
                </a:solidFill>
                <a:latin typeface="Arial"/>
                <a:ea typeface="Arial"/>
                <a:cs typeface="Arial"/>
              </a:rPr>
              <a:t>−0,29</a:t>
            </a:r>
          </a:p>
        </p:txBody>
      </p:sp>
      <p:sp>
        <p:nvSpPr>
          <p:cNvPr id="14" name="">
            <a:extLst xmlns:a="http://schemas.openxmlformats.org/drawingml/2006/main">
              <a:ext uri="{FF2B5EF4-FFF2-40B4-BE49-F238E27FC236}">
                <a16:creationId xmlns:a16="http://schemas.microsoft.com/office/drawing/2014/main" id="{977CC38F-D3C8-49BB-8711-5425508AF50D}"/>
              </a:ext>
            </a:extLst>
          </p:cNvPr>
          <p:cNvSpPr>
            <a:spLocks xmlns:a="http://schemas.openxmlformats.org/drawingml/2006/main" noGrp="1"/>
          </p:cNvSpPr>
          <p:nvPr/>
        </p:nvSpPr>
        <p:spPr>
          <a:xfrm xmlns:a="http://schemas.openxmlformats.org/drawingml/2006/main">
            <a:off x="10496550" y="1323975"/>
            <a:ext cx="1295400" cy="1447800"/>
          </a:xfrm>
          <a:prstGeom xmlns:a="http://schemas.openxmlformats.org/drawingml/2006/main" prst="roundRect">
            <a:avLst>
              <a:gd name="adj" fmla="val 5882"/>
            </a:avLst>
          </a:prstGeom>
          <a:solidFill xmlns:a="http://schemas.openxmlformats.org/drawingml/2006/main">
            <a:srgbClr val="292929"/>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80D4797-95A1-4CF9-80E5-F9050501C0B8}"/>
              </a:ext>
            </a:extLst>
          </p:cNvPr>
          <p:cNvSpPr>
            <a:spLocks xmlns:a="http://schemas.openxmlformats.org/drawingml/2006/main" noGrp="1"/>
          </p:cNvSpPr>
          <p:nvPr/>
        </p:nvSpPr>
        <p:spPr>
          <a:xfrm xmlns:a="http://schemas.openxmlformats.org/drawingml/2006/main">
            <a:off x="10687050" y="1733550"/>
            <a:ext cx="904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473"/>
          </a:bodyPr>
          <a:lstStyle xmlns:a="http://schemas.openxmlformats.org/drawingml/2006/main"/>
          <a:p xmlns:a="http://schemas.openxmlformats.org/drawingml/2006/main">
            <a:pPr>
              <a:defRPr sz="2325" b="0">
                <a:solidFill>
                  <a:srgbClr val="58D68D"/>
                </a:solidFill>
                <a:latin typeface="Arial"/>
                <a:ea typeface="Arial"/>
                <a:cs typeface="Arial"/>
              </a:defRPr>
            </a:pPr>
            <a:r>
              <a:rPr sz="2325" b="0">
                <a:solidFill>
                  <a:srgbClr val="58D68D"/>
                </a:solidFill>
                <a:latin typeface="Arial"/>
                <a:ea typeface="Arial"/>
                <a:cs typeface="Arial"/>
              </a:rPr>
              <a:t>6/6</a:t>
            </a:r>
          </a:p>
        </p:txBody>
      </p:sp>
      <p:sp>
        <p:nvSpPr>
          <p:cNvPr id="16" name="">
            <a:extLst xmlns:a="http://schemas.openxmlformats.org/drawingml/2006/main">
              <a:ext uri="{FF2B5EF4-FFF2-40B4-BE49-F238E27FC236}">
                <a16:creationId xmlns:a16="http://schemas.microsoft.com/office/drawing/2014/main" id="{57092254-E3BD-4B73-B884-C1A6ABB92245}"/>
              </a:ext>
            </a:extLst>
          </p:cNvPr>
          <p:cNvSpPr>
            <a:spLocks xmlns:a="http://schemas.openxmlformats.org/drawingml/2006/main" noGrp="1"/>
          </p:cNvSpPr>
          <p:nvPr/>
        </p:nvSpPr>
        <p:spPr>
          <a:xfrm xmlns:a="http://schemas.openxmlformats.org/drawingml/2006/main">
            <a:off x="10610850" y="2247900"/>
            <a:ext cx="1066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900" b="0">
                <a:solidFill>
                  <a:srgbClr val="B7B7B7"/>
                </a:solidFill>
                <a:latin typeface="Arial"/>
                <a:ea typeface="Arial"/>
                <a:cs typeface="Arial"/>
              </a:defRPr>
            </a:pPr>
            <a:r>
              <a:rPr sz="900" b="0">
                <a:solidFill>
                  <a:srgbClr val="B7B7B7"/>
                </a:solidFill>
                <a:latin typeface="Arial"/>
                <a:ea typeface="Arial"/>
                <a:cs typeface="Arial"/>
              </a:rPr>
              <a:t>cek dasar lulus</a:t>
            </a:r>
          </a:p>
        </p:txBody>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221424a3014b4d01"/>
          <a:srcRect xmlns:a="http://schemas.openxmlformats.org/drawingml/2006/main" l="0" t="9790" r="0" b="9790"/>
          <a:stretch xmlns:a="http://schemas.openxmlformats.org/drawingml/2006/main">
            <a:fillRect l="0" t="0" r="0" b="0"/>
          </a:stretch>
        </p:blipFill>
        <p:spPr>
          <a:xfrm xmlns:a="http://schemas.openxmlformats.org/drawingml/2006/main">
            <a:off x="400050" y="3190875"/>
            <a:ext cx="6477000" cy="2724150"/>
          </a:xfrm>
          <a:prstGeom xmlns:a="http://schemas.openxmlformats.org/drawingml/2006/main" prst="roundRect">
            <a:avLst>
              <a:gd name="adj" fmla="val 3497"/>
            </a:avLst>
          </a:prstGeom>
        </p:spPr>
      </p:pic>
      <p:sp>
        <p:nvSpPr>
          <p:cNvPr id="18" name="">
            <a:extLst xmlns:a="http://schemas.openxmlformats.org/drawingml/2006/main">
              <a:ext uri="{FF2B5EF4-FFF2-40B4-BE49-F238E27FC236}">
                <a16:creationId xmlns:a16="http://schemas.microsoft.com/office/drawing/2014/main" id="{9551BF54-AE7F-4FE6-8358-C2046EE785AB}"/>
              </a:ext>
            </a:extLst>
          </p:cNvPr>
          <p:cNvSpPr>
            <a:spLocks xmlns:a="http://schemas.openxmlformats.org/drawingml/2006/main" noGrp="1"/>
          </p:cNvSpPr>
          <p:nvPr/>
        </p:nvSpPr>
        <p:spPr>
          <a:xfrm xmlns:a="http://schemas.openxmlformats.org/drawingml/2006/main">
            <a:off x="7315200" y="3314700"/>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FFFFFF"/>
                </a:solidFill>
                <a:latin typeface="Arial"/>
                <a:ea typeface="Arial"/>
                <a:cs typeface="Arial"/>
              </a:defRPr>
            </a:pPr>
            <a:r>
              <a:rPr sz="1350" b="1">
                <a:solidFill>
                  <a:srgbClr val="FFFFFF"/>
                </a:solidFill>
                <a:latin typeface="Arial"/>
                <a:ea typeface="Arial"/>
                <a:cs typeface="Arial"/>
              </a:rPr>
              <a:t>Mengapa penting</a:t>
            </a:r>
          </a:p>
        </p:txBody>
      </p:sp>
      <p:sp>
        <p:nvSpPr>
          <p:cNvPr id="19" name="">
            <a:extLst xmlns:a="http://schemas.openxmlformats.org/drawingml/2006/main">
              <a:ext uri="{FF2B5EF4-FFF2-40B4-BE49-F238E27FC236}">
                <a16:creationId xmlns:a16="http://schemas.microsoft.com/office/drawing/2014/main" id="{DD222042-EAFA-4E07-B4FB-97403C562B38}"/>
              </a:ext>
            </a:extLst>
          </p:cNvPr>
          <p:cNvSpPr>
            <a:spLocks xmlns:a="http://schemas.openxmlformats.org/drawingml/2006/main" noGrp="1"/>
          </p:cNvSpPr>
          <p:nvPr/>
        </p:nvSpPr>
        <p:spPr>
          <a:xfrm xmlns:a="http://schemas.openxmlformats.org/drawingml/2006/main">
            <a:off x="7315200" y="3733800"/>
            <a:ext cx="4000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0">
                <a:solidFill>
                  <a:srgbClr val="B7B7B7"/>
                </a:solidFill>
                <a:latin typeface="Arial"/>
                <a:ea typeface="Arial"/>
                <a:cs typeface="Arial"/>
              </a:defRPr>
            </a:pPr>
            <a:r>
              <a:rPr sz="1500" b="0">
                <a:solidFill>
                  <a:srgbClr val="B7B7B7"/>
                </a:solidFill>
                <a:latin typeface="Arial"/>
                <a:ea typeface="Arial"/>
                <a:cs typeface="Arial"/>
              </a:rPr>
              <a:t>Loader, manifest, urutan periode, benchmark, jumlah observasi, dan nilai finite dapat lulus sementara performa ekonomi tetap lemah.</a:t>
            </a:r>
          </a:p>
        </p:txBody>
      </p:sp>
      <p:sp>
        <p:nvSpPr>
          <p:cNvPr id="20" name="">
            <a:extLst xmlns:a="http://schemas.openxmlformats.org/drawingml/2006/main">
              <a:ext uri="{FF2B5EF4-FFF2-40B4-BE49-F238E27FC236}">
                <a16:creationId xmlns:a16="http://schemas.microsoft.com/office/drawing/2014/main" id="{F586EF42-9E51-43EB-B277-6533881FFFC1}"/>
              </a:ext>
            </a:extLst>
          </p:cNvPr>
          <p:cNvSpPr>
            <a:spLocks xmlns:a="http://schemas.openxmlformats.org/drawingml/2006/main" noGrp="1"/>
          </p:cNvSpPr>
          <p:nvPr/>
        </p:nvSpPr>
        <p:spPr>
          <a:xfrm xmlns:a="http://schemas.openxmlformats.org/drawingml/2006/main">
            <a:off x="7315200" y="5200650"/>
            <a:ext cx="4000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222"/>
          </a:bodyPr>
          <a:lstStyle xmlns:a="http://schemas.openxmlformats.org/drawingml/2006/main"/>
          <a:p xmlns:a="http://schemas.openxmlformats.org/drawingml/2006/main">
            <a:pPr>
              <a:defRPr sz="1500" b="1">
                <a:solidFill>
                  <a:srgbClr val="FF5B5B"/>
                </a:solidFill>
                <a:latin typeface="Arial"/>
                <a:ea typeface="Arial"/>
                <a:cs typeface="Arial"/>
              </a:defRPr>
            </a:pPr>
            <a:r>
              <a:rPr sz="1500" b="1">
                <a:solidFill>
                  <a:srgbClr val="FF5B5B"/>
                </a:solidFill>
                <a:latin typeface="Arial"/>
                <a:ea typeface="Arial"/>
                <a:cs typeface="Arial"/>
              </a:rPr>
              <a:t>Kelayakan teknis tidak sama dengan ketahanan strategi. Perbedaan hasil antarjendela menjadi temuan utama riset ini.</a:t>
            </a:r>
          </a:p>
        </p:txBody>
      </p:sp>
    </p:spTree>
    <p:extLst>
      <p:ext uri="{BB962C8B-B14F-4D97-AF65-F5344CB8AC3E}">
        <p14:creationId xmlns:p14="http://schemas.microsoft.com/office/powerpoint/2010/main" val="219414441"/>
      </p:ext>
    </p:extLst>
  </p:cSld>
</p:sld>
</file>

<file path=ppt/slides/slide1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D8B29E0E-884F-4553-A3E7-8DFC4AEEF349}"/>
              </a:ext>
            </a:extLst>
          </p:cNvPr>
          <p:cNvSpPr>
            <a:spLocks xmlns:a="http://schemas.openxmlformats.org/drawingml/2006/main" noGrp="1"/>
          </p:cNvSpPr>
          <p:nvPr/>
        </p:nvSpPr>
        <p:spPr>
          <a:xfrm xmlns:a="http://schemas.openxmlformats.org/drawingml/2006/main">
            <a:off x="400050" y="209550"/>
            <a:ext cx="3810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defRPr sz="900" b="0">
                <a:solidFill>
                  <a:srgbClr val="B7B7B7"/>
                </a:solidFill>
                <a:latin typeface="Arial"/>
                <a:ea typeface="Arial"/>
                <a:cs typeface="Arial"/>
              </a:defRPr>
            </a:pPr>
            <a:r>
              <a:rPr sz="900" b="0">
                <a:solidFill>
                  <a:srgbClr val="B7B7B7"/>
                </a:solidFill>
                <a:latin typeface="Arial"/>
                <a:ea typeface="Arial"/>
                <a:cs typeface="Arial"/>
              </a:rPr>
              <a:t>KESIMPULAN</a:t>
            </a:r>
          </a:p>
        </p:txBody>
      </p:sp>
      <p:sp>
        <p:nvSpPr>
          <p:cNvPr id="2" name="">
            <a:extLst xmlns:a="http://schemas.openxmlformats.org/drawingml/2006/main">
              <a:ext uri="{FF2B5EF4-FFF2-40B4-BE49-F238E27FC236}">
                <a16:creationId xmlns:a16="http://schemas.microsoft.com/office/drawing/2014/main" id="{23167E34-B5BF-48AA-A799-CD2ECFC97FC4}"/>
              </a:ext>
            </a:extLst>
          </p:cNvPr>
          <p:cNvSpPr>
            <a:spLocks xmlns:a="http://schemas.openxmlformats.org/drawingml/2006/main" noGrp="1"/>
          </p:cNvSpPr>
          <p:nvPr/>
        </p:nvSpPr>
        <p:spPr>
          <a:xfrm xmlns:a="http://schemas.openxmlformats.org/drawingml/2006/main">
            <a:off x="400050" y="457200"/>
            <a:ext cx="11239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Kesimpulan dan langkah riset berikutnya</a:t>
            </a:r>
          </a:p>
        </p:txBody>
      </p:sp>
      <p:sp>
        <p:nvSpPr>
          <p:cNvPr id="3" name="">
            <a:extLst xmlns:a="http://schemas.openxmlformats.org/drawingml/2006/main">
              <a:ext uri="{FF2B5EF4-FFF2-40B4-BE49-F238E27FC236}">
                <a16:creationId xmlns:a16="http://schemas.microsoft.com/office/drawing/2014/main" id="{A2EA6E12-042B-416F-A5CF-56D6019BBE04}"/>
              </a:ext>
            </a:extLst>
          </p:cNvPr>
          <p:cNvSpPr>
            <a:spLocks xmlns:a="http://schemas.openxmlformats.org/drawingml/2006/main" noGrp="1"/>
          </p:cNvSpPr>
          <p:nvPr/>
        </p:nvSpPr>
        <p:spPr>
          <a:xfrm xmlns:a="http://schemas.openxmlformats.org/drawingml/2006/main">
            <a:off x="400050" y="1066800"/>
            <a:ext cx="11391900" cy="9525"/>
          </a:xfrm>
          <a:prstGeom xmlns:a="http://schemas.openxmlformats.org/drawingml/2006/main" prst="rect">
            <a:avLst/>
          </a:prstGeom>
          <a:solidFill xmlns:a="http://schemas.openxmlformats.org/drawingml/2006/main">
            <a:srgbClr val="45454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7DE639B-292A-4195-A909-FCD7BC74173F}"/>
              </a:ext>
            </a:extLst>
          </p:cNvPr>
          <p:cNvSpPr>
            <a:spLocks xmlns:a="http://schemas.openxmlformats.org/drawingml/2006/main" noGrp="1"/>
          </p:cNvSpPr>
          <p:nvPr/>
        </p:nvSpPr>
        <p:spPr>
          <a:xfrm xmlns:a="http://schemas.openxmlformats.org/drawingml/2006/main">
            <a:off x="11372850" y="6496050"/>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636"/>
          </a:bodyPr>
          <a:lstStyle xmlns:a="http://schemas.openxmlformats.org/drawingml/2006/main"/>
          <a:p xmlns:a="http://schemas.openxmlformats.org/drawingml/2006/main">
            <a:pPr>
              <a:defRPr sz="825" b="0">
                <a:solidFill>
                  <a:srgbClr val="B7B7B7"/>
                </a:solidFill>
                <a:latin typeface="Arial"/>
                <a:ea typeface="Arial"/>
                <a:cs typeface="Arial"/>
              </a:defRPr>
            </a:pPr>
            <a:r>
              <a:rPr sz="825" b="0">
                <a:solidFill>
                  <a:srgbClr val="B7B7B7"/>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CF7ECAA5-446F-4BF9-94CA-15567D80473A}"/>
              </a:ext>
            </a:extLst>
          </p:cNvPr>
          <p:cNvSpPr>
            <a:spLocks xmlns:a="http://schemas.openxmlformats.org/drawingml/2006/main" noGrp="1"/>
          </p:cNvSpPr>
          <p:nvPr/>
        </p:nvSpPr>
        <p:spPr>
          <a:xfrm xmlns:a="http://schemas.openxmlformats.org/drawingml/2006/main">
            <a:off x="400050" y="137160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474"/>
          </a:bodyPr>
          <a:lstStyle xmlns:a="http://schemas.openxmlformats.org/drawingml/2006/main"/>
          <a:p xmlns:a="http://schemas.openxmlformats.org/drawingml/2006/main">
            <a:pPr>
              <a:defRPr sz="1425" b="1">
                <a:solidFill>
                  <a:srgbClr val="FFFFFF"/>
                </a:solidFill>
                <a:latin typeface="Arial"/>
                <a:ea typeface="Arial"/>
                <a:cs typeface="Arial"/>
              </a:defRPr>
            </a:pPr>
            <a:r>
              <a:rPr sz="1425" b="1">
                <a:solidFill>
                  <a:srgbClr val="FFFFFF"/>
                </a:solidFill>
                <a:latin typeface="Arial"/>
                <a:ea typeface="Arial"/>
                <a:cs typeface="Arial"/>
              </a:rPr>
              <a:t>Kesimpulan</a:t>
            </a:r>
          </a:p>
        </p:txBody>
      </p:sp>
      <p:sp>
        <p:nvSpPr>
          <p:cNvPr id="6" name="">
            <a:extLst xmlns:a="http://schemas.openxmlformats.org/drawingml/2006/main">
              <a:ext uri="{FF2B5EF4-FFF2-40B4-BE49-F238E27FC236}">
                <a16:creationId xmlns:a16="http://schemas.microsoft.com/office/drawing/2014/main" id="{A0CBDBC6-04C8-4FD4-8F82-806E80F1662F}"/>
              </a:ext>
            </a:extLst>
          </p:cNvPr>
          <p:cNvSpPr>
            <a:spLocks xmlns:a="http://schemas.openxmlformats.org/drawingml/2006/main" noGrp="1"/>
          </p:cNvSpPr>
          <p:nvPr/>
        </p:nvSpPr>
        <p:spPr>
          <a:xfrm xmlns:a="http://schemas.openxmlformats.org/drawingml/2006/main">
            <a:off x="400050" y="1809750"/>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74"/>
          </a:bodyPr>
          <a:lstStyle xmlns:a="http://schemas.openxmlformats.org/drawingml/2006/main"/>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Screening berhasil mempersempit fokus ke ADRO, PTBA, BBRI, JPFA, dan BBCA. Model A2C menunjukkan potensi pengendalian drawdown pada satu periode, tetapi belum stabil lintas jendela uji.</a:t>
            </a:r>
          </a:p>
        </p:txBody>
      </p:sp>
      <p:sp>
        <p:nvSpPr>
          <p:cNvPr id="7" name="">
            <a:extLst xmlns:a="http://schemas.openxmlformats.org/drawingml/2006/main">
              <a:ext uri="{FF2B5EF4-FFF2-40B4-BE49-F238E27FC236}">
                <a16:creationId xmlns:a16="http://schemas.microsoft.com/office/drawing/2014/main" id="{19263C7B-F5F8-4E98-B712-C72458132493}"/>
              </a:ext>
            </a:extLst>
          </p:cNvPr>
          <p:cNvSpPr>
            <a:spLocks xmlns:a="http://schemas.openxmlformats.org/drawingml/2006/main" noGrp="1"/>
          </p:cNvSpPr>
          <p:nvPr/>
        </p:nvSpPr>
        <p:spPr>
          <a:xfrm xmlns:a="http://schemas.openxmlformats.org/drawingml/2006/main">
            <a:off x="400050" y="3000375"/>
            <a:ext cx="11391900" cy="9525"/>
          </a:xfrm>
          <a:prstGeom xmlns:a="http://schemas.openxmlformats.org/drawingml/2006/main" prst="rect">
            <a:avLst/>
          </a:prstGeom>
          <a:solidFill xmlns:a="http://schemas.openxmlformats.org/drawingml/2006/main">
            <a:srgbClr val="45454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6FB2EC2-5C7B-438E-BFAB-469C63C8F027}"/>
              </a:ext>
            </a:extLst>
          </p:cNvPr>
          <p:cNvSpPr>
            <a:spLocks xmlns:a="http://schemas.openxmlformats.org/drawingml/2006/main" noGrp="1"/>
          </p:cNvSpPr>
          <p:nvPr/>
        </p:nvSpPr>
        <p:spPr>
          <a:xfrm xmlns:a="http://schemas.openxmlformats.org/drawingml/2006/main">
            <a:off x="400050" y="33147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050" b="1">
                <a:solidFill>
                  <a:srgbClr val="6FD3FF"/>
                </a:solidFill>
                <a:latin typeface="Arial"/>
                <a:ea typeface="Arial"/>
                <a:cs typeface="Arial"/>
              </a:defRPr>
            </a:pPr>
            <a:r>
              <a:rPr sz="1050" b="1">
                <a:solidFill>
                  <a:srgbClr val="6FD3FF"/>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4D372845-E79C-43E2-B9D3-764D5FDA2ED6}"/>
              </a:ext>
            </a:extLst>
          </p:cNvPr>
          <p:cNvSpPr>
            <a:spLocks xmlns:a="http://schemas.openxmlformats.org/drawingml/2006/main" noGrp="1"/>
          </p:cNvSpPr>
          <p:nvPr/>
        </p:nvSpPr>
        <p:spPr>
          <a:xfrm xmlns:a="http://schemas.openxmlformats.org/drawingml/2006/main">
            <a:off x="1143000" y="3314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FFFFFF"/>
                </a:solidFill>
                <a:latin typeface="Arial"/>
                <a:ea typeface="Arial"/>
                <a:cs typeface="Arial"/>
              </a:defRPr>
            </a:pPr>
            <a:r>
              <a:rPr sz="1350" b="1">
                <a:solidFill>
                  <a:srgbClr val="FFFFFF"/>
                </a:solidFill>
                <a:latin typeface="Arial"/>
                <a:ea typeface="Arial"/>
                <a:cs typeface="Arial"/>
              </a:rPr>
              <a:t>Walk-forward multi-periode</a:t>
            </a:r>
          </a:p>
        </p:txBody>
      </p:sp>
      <p:sp>
        <p:nvSpPr>
          <p:cNvPr id="10" name="">
            <a:extLst xmlns:a="http://schemas.openxmlformats.org/drawingml/2006/main">
              <a:ext uri="{FF2B5EF4-FFF2-40B4-BE49-F238E27FC236}">
                <a16:creationId xmlns:a16="http://schemas.microsoft.com/office/drawing/2014/main" id="{E9D3E512-FB6A-4B0D-87F3-0C0BEA90C8AD}"/>
              </a:ext>
            </a:extLst>
          </p:cNvPr>
          <p:cNvSpPr>
            <a:spLocks xmlns:a="http://schemas.openxmlformats.org/drawingml/2006/main" noGrp="1"/>
          </p:cNvSpPr>
          <p:nvPr/>
        </p:nvSpPr>
        <p:spPr>
          <a:xfrm xmlns:a="http://schemas.openxmlformats.org/drawingml/2006/main">
            <a:off x="4191000" y="3314700"/>
            <a:ext cx="723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0">
                <a:solidFill>
                  <a:srgbClr val="B7B7B7"/>
                </a:solidFill>
                <a:latin typeface="Arial"/>
                <a:ea typeface="Arial"/>
                <a:cs typeface="Arial"/>
              </a:defRPr>
            </a:pPr>
            <a:r>
              <a:rPr sz="1275" b="0">
                <a:solidFill>
                  <a:srgbClr val="B7B7B7"/>
                </a:solidFill>
                <a:latin typeface="Arial"/>
                <a:ea typeface="Arial"/>
                <a:cs typeface="Arial"/>
              </a:rPr>
              <a:t>Pisahkan pemilihan model, validasi, dan evaluasi akhir agar tidak bergantung pada satu jendela.</a:t>
            </a:r>
          </a:p>
        </p:txBody>
      </p:sp>
      <p:sp>
        <p:nvSpPr>
          <p:cNvPr id="11" name="">
            <a:extLst xmlns:a="http://schemas.openxmlformats.org/drawingml/2006/main">
              <a:ext uri="{FF2B5EF4-FFF2-40B4-BE49-F238E27FC236}">
                <a16:creationId xmlns:a16="http://schemas.microsoft.com/office/drawing/2014/main" id="{D2123609-77AB-40A9-A0C7-DF2258EF2985}"/>
              </a:ext>
            </a:extLst>
          </p:cNvPr>
          <p:cNvSpPr>
            <a:spLocks xmlns:a="http://schemas.openxmlformats.org/drawingml/2006/main" noGrp="1"/>
          </p:cNvSpPr>
          <p:nvPr/>
        </p:nvSpPr>
        <p:spPr>
          <a:xfrm xmlns:a="http://schemas.openxmlformats.org/drawingml/2006/main">
            <a:off x="400050" y="3867150"/>
            <a:ext cx="11391900" cy="9525"/>
          </a:xfrm>
          <a:prstGeom xmlns:a="http://schemas.openxmlformats.org/drawingml/2006/main" prst="rect">
            <a:avLst/>
          </a:prstGeom>
          <a:solidFill xmlns:a="http://schemas.openxmlformats.org/drawingml/2006/main">
            <a:srgbClr val="45454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76A9406-673F-46CD-8807-5EF62972D6AC}"/>
              </a:ext>
            </a:extLst>
          </p:cNvPr>
          <p:cNvSpPr>
            <a:spLocks xmlns:a="http://schemas.openxmlformats.org/drawingml/2006/main" noGrp="1"/>
          </p:cNvSpPr>
          <p:nvPr/>
        </p:nvSpPr>
        <p:spPr>
          <a:xfrm xmlns:a="http://schemas.openxmlformats.org/drawingml/2006/main">
            <a:off x="400050" y="4029075"/>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050" b="1">
                <a:solidFill>
                  <a:srgbClr val="6FD3FF"/>
                </a:solidFill>
                <a:latin typeface="Arial"/>
                <a:ea typeface="Arial"/>
                <a:cs typeface="Arial"/>
              </a:defRPr>
            </a:pPr>
            <a:r>
              <a:rPr sz="1050" b="1">
                <a:solidFill>
                  <a:srgbClr val="6FD3FF"/>
                </a:solidFill>
                <a:latin typeface="Arial"/>
                <a:ea typeface="Arial"/>
                <a:cs typeface="Arial"/>
              </a:rPr>
              <a:t>02</a:t>
            </a:r>
          </a:p>
        </p:txBody>
      </p:sp>
      <p:sp>
        <p:nvSpPr>
          <p:cNvPr id="13" name="">
            <a:extLst xmlns:a="http://schemas.openxmlformats.org/drawingml/2006/main">
              <a:ext uri="{FF2B5EF4-FFF2-40B4-BE49-F238E27FC236}">
                <a16:creationId xmlns:a16="http://schemas.microsoft.com/office/drawing/2014/main" id="{FCD18E76-7157-4C8A-99B4-F5DE88E35000}"/>
              </a:ext>
            </a:extLst>
          </p:cNvPr>
          <p:cNvSpPr>
            <a:spLocks xmlns:a="http://schemas.openxmlformats.org/drawingml/2006/main" noGrp="1"/>
          </p:cNvSpPr>
          <p:nvPr/>
        </p:nvSpPr>
        <p:spPr>
          <a:xfrm xmlns:a="http://schemas.openxmlformats.org/drawingml/2006/main">
            <a:off x="1143000" y="4029075"/>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FFFFFF"/>
                </a:solidFill>
                <a:latin typeface="Arial"/>
                <a:ea typeface="Arial"/>
                <a:cs typeface="Arial"/>
              </a:defRPr>
            </a:pPr>
            <a:r>
              <a:rPr sz="1350" b="1">
                <a:solidFill>
                  <a:srgbClr val="FFFFFF"/>
                </a:solidFill>
                <a:latin typeface="Arial"/>
                <a:ea typeface="Arial"/>
                <a:cs typeface="Arial"/>
              </a:rPr>
              <a:t>Biaya transaksi dan slippage</a:t>
            </a:r>
          </a:p>
        </p:txBody>
      </p:sp>
      <p:sp>
        <p:nvSpPr>
          <p:cNvPr id="14" name="">
            <a:extLst xmlns:a="http://schemas.openxmlformats.org/drawingml/2006/main">
              <a:ext uri="{FF2B5EF4-FFF2-40B4-BE49-F238E27FC236}">
                <a16:creationId xmlns:a16="http://schemas.microsoft.com/office/drawing/2014/main" id="{773566B1-3DCA-44E4-B717-A0CE196ADF95}"/>
              </a:ext>
            </a:extLst>
          </p:cNvPr>
          <p:cNvSpPr>
            <a:spLocks xmlns:a="http://schemas.openxmlformats.org/drawingml/2006/main" noGrp="1"/>
          </p:cNvSpPr>
          <p:nvPr/>
        </p:nvSpPr>
        <p:spPr>
          <a:xfrm xmlns:a="http://schemas.openxmlformats.org/drawingml/2006/main">
            <a:off x="4191000" y="4029075"/>
            <a:ext cx="723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0">
                <a:solidFill>
                  <a:srgbClr val="B7B7B7"/>
                </a:solidFill>
                <a:latin typeface="Arial"/>
                <a:ea typeface="Arial"/>
                <a:cs typeface="Arial"/>
              </a:defRPr>
            </a:pPr>
            <a:r>
              <a:rPr sz="1275" b="0">
                <a:solidFill>
                  <a:srgbClr val="B7B7B7"/>
                </a:solidFill>
                <a:latin typeface="Arial"/>
                <a:ea typeface="Arial"/>
                <a:cs typeface="Arial"/>
              </a:rPr>
              <a:t>Masukkan friksi pasar serta batas likuiditas untuk menguji apakah return tetap bertahan.</a:t>
            </a:r>
          </a:p>
        </p:txBody>
      </p:sp>
      <p:sp>
        <p:nvSpPr>
          <p:cNvPr id="15" name="">
            <a:extLst xmlns:a="http://schemas.openxmlformats.org/drawingml/2006/main">
              <a:ext uri="{FF2B5EF4-FFF2-40B4-BE49-F238E27FC236}">
                <a16:creationId xmlns:a16="http://schemas.microsoft.com/office/drawing/2014/main" id="{3DBCF845-E624-4C09-AE7B-3DF61912CE5E}"/>
              </a:ext>
            </a:extLst>
          </p:cNvPr>
          <p:cNvSpPr>
            <a:spLocks xmlns:a="http://schemas.openxmlformats.org/drawingml/2006/main" noGrp="1"/>
          </p:cNvSpPr>
          <p:nvPr/>
        </p:nvSpPr>
        <p:spPr>
          <a:xfrm xmlns:a="http://schemas.openxmlformats.org/drawingml/2006/main">
            <a:off x="400050" y="4581525"/>
            <a:ext cx="11391900" cy="9525"/>
          </a:xfrm>
          <a:prstGeom xmlns:a="http://schemas.openxmlformats.org/drawingml/2006/main" prst="rect">
            <a:avLst/>
          </a:prstGeom>
          <a:solidFill xmlns:a="http://schemas.openxmlformats.org/drawingml/2006/main">
            <a:srgbClr val="454545"/>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479FF3BF-AD1F-45E3-9B95-4C58F44513BB}"/>
              </a:ext>
            </a:extLst>
          </p:cNvPr>
          <p:cNvSpPr>
            <a:spLocks xmlns:a="http://schemas.openxmlformats.org/drawingml/2006/main" noGrp="1"/>
          </p:cNvSpPr>
          <p:nvPr/>
        </p:nvSpPr>
        <p:spPr>
          <a:xfrm xmlns:a="http://schemas.openxmlformats.org/drawingml/2006/main">
            <a:off x="400050" y="474345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050" b="1">
                <a:solidFill>
                  <a:srgbClr val="6FD3FF"/>
                </a:solidFill>
                <a:latin typeface="Arial"/>
                <a:ea typeface="Arial"/>
                <a:cs typeface="Arial"/>
              </a:defRPr>
            </a:pPr>
            <a:r>
              <a:rPr sz="1050" b="1">
                <a:solidFill>
                  <a:srgbClr val="6FD3FF"/>
                </a:solidFill>
                <a:latin typeface="Arial"/>
                <a:ea typeface="Arial"/>
                <a:cs typeface="Arial"/>
              </a:rPr>
              <a:t>03</a:t>
            </a:r>
          </a:p>
        </p:txBody>
      </p:sp>
      <p:sp>
        <p:nvSpPr>
          <p:cNvPr id="17" name="">
            <a:extLst xmlns:a="http://schemas.openxmlformats.org/drawingml/2006/main">
              <a:ext uri="{FF2B5EF4-FFF2-40B4-BE49-F238E27FC236}">
                <a16:creationId xmlns:a16="http://schemas.microsoft.com/office/drawing/2014/main" id="{417DA273-39A6-4DB3-AAA4-72B5F2986A1E}"/>
              </a:ext>
            </a:extLst>
          </p:cNvPr>
          <p:cNvSpPr>
            <a:spLocks xmlns:a="http://schemas.openxmlformats.org/drawingml/2006/main" noGrp="1"/>
          </p:cNvSpPr>
          <p:nvPr/>
        </p:nvSpPr>
        <p:spPr>
          <a:xfrm xmlns:a="http://schemas.openxmlformats.org/drawingml/2006/main">
            <a:off x="1143000" y="47434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FFFFFF"/>
                </a:solidFill>
                <a:latin typeface="Arial"/>
                <a:ea typeface="Arial"/>
                <a:cs typeface="Arial"/>
              </a:defRPr>
            </a:pPr>
            <a:r>
              <a:rPr sz="1350" b="1">
                <a:solidFill>
                  <a:srgbClr val="FFFFFF"/>
                </a:solidFill>
                <a:latin typeface="Arial"/>
                <a:ea typeface="Arial"/>
                <a:cs typeface="Arial"/>
              </a:rPr>
              <a:t>Robustness model</a:t>
            </a:r>
          </a:p>
        </p:txBody>
      </p:sp>
      <p:sp>
        <p:nvSpPr>
          <p:cNvPr id="18" name="">
            <a:extLst xmlns:a="http://schemas.openxmlformats.org/drawingml/2006/main">
              <a:ext uri="{FF2B5EF4-FFF2-40B4-BE49-F238E27FC236}">
                <a16:creationId xmlns:a16="http://schemas.microsoft.com/office/drawing/2014/main" id="{E3EE6DBB-46DB-404E-A94C-E0E68B439E2F}"/>
              </a:ext>
            </a:extLst>
          </p:cNvPr>
          <p:cNvSpPr>
            <a:spLocks xmlns:a="http://schemas.openxmlformats.org/drawingml/2006/main" noGrp="1"/>
          </p:cNvSpPr>
          <p:nvPr/>
        </p:nvSpPr>
        <p:spPr>
          <a:xfrm xmlns:a="http://schemas.openxmlformats.org/drawingml/2006/main">
            <a:off x="4191000" y="4743450"/>
            <a:ext cx="723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0">
                <a:solidFill>
                  <a:srgbClr val="B7B7B7"/>
                </a:solidFill>
                <a:latin typeface="Arial"/>
                <a:ea typeface="Arial"/>
                <a:cs typeface="Arial"/>
              </a:defRPr>
            </a:pPr>
            <a:r>
              <a:rPr sz="1275" b="0">
                <a:solidFill>
                  <a:srgbClr val="B7B7B7"/>
                </a:solidFill>
                <a:latin typeface="Arial"/>
                <a:ea typeface="Arial"/>
                <a:cs typeface="Arial"/>
              </a:rPr>
              <a:t>Ulangi beberapa random seed, bandingkan A2C dengan PPO dan baseline sederhana.</a:t>
            </a:r>
          </a:p>
        </p:txBody>
      </p:sp>
      <p:sp>
        <p:nvSpPr>
          <p:cNvPr id="19" name="">
            <a:extLst xmlns:a="http://schemas.openxmlformats.org/drawingml/2006/main">
              <a:ext uri="{FF2B5EF4-FFF2-40B4-BE49-F238E27FC236}">
                <a16:creationId xmlns:a16="http://schemas.microsoft.com/office/drawing/2014/main" id="{465CB94C-DA79-4220-B69C-DED3770CDB86}"/>
              </a:ext>
            </a:extLst>
          </p:cNvPr>
          <p:cNvSpPr>
            <a:spLocks xmlns:a="http://schemas.openxmlformats.org/drawingml/2006/main" noGrp="1"/>
          </p:cNvSpPr>
          <p:nvPr/>
        </p:nvSpPr>
        <p:spPr>
          <a:xfrm xmlns:a="http://schemas.openxmlformats.org/drawingml/2006/main">
            <a:off x="400050" y="5295900"/>
            <a:ext cx="11391900" cy="9525"/>
          </a:xfrm>
          <a:prstGeom xmlns:a="http://schemas.openxmlformats.org/drawingml/2006/main" prst="rect">
            <a:avLst/>
          </a:prstGeom>
          <a:solidFill xmlns:a="http://schemas.openxmlformats.org/drawingml/2006/main">
            <a:srgbClr val="454545"/>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744516D4-989E-4D13-B3BD-68DC9A4236BA}"/>
              </a:ext>
            </a:extLst>
          </p:cNvPr>
          <p:cNvSpPr>
            <a:spLocks xmlns:a="http://schemas.openxmlformats.org/drawingml/2006/main" noGrp="1"/>
          </p:cNvSpPr>
          <p:nvPr/>
        </p:nvSpPr>
        <p:spPr>
          <a:xfrm xmlns:a="http://schemas.openxmlformats.org/drawingml/2006/main">
            <a:off x="400050" y="5457825"/>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050" b="1">
                <a:solidFill>
                  <a:srgbClr val="6FD3FF"/>
                </a:solidFill>
                <a:latin typeface="Arial"/>
                <a:ea typeface="Arial"/>
                <a:cs typeface="Arial"/>
              </a:defRPr>
            </a:pPr>
            <a:r>
              <a:rPr sz="1050" b="1">
                <a:solidFill>
                  <a:srgbClr val="6FD3FF"/>
                </a:solidFill>
                <a:latin typeface="Arial"/>
                <a:ea typeface="Arial"/>
                <a:cs typeface="Arial"/>
              </a:rPr>
              <a:t>04</a:t>
            </a:r>
          </a:p>
        </p:txBody>
      </p:sp>
      <p:sp>
        <p:nvSpPr>
          <p:cNvPr id="21" name="">
            <a:extLst xmlns:a="http://schemas.openxmlformats.org/drawingml/2006/main">
              <a:ext uri="{FF2B5EF4-FFF2-40B4-BE49-F238E27FC236}">
                <a16:creationId xmlns:a16="http://schemas.microsoft.com/office/drawing/2014/main" id="{8912F908-668E-43AF-B3D4-4EECAA48A2B1}"/>
              </a:ext>
            </a:extLst>
          </p:cNvPr>
          <p:cNvSpPr>
            <a:spLocks xmlns:a="http://schemas.openxmlformats.org/drawingml/2006/main" noGrp="1"/>
          </p:cNvSpPr>
          <p:nvPr/>
        </p:nvSpPr>
        <p:spPr>
          <a:xfrm xmlns:a="http://schemas.openxmlformats.org/drawingml/2006/main">
            <a:off x="1143000" y="5457825"/>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defRPr sz="1350" b="1">
                <a:solidFill>
                  <a:srgbClr val="FFFFFF"/>
                </a:solidFill>
                <a:latin typeface="Arial"/>
                <a:ea typeface="Arial"/>
                <a:cs typeface="Arial"/>
              </a:defRPr>
            </a:pPr>
            <a:r>
              <a:rPr sz="1350" b="1">
                <a:solidFill>
                  <a:srgbClr val="FFFFFF"/>
                </a:solidFill>
                <a:latin typeface="Arial"/>
                <a:ea typeface="Arial"/>
                <a:cs typeface="Arial"/>
              </a:rPr>
              <a:t>Overlay fundamental</a:t>
            </a:r>
          </a:p>
        </p:txBody>
      </p:sp>
      <p:sp>
        <p:nvSpPr>
          <p:cNvPr id="22" name="">
            <a:extLst xmlns:a="http://schemas.openxmlformats.org/drawingml/2006/main">
              <a:ext uri="{FF2B5EF4-FFF2-40B4-BE49-F238E27FC236}">
                <a16:creationId xmlns:a16="http://schemas.microsoft.com/office/drawing/2014/main" id="{AAF36EE7-7761-4EA4-BAE2-8861FF6770EC}"/>
              </a:ext>
            </a:extLst>
          </p:cNvPr>
          <p:cNvSpPr>
            <a:spLocks xmlns:a="http://schemas.openxmlformats.org/drawingml/2006/main" noGrp="1"/>
          </p:cNvSpPr>
          <p:nvPr/>
        </p:nvSpPr>
        <p:spPr>
          <a:xfrm xmlns:a="http://schemas.openxmlformats.org/drawingml/2006/main">
            <a:off x="4191000" y="5457825"/>
            <a:ext cx="723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050"/>
          </a:bodyPr>
          <a:lstStyle xmlns:a="http://schemas.openxmlformats.org/drawingml/2006/main"/>
          <a:p xmlns:a="http://schemas.openxmlformats.org/drawingml/2006/main">
            <a:pPr>
              <a:defRPr sz="1275" b="0">
                <a:solidFill>
                  <a:srgbClr val="B7B7B7"/>
                </a:solidFill>
                <a:latin typeface="Arial"/>
                <a:ea typeface="Arial"/>
                <a:cs typeface="Arial"/>
              </a:defRPr>
            </a:pPr>
            <a:r>
              <a:rPr sz="1275" b="0">
                <a:solidFill>
                  <a:srgbClr val="B7B7B7"/>
                </a:solidFill>
                <a:latin typeface="Arial"/>
                <a:ea typeface="Arial"/>
                <a:cs typeface="Arial"/>
              </a:rPr>
              <a:t>Tambahkan valuasi, kualitas laba, leverage, dan katalis emiten sebelum membuat keputusan investasi.</a:t>
            </a:r>
          </a:p>
        </p:txBody>
      </p:sp>
      <p:sp>
        <p:nvSpPr>
          <p:cNvPr id="23" name="">
            <a:extLst xmlns:a="http://schemas.openxmlformats.org/drawingml/2006/main">
              <a:ext uri="{FF2B5EF4-FFF2-40B4-BE49-F238E27FC236}">
                <a16:creationId xmlns:a16="http://schemas.microsoft.com/office/drawing/2014/main" id="{741C69B4-B7D4-47DF-B06D-AC84A83BE93A}"/>
              </a:ext>
            </a:extLst>
          </p:cNvPr>
          <p:cNvSpPr>
            <a:spLocks xmlns:a="http://schemas.openxmlformats.org/drawingml/2006/main" noGrp="1"/>
          </p:cNvSpPr>
          <p:nvPr/>
        </p:nvSpPr>
        <p:spPr>
          <a:xfrm xmlns:a="http://schemas.openxmlformats.org/drawingml/2006/main">
            <a:off x="400050" y="6315075"/>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defRPr sz="975" b="1">
                <a:solidFill>
                  <a:srgbClr val="F3C969"/>
                </a:solidFill>
                <a:latin typeface="Arial"/>
                <a:ea typeface="Arial"/>
                <a:cs typeface="Arial"/>
              </a:defRPr>
            </a:pPr>
            <a:r>
              <a:rPr sz="975" b="1">
                <a:solidFill>
                  <a:srgbClr val="F3C969"/>
                </a:solidFill>
                <a:latin typeface="Arial"/>
                <a:ea typeface="Arial"/>
                <a:cs typeface="Arial"/>
              </a:rPr>
              <a:t>Laporan ini adalah alat riset kuantitatif dan bukan rekomendasi investasi.</a:t>
            </a:r>
          </a:p>
        </p:txBody>
      </p:sp>
    </p:spTree>
    <p:extLst>
      <p:ext uri="{BB962C8B-B14F-4D97-AF65-F5344CB8AC3E}">
        <p14:creationId xmlns:p14="http://schemas.microsoft.com/office/powerpoint/2010/main" val="74866629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2026-09-20T11:08:41.8910000Z</dcterms:created>
  <dcterms:modified xsi:type="dcterms:W3CDTF">2026-09-20T11:08:41.8910000Z</dcterms:modified>
</coreProperties>
</file>